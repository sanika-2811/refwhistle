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335d0a7-c465-7dd9-91df-c23c9f7b72e7}">
          <p14:sldIdLst>
            <p14:sldId id="256"/>
            <p14:sldId id="257"/>
            <p14:sldId id="258"/>
          </p14:sldIdLst>
        </p14:section>
        <p14:section name="Design and core features" id="{58ca69fc-81b0-85f0-662a-26e894899e31}">
          <p14:sldIdLst>
            <p14:sldId id="259"/>
            <p14:sldId id="260"/>
            <p14:sldId id="261"/>
            <p14:sldId id="262"/>
          </p14:sldIdLst>
        </p14:section>
        <p14:section name="Original contributions" id="{bfd4dece-4d53-b592-84db-50ce381ae0d3}">
          <p14:sldIdLst>
            <p14:sldId id="263"/>
            <p14:sldId id="264"/>
          </p14:sldIdLst>
        </p14:section>
        <p14:section name="Extras and results" id="{7c389f52-95b2-8358-6ae2-21f4a691415e}">
          <p14:sldIdLst>
            <p14:sldId id="265"/>
            <p14:sldId id="266"/>
            <p14:sldId id="267"/>
            <p14:sldId id="268"/>
            <p14:sldId id="269"/>
          </p14:sldIdLst>
        </p14:section>
        <p14:section name="Close" id="{1027f8e2-d54e-5d79-28b0-807c0c80b7ae}">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A1446"/>
                </a:solidFill>
                <a:latin typeface="+mn-lt"/>
              </a:defRPr>
            </a:pPr>
            <a:r>
              <a:rPr sz="1300" b="0" i="0" u="none" strike="noStrike">
                <a:solidFill>
                  <a:srgbClr val="1A1446"/>
                </a:solidFill>
                <a:latin typeface="+mn-lt"/>
              </a:rPr>
              <a:t>Matches moved by one 15-minute delay</a:t>
            </a:r>
          </a:p>
        </c:rich>
      </c:tx>
      <c:layout/>
      <c:overlay val="0"/>
    </c:title>
    <c:autoTitleDeleted val="0"/>
    <c:plotArea>
      <c:layout/>
      <c:barChart>
        <c:barDir val="col"/>
        <c:grouping val="clustered"/>
        <c:varyColors val="0"/>
        <c:ser>
          <c:idx val="0"/>
          <c:order val="0"/>
          <c:tx>
            <c:strRef>
              <c:f>Sheet1!$B$1</c:f>
              <c:strCache>
                <c:ptCount val="1"/>
                <c:pt idx="0">
                  <c:v>Greedy</c:v>
                </c:pt>
              </c:strCache>
            </c:strRef>
          </c:tx>
          <c:spPr>
            <a:solidFill>
              <a:srgbClr val="B8BDD9"/>
            </a:solidFill>
            <a:effectLst/>
          </c:spPr>
          <c:invertIfNegative val="0"/>
          <c:dLbls>
            <c:numFmt formatCode="0.0" sourceLinked="0"/>
            <c:txPr>
              <a:bodyPr/>
              <a:lstStyle/>
              <a:p>
                <a:pPr>
                  <a:defRPr b="0" i="0" strike="noStrike" sz="1100" u="none">
                    <a:solidFill>
                      <a:srgbClr val="1A1446"/>
                    </a:solidFill>
                    <a:latin typeface="+mn-lt"/>
                  </a:defRPr>
                </a:pPr>
              </a:p>
            </c:txPr>
            <c:showLegendKey val="0"/>
            <c:showVal val="1"/>
            <c:showCatName val="0"/>
            <c:showSerName val="0"/>
            <c:showPercent val="0"/>
            <c:showBubbleSize val="0"/>
            <c:showLeaderLines val="0"/>
          </c:dLbls>
          <c:cat>
            <c:multiLvlStrRef>
              <c:f>Sheet1!$A$2:$A$4</c:f>
              <c:multiLvlStrCache>
                <c:ptCount val="3"/>
                <c:lvl>
                  <c:pt idx="0">
                    <c:v>8 teams</c:v>
                  </c:pt>
                  <c:pt idx="1">
                    <c:v>10 teams</c:v>
                  </c:pt>
                  <c:pt idx="2">
                    <c:v>12 teams</c:v>
                  </c:pt>
                </c:lvl>
              </c:multiLvlStrCache>
            </c:multiLvlStrRef>
          </c:cat>
          <c:val>
            <c:numRef>
              <c:f>Sheet1!$B$2:$B$4</c:f>
              <c:numCache>
                <c:formatCode>General</c:formatCode>
                <c:ptCount val="3"/>
                <c:pt idx="0">
                  <c:v>2.15</c:v>
                </c:pt>
                <c:pt idx="1">
                  <c:v>4.67</c:v>
                </c:pt>
                <c:pt idx="2">
                  <c:v>6.31</c:v>
                </c:pt>
              </c:numCache>
            </c:numRef>
          </c:val>
        </c:ser>
        <c:ser>
          <c:idx val="1"/>
          <c:order val="1"/>
          <c:tx>
            <c:strRef>
              <c:f>Sheet1!$C$1</c:f>
              <c:strCache>
                <c:ptCount val="1"/>
                <c:pt idx="0">
                  <c:v>Optimiser without the rule</c:v>
                </c:pt>
              </c:strCache>
            </c:strRef>
          </c:tx>
          <c:spPr>
            <a:solidFill>
              <a:srgbClr val="3949AB"/>
            </a:solidFill>
            <a:effectLst/>
          </c:spPr>
          <c:invertIfNegative val="0"/>
          <c:dLbls>
            <c:numFmt formatCode="0.0" sourceLinked="0"/>
            <c:txPr>
              <a:bodyPr/>
              <a:lstStyle/>
              <a:p>
                <a:pPr>
                  <a:defRPr b="0" i="0" strike="noStrike" sz="1100" u="none">
                    <a:solidFill>
                      <a:srgbClr val="1A1446"/>
                    </a:solidFill>
                    <a:latin typeface="+mn-lt"/>
                  </a:defRPr>
                </a:pPr>
              </a:p>
            </c:txPr>
            <c:showLegendKey val="0"/>
            <c:showVal val="1"/>
            <c:showCatName val="0"/>
            <c:showSerName val="0"/>
            <c:showPercent val="0"/>
            <c:showBubbleSize val="0"/>
            <c:showLeaderLines val="0"/>
          </c:dLbls>
          <c:cat>
            <c:multiLvlStrRef>
              <c:f>Sheet1!$A$2:$A$4</c:f>
              <c:multiLvlStrCache>
                <c:ptCount val="3"/>
                <c:lvl>
                  <c:pt idx="0">
                    <c:v>8 teams</c:v>
                  </c:pt>
                  <c:pt idx="1">
                    <c:v>10 teams</c:v>
                  </c:pt>
                  <c:pt idx="2">
                    <c:v>12 teams</c:v>
                  </c:pt>
                </c:lvl>
              </c:multiLvlStrCache>
            </c:multiLvlStrRef>
          </c:cat>
          <c:val>
            <c:numRef>
              <c:f>Sheet1!$C$2:$C$4</c:f>
              <c:numCache>
                <c:formatCode>General</c:formatCode>
                <c:ptCount val="3"/>
                <c:pt idx="0">
                  <c:v>1.24</c:v>
                </c:pt>
                <c:pt idx="1">
                  <c:v>2.3</c:v>
                </c:pt>
                <c:pt idx="2">
                  <c:v>4.07</c:v>
                </c:pt>
              </c:numCache>
            </c:numRef>
          </c:val>
        </c:ser>
        <c:ser>
          <c:idx val="2"/>
          <c:order val="2"/>
          <c:tx>
            <c:strRef>
              <c:f>Sheet1!$D$1</c:f>
              <c:strCache>
                <c:ptCount val="1"/>
                <c:pt idx="0">
                  <c:v>Optimiser with the rule</c:v>
                </c:pt>
              </c:strCache>
            </c:strRef>
          </c:tx>
          <c:spPr>
            <a:solidFill>
              <a:srgbClr val="00897B"/>
            </a:solidFill>
            <a:effectLst/>
          </c:spPr>
          <c:invertIfNegative val="0"/>
          <c:dLbls>
            <c:numFmt formatCode="0.0" sourceLinked="0"/>
            <c:txPr>
              <a:bodyPr/>
              <a:lstStyle/>
              <a:p>
                <a:pPr>
                  <a:defRPr b="0" i="0" strike="noStrike" sz="1100" u="none">
                    <a:solidFill>
                      <a:srgbClr val="1A1446"/>
                    </a:solidFill>
                    <a:latin typeface="+mn-lt"/>
                  </a:defRPr>
                </a:pPr>
              </a:p>
            </c:txPr>
            <c:showLegendKey val="0"/>
            <c:showVal val="1"/>
            <c:showCatName val="0"/>
            <c:showSerName val="0"/>
            <c:showPercent val="0"/>
            <c:showBubbleSize val="0"/>
            <c:showLeaderLines val="0"/>
          </c:dLbls>
          <c:cat>
            <c:multiLvlStrRef>
              <c:f>Sheet1!$A$2:$A$4</c:f>
              <c:multiLvlStrCache>
                <c:ptCount val="3"/>
                <c:lvl>
                  <c:pt idx="0">
                    <c:v>8 teams</c:v>
                  </c:pt>
                  <c:pt idx="1">
                    <c:v>10 teams</c:v>
                  </c:pt>
                  <c:pt idx="2">
                    <c:v>12 teams</c:v>
                  </c:pt>
                </c:lvl>
              </c:multiLvlStrCache>
            </c:multiLvlStrRef>
          </c:cat>
          <c:val>
            <c:numRef>
              <c:f>Sheet1!$D$2:$D$4</c:f>
              <c:numCache>
                <c:formatCode>General</c:formatCode>
                <c:ptCount val="3"/>
                <c:pt idx="0">
                  <c:v>1.08</c:v>
                </c:pt>
                <c:pt idx="1">
                  <c:v>1.42</c:v>
                </c:pt>
                <c:pt idx="2">
                  <c:v>2.31</c:v>
                </c:pt>
              </c:numCache>
            </c:numRef>
          </c:val>
        </c:ser>
        <c:dLbls>
          <c:numFmt formatCode="0.0" sourceLinked="0"/>
          <c:txPr>
            <a:bodyPr/>
            <a:lstStyle/>
            <a:p>
              <a:pPr>
                <a:defRPr b="0" i="0" strike="noStrike" sz="1100" u="none">
                  <a:solidFill>
                    <a:srgbClr val="1A1446"/>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A1446"/>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E3DFF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1A1446"/>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A1446"/>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RefWhistle is an Android app that builds a tournament schedule automatically, keeps it consistent across phones even offline, and re-times the day when a match runs late. Built in Java with a small Flutter dashboard for spectators.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Tournaments in colleges and schools are scheduled in Excel and WhatsApp. These four problems come up every time: double bookings, unfair referee workload, manual chaos when one match runs late, and conflicting edits when organisers have no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core features and four kinds of users. The admin builds the schedule, referees see their own matches and enter results, teams see their fixtures, and spectators watch a live standings page without installing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stored as an append-only log in SQLite. The schedule you see is computed by replaying that log in a fixed order. Phones can swap logs over Wi-Fi or a shared file, or through Firebase. The Flutter dashboard only reads the published standings.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shared conflict checker enforces the hard rules everywhere: scheduler, manual add, sync replay, delay and rain planning. Soft goals are one cost number. A greedy scheduler gives the baseline and simulated annealing improves it while keeping every hard rule. If a schedule is impossible, the app says which resource is short.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project. Firebase offline writes are last-write-wins, so two admins editing offline would lose one change. We store an append-only log instead. A hybrid logical clock gives a total order that every phone agrees on, so replaying the same log always gives the same schedule. We tested this by replaying the same logs in 1,000 shuffled orders.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match depends on the next one at the same venue, with the same referee, or for the same teams. Mark one match late and the app follows those links, shows a preview of every change, and then notifies the affected people. Re-timing a 16-team day takes about 8 milliseconds in our simulator.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tools only react to delays. Here the scheduler is also rewarded for leaving slack where matches chain together on the same ground or referee. We measured the effect using the real delay propagation, not a proxy. At 12 teams a single 15-minute delay moves about 2.3 matches instead of 4.1, a 43 percent reduction, with almost no cost to the other quality measures. This is known as robust scheduling in operations research.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an admin has to notice that a match is late and type it in. Here referees record real kick-off and full-time. The app turns lateness into a suggestion the admin can preview and apply, and it also reclaims time when a match finishes early, which most tools waste. All of this is derived from the log, so there is no extra state to get out of sync.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extras beyond the brief. The sync code is the short hash shown on the main screen. Two phones with the same code hold exactly the same history, and editing any past entry changes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unit of the syllabus has a concrete place in the app. Java and SQLite for the core, Firebase for login and backup, Google Maps and GPS for location, Flutter for the spectator dashboard, and a signed release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simulator generates random tournaments and compares our schedule against a plain greedy one. In every run no hard rule was broken. The sync test replays identical logs in 1,000 shuffled orders and always produces one schedule. The 16 automated unit tests all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these five steps in order. Keep both phones on one hotspot for the sync step. For the late kick-off, pick a time 15 minutes after the scheduled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about the limits. The scheduler is a heuristic, so it is not guaranteed optimal. Notifications are local because server push needs a paid Firebase plan. We do not claim to be the first such app; the angle is the combination of offline sync, constraint scheduling and delay handling, plus the two original contributions.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Happy to answer questions or show any part of the app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_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051560"/>
            <a:ext cx="4754880" cy="91440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4.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4.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4.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4.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4.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Glow teal"/>
          <p:cNvSpPr/>
          <p:nvPr/>
        </p:nvSpPr>
        <p:spPr>
          <a:xfrm>
            <a:off x="5760720" y="-822960"/>
            <a:ext cx="4206240" cy="4206240"/>
          </a:xfrm>
          <a:prstGeom prst="ellipse">
            <a:avLst/>
          </a:prstGeom>
          <a:solidFill>
            <a:schemeClr val="accent2">
              <a:alpha val="45000"/>
            </a:schemeClr>
          </a:solidFill>
          <a:ln w="12700">
            <a:solidFill>
              <a:schemeClr val="accent2">
                <a:alpha val="0"/>
              </a:schemeClr>
            </a:solidFill>
            <a:prstDash val="solid"/>
          </a:ln>
        </p:spPr>
      </p:sp>
      <p:sp>
        <p:nvSpPr>
          <p:cNvPr id="3" name="Glow coral"/>
          <p:cNvSpPr/>
          <p:nvPr/>
        </p:nvSpPr>
        <p:spPr>
          <a:xfrm>
            <a:off x="7040880" y="2468880"/>
            <a:ext cx="3291840" cy="3291840"/>
          </a:xfrm>
          <a:prstGeom prst="ellipse">
            <a:avLst/>
          </a:prstGeom>
          <a:solidFill>
            <a:schemeClr val="accent3">
              <a:alpha val="38000"/>
            </a:schemeClr>
          </a:solidFill>
          <a:ln w="12700">
            <a:solidFill>
              <a:schemeClr val="accent3">
                <a:alpha val="0"/>
              </a:schemeClr>
            </a:solidFill>
            <a:prstDash val="solid"/>
          </a:ln>
        </p:spPr>
      </p:sp>
      <p:sp>
        <p:nvSpPr>
          <p:cNvPr id="4" name="Glow purple"/>
          <p:cNvSpPr/>
          <p:nvPr/>
        </p:nvSpPr>
        <p:spPr>
          <a:xfrm>
            <a:off x="4754880" y="3200400"/>
            <a:ext cx="2377440" cy="2377440"/>
          </a:xfrm>
          <a:prstGeom prst="ellipse">
            <a:avLst/>
          </a:prstGeom>
          <a:solidFill>
            <a:schemeClr val="accent4">
              <a:alpha val="45000"/>
            </a:schemeClr>
          </a:solidFill>
          <a:ln w="12700">
            <a:solidFill>
              <a:schemeClr val="accent4">
                <a:alpha val="0"/>
              </a:schemeClr>
            </a:solidFill>
            <a:prstDash val="solid"/>
          </a:ln>
        </p:spPr>
      </p:sp>
      <p:sp>
        <p:nvSpPr>
          <p:cNvPr id="5" name="Text 0"/>
          <p:cNvSpPr/>
          <p:nvPr>
            <p:ph idx="100" type="title" hasCustomPrompt="1"/>
          </p:nvPr>
        </p:nvSpPr>
        <p:spPr>
          <a:xfrm>
            <a:off x="548640" y="1051560"/>
            <a:ext cx="4754880" cy="914400"/>
          </a:xfrm>
          <a:prstGeom prst="rect">
            <a:avLst/>
          </a:prstGeom>
          <a:noFill/>
          <a:ln/>
        </p:spPr>
        <p:txBody>
          <a:bodyPr wrap="square" lIns="0" tIns="0" rIns="0" bIns="0" rtlCol="0" anchor="ctr"/>
          <a:lstStyle/>
          <a:p>
            <a:pPr algn="l" indent="0" marL="0">
              <a:buNone/>
            </a:pPr>
            <a:r>
              <a:rPr lang="en-US" sz="5400" b="1" dirty="0">
                <a:solidFill>
                  <a:schemeClr val="bg1"/>
                </a:solidFill>
              </a:rPr>
              <a:t>RefWhistle</a:t>
            </a:r>
            <a:endParaRPr lang="en-US" sz="5400" dirty="0"/>
          </a:p>
        </p:txBody>
      </p:sp>
      <p:sp>
        <p:nvSpPr>
          <p:cNvPr id="6" name="Text 4"/>
          <p:cNvSpPr txBox="1"/>
          <p:nvPr/>
        </p:nvSpPr>
        <p:spPr>
          <a:xfrm>
            <a:off x="548640" y="2103120"/>
            <a:ext cx="4572000" cy="914400"/>
          </a:xfrm>
          <a:prstGeom prst="rect">
            <a:avLst/>
          </a:prstGeom>
          <a:noFill/>
          <a:ln/>
        </p:spPr>
        <p:txBody>
          <a:bodyPr wrap="square" lIns="0" tIns="0" rIns="0" bIns="0" rtlCol="0" anchor="t"/>
          <a:lstStyle/>
          <a:p>
            <a:pPr indent="0" marL="0">
              <a:buNone/>
            </a:pPr>
            <a:r>
              <a:rPr lang="en-US" sz="2200" dirty="0">
                <a:solidFill>
                  <a:schemeClr val="bg2"/>
                </a:solidFill>
              </a:rPr>
              <a:t>Offline-first tournament scheduling with live delay handling</a:t>
            </a:r>
            <a:endParaRPr lang="en-US" sz="2200" dirty="0"/>
          </a:p>
        </p:txBody>
      </p:sp>
      <p:sp>
        <p:nvSpPr>
          <p:cNvPr id="7" name="Text 5"/>
          <p:cNvSpPr txBox="1"/>
          <p:nvPr/>
        </p:nvSpPr>
        <p:spPr>
          <a:xfrm>
            <a:off x="548640" y="3749040"/>
            <a:ext cx="4754880" cy="274320"/>
          </a:xfrm>
          <a:prstGeom prst="rect">
            <a:avLst/>
          </a:prstGeom>
          <a:noFill/>
          <a:ln/>
        </p:spPr>
        <p:txBody>
          <a:bodyPr wrap="square" lIns="0" tIns="0" rIns="0" bIns="0" rtlCol="0" anchor="t"/>
          <a:lstStyle/>
          <a:p>
            <a:pPr indent="0" marL="0">
              <a:buNone/>
            </a:pPr>
            <a:r>
              <a:rPr lang="en-US" sz="1400" dirty="0">
                <a:solidFill>
                  <a:schemeClr val="bg2"/>
                </a:solidFill>
              </a:rPr>
              <a:t>Mobile Application Development (702AI0E002)  •  Mini Project</a:t>
            </a:r>
            <a:endParaRPr lang="en-US" sz="1400" dirty="0"/>
          </a:p>
        </p:txBody>
      </p:sp>
      <p:sp>
        <p:nvSpPr>
          <p:cNvPr id="8" name="Text 6"/>
          <p:cNvSpPr txBox="1"/>
          <p:nvPr/>
        </p:nvSpPr>
        <p:spPr>
          <a:xfrm>
            <a:off x="548640" y="4114800"/>
            <a:ext cx="4754880" cy="320040"/>
          </a:xfrm>
          <a:prstGeom prst="rect">
            <a:avLst/>
          </a:prstGeom>
          <a:noFill/>
          <a:ln/>
        </p:spPr>
        <p:txBody>
          <a:bodyPr wrap="square" lIns="0" tIns="0" rIns="0" bIns="0" rtlCol="0" anchor="t"/>
          <a:lstStyle/>
          <a:p>
            <a:pPr indent="0" marL="0">
              <a:buNone/>
            </a:pPr>
            <a:r>
              <a:rPr lang="en-US" sz="1600" b="1" dirty="0">
                <a:solidFill>
                  <a:schemeClr val="bg1"/>
                </a:solidFill>
              </a:rPr>
              <a:t>Presented by Sanika Jamadar</a:t>
            </a:r>
            <a:endParaRPr lang="en-US" sz="1600" dirty="0"/>
          </a:p>
        </p:txBody>
      </p:sp>
      <p:sp>
        <p:nvSpPr>
          <p:cNvPr id="9" name="Glass summary card"/>
          <p:cNvSpPr/>
          <p:nvPr/>
        </p:nvSpPr>
        <p:spPr>
          <a:xfrm>
            <a:off x="5577840" y="1371600"/>
            <a:ext cx="3017520" cy="2286000"/>
          </a:xfrm>
          <a:prstGeom prst="roundRect">
            <a:avLst>
              <a:gd name="adj" fmla="val 8000"/>
            </a:avLst>
          </a:prstGeom>
          <a:solidFill>
            <a:schemeClr val="bg1">
              <a:alpha val="16000"/>
            </a:schemeClr>
          </a:solidFill>
          <a:ln w="12700">
            <a:solidFill>
              <a:schemeClr val="bg1">
                <a:alpha val="45000"/>
              </a:schemeClr>
            </a:solidFill>
            <a:prstDash val="solid"/>
          </a:ln>
        </p:spPr>
      </p:sp>
      <p:sp>
        <p:nvSpPr>
          <p:cNvPr id="10" name="Summary numbers"/>
          <p:cNvSpPr txBox="1"/>
          <p:nvPr/>
        </p:nvSpPr>
        <p:spPr>
          <a:xfrm>
            <a:off x="5852160" y="1554480"/>
            <a:ext cx="2560320" cy="1920240"/>
          </a:xfrm>
          <a:prstGeom prst="rect">
            <a:avLst/>
          </a:prstGeom>
          <a:noFill/>
          <a:ln/>
        </p:spPr>
        <p:txBody>
          <a:bodyPr wrap="square" lIns="0" tIns="0" rIns="0" bIns="0" rtlCol="0" anchor="ctr"/>
          <a:lstStyle/>
          <a:p>
            <a:pPr indent="0" marL="0">
              <a:buNone/>
            </a:pPr>
            <a:r>
              <a:rPr lang="en-US" sz="3000" b="1" dirty="0">
                <a:solidFill>
                  <a:schemeClr val="bg1"/>
                </a:solidFill>
              </a:rPr>
              <a:t>3</a:t>
            </a:r>
            <a:pPr indent="0" marL="0">
              <a:buNone/>
            </a:pPr>
            <a:r>
              <a:rPr lang="en-US" sz="1800" dirty="0">
                <a:solidFill>
                  <a:schemeClr val="bg2"/>
                </a:solidFill>
              </a:rPr>
              <a:t>  roles</a:t>
            </a:r>
            <a:endParaRPr lang="en-US" sz="3000" dirty="0"/>
          </a:p>
          <a:p>
            <a:pPr indent="0" marL="0">
              <a:buNone/>
            </a:pPr>
            <a:r>
              <a:rPr lang="en-US" sz="3000" b="1" dirty="0">
                <a:solidFill>
                  <a:schemeClr val="bg1"/>
                </a:solidFill>
              </a:rPr>
              <a:t>3</a:t>
            </a:r>
            <a:pPr indent="0" marL="0">
              <a:buNone/>
            </a:pPr>
            <a:r>
              <a:rPr lang="en-US" sz="1800" dirty="0">
                <a:solidFill>
                  <a:schemeClr val="bg2"/>
                </a:solidFill>
              </a:rPr>
              <a:t>  core features</a:t>
            </a:r>
            <a:endParaRPr lang="en-US" sz="3000" dirty="0"/>
          </a:p>
          <a:p>
            <a:pPr indent="0" marL="0">
              <a:buNone/>
            </a:pPr>
            <a:r>
              <a:rPr lang="en-US" sz="3000" b="1" dirty="0">
                <a:solidFill>
                  <a:schemeClr val="bg1"/>
                </a:solidFill>
              </a:rPr>
              <a:t>2</a:t>
            </a:r>
            <a:pPr indent="0" marL="0">
              <a:buNone/>
            </a:pPr>
            <a:r>
              <a:rPr lang="en-US" sz="1800" dirty="0">
                <a:solidFill>
                  <a:schemeClr val="bg2"/>
                </a:solidFill>
              </a:rPr>
              <a:t>  original contributions</a:t>
            </a:r>
            <a:endParaRPr lang="en-US" sz="3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algn="l" indent="0" marL="0">
              <a:buNone/>
            </a:pPr>
            <a:r>
              <a:rPr lang="en-US" sz="3400" b="1" dirty="0">
                <a:solidFill>
                  <a:schemeClr val="tx1"/>
                </a:solidFill>
              </a:rPr>
              <a:t>The problem with manual scheduling</a:t>
            </a:r>
            <a:endParaRPr lang="en-US" sz="3400" dirty="0"/>
          </a:p>
        </p:txBody>
      </p:sp>
      <p:sp>
        <p:nvSpPr>
          <p:cNvPr id="3" name="Problem card 1"/>
          <p:cNvSpPr/>
          <p:nvPr/>
        </p:nvSpPr>
        <p:spPr>
          <a:xfrm>
            <a:off x="457200" y="1280160"/>
            <a:ext cx="4023360" cy="1600200"/>
          </a:xfrm>
          <a:prstGeom prst="roundRect">
            <a:avLst>
              <a:gd name="adj" fmla="val 6857"/>
            </a:avLst>
          </a:prstGeom>
          <a:solidFill>
            <a:schemeClr val="bg2"/>
          </a:solidFill>
          <a:ln w="6350">
            <a:solidFill>
              <a:schemeClr val="bg2"/>
            </a:solidFill>
            <a:prstDash val="solid"/>
          </a:ln>
          <a:effectLst>
            <a:outerShdw sx="100000" sy="100000" kx="0" ky="0" algn="bl" rotWithShape="0" blurRad="76200" dist="25400" dir="5400000">
              <a:srgbClr val="000000">
                <a:alpha val="12000"/>
              </a:srgbClr>
            </a:outerShdw>
          </a:effectLst>
        </p:spPr>
      </p:sp>
      <p:sp>
        <p:nvSpPr>
          <p:cNvPr id="4" name="Double bookings badge"/>
          <p:cNvSpPr/>
          <p:nvPr/>
        </p:nvSpPr>
        <p:spPr>
          <a:xfrm>
            <a:off x="685800" y="1536192"/>
            <a:ext cx="640080" cy="640080"/>
          </a:xfrm>
          <a:prstGeom prst="ellipse">
            <a:avLst/>
          </a:prstGeom>
          <a:solidFill>
            <a:srgbClr val="3949AB"/>
          </a:solidFill>
          <a:ln w="6350">
            <a:solidFill>
              <a:srgbClr val="3949AB"/>
            </a:solidFill>
            <a:prstDash val="solid"/>
          </a:ln>
        </p:spPr>
      </p:sp>
      <p:pic>
        <p:nvPicPr>
          <p:cNvPr id="5" name="Image 0" descr="Double bookings icon">    </p:cNvPr>
          <p:cNvPicPr>
            <a:picLocks noChangeAspect="1"/>
          </p:cNvPicPr>
          <p:nvPr/>
        </p:nvPicPr>
        <p:blipFill>
          <a:blip r:embed="rId1"/>
          <a:stretch>
            <a:fillRect/>
          </a:stretch>
        </p:blipFill>
        <p:spPr>
          <a:xfrm>
            <a:off x="858622" y="1709014"/>
            <a:ext cx="294437" cy="294437"/>
          </a:xfrm>
          <a:prstGeom prst="rect">
            <a:avLst/>
          </a:prstGeom>
        </p:spPr>
      </p:pic>
      <p:sp>
        <p:nvSpPr>
          <p:cNvPr id="6" name="Text 3"/>
          <p:cNvSpPr txBox="1"/>
          <p:nvPr/>
        </p:nvSpPr>
        <p:spPr>
          <a:xfrm>
            <a:off x="1508760" y="1508760"/>
            <a:ext cx="2788920" cy="274320"/>
          </a:xfrm>
          <a:prstGeom prst="rect">
            <a:avLst/>
          </a:prstGeom>
          <a:noFill/>
          <a:ln/>
        </p:spPr>
        <p:txBody>
          <a:bodyPr wrap="square" lIns="0" tIns="0" rIns="0" bIns="0" rtlCol="0" anchor="t"/>
          <a:lstStyle/>
          <a:p>
            <a:pPr indent="0" marL="0">
              <a:buNone/>
            </a:pPr>
            <a:r>
              <a:rPr lang="en-US" sz="1800" b="1" dirty="0">
                <a:solidFill>
                  <a:schemeClr val="tx1"/>
                </a:solidFill>
              </a:rPr>
              <a:t>Double bookings</a:t>
            </a:r>
            <a:endParaRPr lang="en-US" sz="1800" dirty="0"/>
          </a:p>
        </p:txBody>
      </p:sp>
      <p:sp>
        <p:nvSpPr>
          <p:cNvPr id="7" name="Text 4"/>
          <p:cNvSpPr txBox="1"/>
          <p:nvPr/>
        </p:nvSpPr>
        <p:spPr>
          <a:xfrm>
            <a:off x="1508760" y="1920240"/>
            <a:ext cx="2788920" cy="822960"/>
          </a:xfrm>
          <a:prstGeom prst="rect">
            <a:avLst/>
          </a:prstGeom>
          <a:noFill/>
          <a:ln/>
        </p:spPr>
        <p:txBody>
          <a:bodyPr wrap="square" lIns="0" tIns="0" rIns="0" bIns="0" rtlCol="0" anchor="t"/>
          <a:lstStyle/>
          <a:p>
            <a:pPr indent="0" marL="0">
              <a:buNone/>
            </a:pPr>
            <a:r>
              <a:rPr lang="en-US" sz="1400" dirty="0">
                <a:solidFill>
                  <a:schemeClr val="tx1"/>
                </a:solidFill>
              </a:rPr>
              <a:t>Grounds, referees and players end up in two places at once.</a:t>
            </a:r>
            <a:endParaRPr lang="en-US" sz="1400" dirty="0"/>
          </a:p>
        </p:txBody>
      </p:sp>
      <p:sp>
        <p:nvSpPr>
          <p:cNvPr id="8" name="Problem card 2"/>
          <p:cNvSpPr/>
          <p:nvPr/>
        </p:nvSpPr>
        <p:spPr>
          <a:xfrm>
            <a:off x="4663440" y="1280160"/>
            <a:ext cx="4023360" cy="1600200"/>
          </a:xfrm>
          <a:prstGeom prst="roundRect">
            <a:avLst>
              <a:gd name="adj" fmla="val 6857"/>
            </a:avLst>
          </a:prstGeom>
          <a:solidFill>
            <a:schemeClr val="bg2"/>
          </a:solidFill>
          <a:ln w="6350">
            <a:solidFill>
              <a:schemeClr val="bg2"/>
            </a:solidFill>
            <a:prstDash val="solid"/>
          </a:ln>
          <a:effectLst>
            <a:outerShdw sx="100000" sy="100000" kx="0" ky="0" algn="bl" rotWithShape="0" blurRad="76200" dist="25400" dir="5400000">
              <a:srgbClr val="000000">
                <a:alpha val="12000"/>
              </a:srgbClr>
            </a:outerShdw>
          </a:effectLst>
        </p:spPr>
      </p:sp>
      <p:sp>
        <p:nvSpPr>
          <p:cNvPr id="9" name="Unfair referees badge"/>
          <p:cNvSpPr/>
          <p:nvPr/>
        </p:nvSpPr>
        <p:spPr>
          <a:xfrm>
            <a:off x="4892040" y="1536192"/>
            <a:ext cx="640080" cy="640080"/>
          </a:xfrm>
          <a:prstGeom prst="ellipse">
            <a:avLst/>
          </a:prstGeom>
          <a:solidFill>
            <a:srgbClr val="00897B"/>
          </a:solidFill>
          <a:ln w="6350">
            <a:solidFill>
              <a:srgbClr val="00897B"/>
            </a:solidFill>
            <a:prstDash val="solid"/>
          </a:ln>
        </p:spPr>
      </p:sp>
      <p:pic>
        <p:nvPicPr>
          <p:cNvPr id="10" name="Image 1" descr="Unfair referees icon">    </p:cNvPr>
          <p:cNvPicPr>
            <a:picLocks noChangeAspect="1"/>
          </p:cNvPicPr>
          <p:nvPr/>
        </p:nvPicPr>
        <p:blipFill>
          <a:blip r:embed="rId2"/>
          <a:stretch>
            <a:fillRect/>
          </a:stretch>
        </p:blipFill>
        <p:spPr>
          <a:xfrm>
            <a:off x="5064862" y="1709014"/>
            <a:ext cx="294437" cy="294437"/>
          </a:xfrm>
          <a:prstGeom prst="rect">
            <a:avLst/>
          </a:prstGeom>
        </p:spPr>
      </p:pic>
      <p:sp>
        <p:nvSpPr>
          <p:cNvPr id="11" name="Text 7"/>
          <p:cNvSpPr txBox="1"/>
          <p:nvPr/>
        </p:nvSpPr>
        <p:spPr>
          <a:xfrm>
            <a:off x="5715000" y="1508760"/>
            <a:ext cx="2788920" cy="274320"/>
          </a:xfrm>
          <a:prstGeom prst="rect">
            <a:avLst/>
          </a:prstGeom>
          <a:noFill/>
          <a:ln/>
        </p:spPr>
        <p:txBody>
          <a:bodyPr wrap="square" lIns="0" tIns="0" rIns="0" bIns="0" rtlCol="0" anchor="t"/>
          <a:lstStyle/>
          <a:p>
            <a:pPr indent="0" marL="0">
              <a:buNone/>
            </a:pPr>
            <a:r>
              <a:rPr lang="en-US" sz="1800" b="1" dirty="0">
                <a:solidFill>
                  <a:schemeClr val="tx1"/>
                </a:solidFill>
              </a:rPr>
              <a:t>Unfair referees</a:t>
            </a:r>
            <a:endParaRPr lang="en-US" sz="1800" dirty="0"/>
          </a:p>
        </p:txBody>
      </p:sp>
      <p:sp>
        <p:nvSpPr>
          <p:cNvPr id="12" name="Text 8"/>
          <p:cNvSpPr txBox="1"/>
          <p:nvPr/>
        </p:nvSpPr>
        <p:spPr>
          <a:xfrm>
            <a:off x="5715000" y="1920240"/>
            <a:ext cx="2788920" cy="822960"/>
          </a:xfrm>
          <a:prstGeom prst="rect">
            <a:avLst/>
          </a:prstGeom>
          <a:noFill/>
          <a:ln/>
        </p:spPr>
        <p:txBody>
          <a:bodyPr wrap="square" lIns="0" tIns="0" rIns="0" bIns="0" rtlCol="0" anchor="t"/>
          <a:lstStyle/>
          <a:p>
            <a:pPr indent="0" marL="0">
              <a:buNone/>
            </a:pPr>
            <a:r>
              <a:rPr lang="en-US" sz="1400" dirty="0">
                <a:solidFill>
                  <a:schemeClr val="tx1"/>
                </a:solidFill>
              </a:rPr>
              <a:t>Uneven workload, or a referee assigned to their own team.</a:t>
            </a:r>
            <a:endParaRPr lang="en-US" sz="1400" dirty="0"/>
          </a:p>
        </p:txBody>
      </p:sp>
      <p:sp>
        <p:nvSpPr>
          <p:cNvPr id="13" name="Problem card 3"/>
          <p:cNvSpPr/>
          <p:nvPr/>
        </p:nvSpPr>
        <p:spPr>
          <a:xfrm>
            <a:off x="457200" y="3063240"/>
            <a:ext cx="4023360" cy="1600200"/>
          </a:xfrm>
          <a:prstGeom prst="roundRect">
            <a:avLst>
              <a:gd name="adj" fmla="val 6857"/>
            </a:avLst>
          </a:prstGeom>
          <a:solidFill>
            <a:schemeClr val="bg2"/>
          </a:solidFill>
          <a:ln w="6350">
            <a:solidFill>
              <a:schemeClr val="bg2"/>
            </a:solidFill>
            <a:prstDash val="solid"/>
          </a:ln>
          <a:effectLst>
            <a:outerShdw sx="100000" sy="100000" kx="0" ky="0" algn="bl" rotWithShape="0" blurRad="76200" dist="25400" dir="5400000">
              <a:srgbClr val="000000">
                <a:alpha val="12000"/>
              </a:srgbClr>
            </a:outerShdw>
          </a:effectLst>
        </p:spPr>
      </p:sp>
      <p:sp>
        <p:nvSpPr>
          <p:cNvPr id="14" name="Late matches cause chaos badge"/>
          <p:cNvSpPr/>
          <p:nvPr/>
        </p:nvSpPr>
        <p:spPr>
          <a:xfrm>
            <a:off x="685800" y="3319272"/>
            <a:ext cx="640080" cy="640080"/>
          </a:xfrm>
          <a:prstGeom prst="ellipse">
            <a:avLst/>
          </a:prstGeom>
          <a:solidFill>
            <a:srgbClr val="E64A19"/>
          </a:solidFill>
          <a:ln w="6350">
            <a:solidFill>
              <a:srgbClr val="E64A19"/>
            </a:solidFill>
            <a:prstDash val="solid"/>
          </a:ln>
        </p:spPr>
      </p:sp>
      <p:pic>
        <p:nvPicPr>
          <p:cNvPr id="15" name="Image 2" descr="Late matches cause chaos icon">    </p:cNvPr>
          <p:cNvPicPr>
            <a:picLocks noChangeAspect="1"/>
          </p:cNvPicPr>
          <p:nvPr/>
        </p:nvPicPr>
        <p:blipFill>
          <a:blip r:embed="rId3"/>
          <a:stretch>
            <a:fillRect/>
          </a:stretch>
        </p:blipFill>
        <p:spPr>
          <a:xfrm>
            <a:off x="858622" y="3492094"/>
            <a:ext cx="294437" cy="294437"/>
          </a:xfrm>
          <a:prstGeom prst="rect">
            <a:avLst/>
          </a:prstGeom>
        </p:spPr>
      </p:pic>
      <p:sp>
        <p:nvSpPr>
          <p:cNvPr id="16" name="Text 11"/>
          <p:cNvSpPr txBox="1"/>
          <p:nvPr/>
        </p:nvSpPr>
        <p:spPr>
          <a:xfrm>
            <a:off x="1508760" y="3291840"/>
            <a:ext cx="2788920" cy="274320"/>
          </a:xfrm>
          <a:prstGeom prst="rect">
            <a:avLst/>
          </a:prstGeom>
          <a:noFill/>
          <a:ln/>
        </p:spPr>
        <p:txBody>
          <a:bodyPr wrap="square" lIns="0" tIns="0" rIns="0" bIns="0" rtlCol="0" anchor="t"/>
          <a:lstStyle/>
          <a:p>
            <a:pPr indent="0" marL="0">
              <a:buNone/>
            </a:pPr>
            <a:r>
              <a:rPr lang="en-US" sz="1800" b="1" dirty="0">
                <a:solidFill>
                  <a:schemeClr val="tx1"/>
                </a:solidFill>
              </a:rPr>
              <a:t>Late matches cause chaos</a:t>
            </a:r>
            <a:endParaRPr lang="en-US" sz="1800" dirty="0"/>
          </a:p>
        </p:txBody>
      </p:sp>
      <p:sp>
        <p:nvSpPr>
          <p:cNvPr id="17" name="Text 12"/>
          <p:cNvSpPr txBox="1"/>
          <p:nvPr/>
        </p:nvSpPr>
        <p:spPr>
          <a:xfrm>
            <a:off x="1508760" y="3703320"/>
            <a:ext cx="2788920" cy="822960"/>
          </a:xfrm>
          <a:prstGeom prst="rect">
            <a:avLst/>
          </a:prstGeom>
          <a:noFill/>
          <a:ln/>
        </p:spPr>
        <p:txBody>
          <a:bodyPr wrap="square" lIns="0" tIns="0" rIns="0" bIns="0" rtlCol="0" anchor="t"/>
          <a:lstStyle/>
          <a:p>
            <a:pPr indent="0" marL="0">
              <a:buNone/>
            </a:pPr>
            <a:r>
              <a:rPr lang="en-US" sz="1400" dirty="0">
                <a:solidFill>
                  <a:schemeClr val="tx1"/>
                </a:solidFill>
              </a:rPr>
              <a:t>Everyone is phoned by hand to re-time the rest of the day.</a:t>
            </a:r>
            <a:endParaRPr lang="en-US" sz="1400" dirty="0"/>
          </a:p>
        </p:txBody>
      </p:sp>
      <p:sp>
        <p:nvSpPr>
          <p:cNvPr id="18" name="Problem card 4"/>
          <p:cNvSpPr/>
          <p:nvPr/>
        </p:nvSpPr>
        <p:spPr>
          <a:xfrm>
            <a:off x="4663440" y="3063240"/>
            <a:ext cx="4023360" cy="1600200"/>
          </a:xfrm>
          <a:prstGeom prst="roundRect">
            <a:avLst>
              <a:gd name="adj" fmla="val 6857"/>
            </a:avLst>
          </a:prstGeom>
          <a:solidFill>
            <a:schemeClr val="bg2"/>
          </a:solidFill>
          <a:ln w="6350">
            <a:solidFill>
              <a:schemeClr val="bg2"/>
            </a:solidFill>
            <a:prstDash val="solid"/>
          </a:ln>
          <a:effectLst>
            <a:outerShdw sx="100000" sy="100000" kx="0" ky="0" algn="bl" rotWithShape="0" blurRad="76200" dist="25400" dir="5400000">
              <a:srgbClr val="000000">
                <a:alpha val="12000"/>
              </a:srgbClr>
            </a:outerShdw>
          </a:effectLst>
        </p:spPr>
      </p:sp>
      <p:sp>
        <p:nvSpPr>
          <p:cNvPr id="19" name="No signal, clashing edits badge"/>
          <p:cNvSpPr/>
          <p:nvPr/>
        </p:nvSpPr>
        <p:spPr>
          <a:xfrm>
            <a:off x="4892040" y="3319272"/>
            <a:ext cx="640080" cy="640080"/>
          </a:xfrm>
          <a:prstGeom prst="ellipse">
            <a:avLst/>
          </a:prstGeom>
          <a:solidFill>
            <a:srgbClr val="8E24AA"/>
          </a:solidFill>
          <a:ln w="6350">
            <a:solidFill>
              <a:srgbClr val="8E24AA"/>
            </a:solidFill>
            <a:prstDash val="solid"/>
          </a:ln>
        </p:spPr>
      </p:sp>
      <p:pic>
        <p:nvPicPr>
          <p:cNvPr id="20" name="Image 3" descr="No signal, clashing edits icon">    </p:cNvPr>
          <p:cNvPicPr>
            <a:picLocks noChangeAspect="1"/>
          </p:cNvPicPr>
          <p:nvPr/>
        </p:nvPicPr>
        <p:blipFill>
          <a:blip r:embed="rId4"/>
          <a:stretch>
            <a:fillRect/>
          </a:stretch>
        </p:blipFill>
        <p:spPr>
          <a:xfrm>
            <a:off x="5064862" y="3492094"/>
            <a:ext cx="294437" cy="294437"/>
          </a:xfrm>
          <a:prstGeom prst="rect">
            <a:avLst/>
          </a:prstGeom>
        </p:spPr>
      </p:pic>
      <p:sp>
        <p:nvSpPr>
          <p:cNvPr id="21" name="Text 15"/>
          <p:cNvSpPr txBox="1"/>
          <p:nvPr/>
        </p:nvSpPr>
        <p:spPr>
          <a:xfrm>
            <a:off x="5715000" y="3291840"/>
            <a:ext cx="2788920" cy="274320"/>
          </a:xfrm>
          <a:prstGeom prst="rect">
            <a:avLst/>
          </a:prstGeom>
          <a:noFill/>
          <a:ln/>
        </p:spPr>
        <p:txBody>
          <a:bodyPr wrap="square" lIns="0" tIns="0" rIns="0" bIns="0" rtlCol="0" anchor="t"/>
          <a:lstStyle/>
          <a:p>
            <a:pPr indent="0" marL="0">
              <a:buNone/>
            </a:pPr>
            <a:r>
              <a:rPr lang="en-US" sz="1800" b="1" dirty="0">
                <a:solidFill>
                  <a:schemeClr val="tx1"/>
                </a:solidFill>
              </a:rPr>
              <a:t>No signal, clashing edits</a:t>
            </a:r>
            <a:endParaRPr lang="en-US" sz="1800" dirty="0"/>
          </a:p>
        </p:txBody>
      </p:sp>
      <p:sp>
        <p:nvSpPr>
          <p:cNvPr id="22" name="Text 16"/>
          <p:cNvSpPr txBox="1"/>
          <p:nvPr/>
        </p:nvSpPr>
        <p:spPr>
          <a:xfrm>
            <a:off x="5715000" y="3703320"/>
            <a:ext cx="2788920" cy="822960"/>
          </a:xfrm>
          <a:prstGeom prst="rect">
            <a:avLst/>
          </a:prstGeom>
          <a:noFill/>
          <a:ln/>
        </p:spPr>
        <p:txBody>
          <a:bodyPr wrap="square" lIns="0" tIns="0" rIns="0" bIns="0" rtlCol="0" anchor="t"/>
          <a:lstStyle/>
          <a:p>
            <a:pPr indent="0" marL="0">
              <a:buNone/>
            </a:pPr>
            <a:r>
              <a:rPr lang="en-US" sz="1400" dirty="0">
                <a:solidFill>
                  <a:schemeClr val="tx1"/>
                </a:solidFill>
              </a:rPr>
              <a:t>Two organisers edit separate copies that clash when they reconnect.</a:t>
            </a:r>
            <a:endParaRPr lang="en-US" sz="1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algn="l" indent="0" marL="0">
              <a:buNone/>
            </a:pPr>
            <a:r>
              <a:rPr lang="en-US" sz="3400" b="1" dirty="0">
                <a:solidFill>
                  <a:schemeClr val="tx1"/>
                </a:solidFill>
              </a:rPr>
              <a:t>What RefWhistle does</a:t>
            </a:r>
            <a:endParaRPr lang="en-US" sz="3400" dirty="0"/>
          </a:p>
        </p:txBody>
      </p:sp>
      <p:sp>
        <p:nvSpPr>
          <p:cNvPr id="3" name="Feature card 1"/>
          <p:cNvSpPr/>
          <p:nvPr/>
        </p:nvSpPr>
        <p:spPr>
          <a:xfrm>
            <a:off x="457200" y="1280160"/>
            <a:ext cx="2651760" cy="2103120"/>
          </a:xfrm>
          <a:prstGeom prst="roundRect">
            <a:avLst>
              <a:gd name="adj" fmla="val 5217"/>
            </a:avLst>
          </a:prstGeom>
          <a:solidFill>
            <a:schemeClr val="bg2"/>
          </a:solidFill>
          <a:ln w="6350">
            <a:solidFill>
              <a:schemeClr val="bg2"/>
            </a:solidFill>
            <a:prstDash val="solid"/>
          </a:ln>
          <a:effectLst>
            <a:outerShdw sx="100000" sy="100000" kx="0" ky="0" algn="bl" rotWithShape="0" blurRad="76200" dist="25400" dir="5400000">
              <a:srgbClr val="000000">
                <a:alpha val="12000"/>
              </a:srgbClr>
            </a:outerShdw>
          </a:effectLst>
        </p:spPr>
      </p:sp>
      <p:sp>
        <p:nvSpPr>
          <p:cNvPr id="4" name="Constraint scheduler badge"/>
          <p:cNvSpPr/>
          <p:nvPr/>
        </p:nvSpPr>
        <p:spPr>
          <a:xfrm>
            <a:off x="685800" y="1481328"/>
            <a:ext cx="640080" cy="640080"/>
          </a:xfrm>
          <a:prstGeom prst="ellipse">
            <a:avLst/>
          </a:prstGeom>
          <a:solidFill>
            <a:srgbClr val="3949AB"/>
          </a:solidFill>
          <a:ln w="6350">
            <a:solidFill>
              <a:srgbClr val="3949AB"/>
            </a:solidFill>
            <a:prstDash val="solid"/>
          </a:ln>
        </p:spPr>
      </p:sp>
      <p:pic>
        <p:nvPicPr>
          <p:cNvPr id="5" name="Image 0" descr="Constraint scheduler icon">    </p:cNvPr>
          <p:cNvPicPr>
            <a:picLocks noChangeAspect="1"/>
          </p:cNvPicPr>
          <p:nvPr/>
        </p:nvPicPr>
        <p:blipFill>
          <a:blip r:embed="rId1"/>
          <a:stretch>
            <a:fillRect/>
          </a:stretch>
        </p:blipFill>
        <p:spPr>
          <a:xfrm>
            <a:off x="858622" y="1654150"/>
            <a:ext cx="294437" cy="294437"/>
          </a:xfrm>
          <a:prstGeom prst="rect">
            <a:avLst/>
          </a:prstGeom>
        </p:spPr>
      </p:pic>
      <p:sp>
        <p:nvSpPr>
          <p:cNvPr id="6" name="Text 3"/>
          <p:cNvSpPr txBox="1"/>
          <p:nvPr/>
        </p:nvSpPr>
        <p:spPr>
          <a:xfrm>
            <a:off x="685800" y="2286000"/>
            <a:ext cx="2240280" cy="274320"/>
          </a:xfrm>
          <a:prstGeom prst="rect">
            <a:avLst/>
          </a:prstGeom>
          <a:noFill/>
          <a:ln/>
        </p:spPr>
        <p:txBody>
          <a:bodyPr wrap="square" lIns="0" tIns="0" rIns="0" bIns="0" rtlCol="0" anchor="t"/>
          <a:lstStyle/>
          <a:p>
            <a:pPr indent="0" marL="0">
              <a:buNone/>
            </a:pPr>
            <a:r>
              <a:rPr lang="en-US" sz="1800" b="1" dirty="0">
                <a:solidFill>
                  <a:schemeClr val="tx1"/>
                </a:solidFill>
              </a:rPr>
              <a:t>Constraint scheduler</a:t>
            </a:r>
            <a:endParaRPr lang="en-US" sz="1800" dirty="0"/>
          </a:p>
        </p:txBody>
      </p:sp>
      <p:sp>
        <p:nvSpPr>
          <p:cNvPr id="7" name="Text 4"/>
          <p:cNvSpPr txBox="1"/>
          <p:nvPr/>
        </p:nvSpPr>
        <p:spPr>
          <a:xfrm>
            <a:off x="685800" y="2651760"/>
            <a:ext cx="2240280" cy="685800"/>
          </a:xfrm>
          <a:prstGeom prst="rect">
            <a:avLst/>
          </a:prstGeom>
          <a:noFill/>
          <a:ln/>
        </p:spPr>
        <p:txBody>
          <a:bodyPr wrap="square" lIns="0" tIns="0" rIns="0" bIns="0" rtlCol="0" anchor="t"/>
          <a:lstStyle/>
          <a:p>
            <a:pPr indent="0" marL="0">
              <a:buNone/>
            </a:pPr>
            <a:r>
              <a:rPr lang="en-US" sz="1400" dirty="0">
                <a:solidFill>
                  <a:schemeClr val="tx1"/>
                </a:solidFill>
              </a:rPr>
              <a:t>Builds the whole timetable and never breaks a hard rule.</a:t>
            </a:r>
            <a:endParaRPr lang="en-US" sz="1400" dirty="0"/>
          </a:p>
        </p:txBody>
      </p:sp>
      <p:sp>
        <p:nvSpPr>
          <p:cNvPr id="8" name="Feature card 2"/>
          <p:cNvSpPr/>
          <p:nvPr/>
        </p:nvSpPr>
        <p:spPr>
          <a:xfrm>
            <a:off x="3246120" y="1280160"/>
            <a:ext cx="2651760" cy="2103120"/>
          </a:xfrm>
          <a:prstGeom prst="roundRect">
            <a:avLst>
              <a:gd name="adj" fmla="val 5217"/>
            </a:avLst>
          </a:prstGeom>
          <a:solidFill>
            <a:schemeClr val="bg2"/>
          </a:solidFill>
          <a:ln w="6350">
            <a:solidFill>
              <a:schemeClr val="bg2"/>
            </a:solidFill>
            <a:prstDash val="solid"/>
          </a:ln>
          <a:effectLst>
            <a:outerShdw sx="100000" sy="100000" kx="0" ky="0" algn="bl" rotWithShape="0" blurRad="76200" dist="25400" dir="5400000">
              <a:srgbClr val="000000">
                <a:alpha val="12000"/>
              </a:srgbClr>
            </a:outerShdw>
          </a:effectLst>
        </p:spPr>
      </p:sp>
      <p:sp>
        <p:nvSpPr>
          <p:cNvPr id="9" name="Offline-first sync badge"/>
          <p:cNvSpPr/>
          <p:nvPr/>
        </p:nvSpPr>
        <p:spPr>
          <a:xfrm>
            <a:off x="3474720" y="1481328"/>
            <a:ext cx="640080" cy="640080"/>
          </a:xfrm>
          <a:prstGeom prst="ellipse">
            <a:avLst/>
          </a:prstGeom>
          <a:solidFill>
            <a:srgbClr val="00897B"/>
          </a:solidFill>
          <a:ln w="6350">
            <a:solidFill>
              <a:srgbClr val="00897B"/>
            </a:solidFill>
            <a:prstDash val="solid"/>
          </a:ln>
        </p:spPr>
      </p:sp>
      <p:pic>
        <p:nvPicPr>
          <p:cNvPr id="10" name="Image 1" descr="Offline-first sync icon">    </p:cNvPr>
          <p:cNvPicPr>
            <a:picLocks noChangeAspect="1"/>
          </p:cNvPicPr>
          <p:nvPr/>
        </p:nvPicPr>
        <p:blipFill>
          <a:blip r:embed="rId2"/>
          <a:stretch>
            <a:fillRect/>
          </a:stretch>
        </p:blipFill>
        <p:spPr>
          <a:xfrm>
            <a:off x="3647542" y="1654150"/>
            <a:ext cx="294437" cy="294437"/>
          </a:xfrm>
          <a:prstGeom prst="rect">
            <a:avLst/>
          </a:prstGeom>
        </p:spPr>
      </p:pic>
      <p:sp>
        <p:nvSpPr>
          <p:cNvPr id="11" name="Text 7"/>
          <p:cNvSpPr txBox="1"/>
          <p:nvPr/>
        </p:nvSpPr>
        <p:spPr>
          <a:xfrm>
            <a:off x="3474720" y="2286000"/>
            <a:ext cx="2240280" cy="274320"/>
          </a:xfrm>
          <a:prstGeom prst="rect">
            <a:avLst/>
          </a:prstGeom>
          <a:noFill/>
          <a:ln/>
        </p:spPr>
        <p:txBody>
          <a:bodyPr wrap="square" lIns="0" tIns="0" rIns="0" bIns="0" rtlCol="0" anchor="t"/>
          <a:lstStyle/>
          <a:p>
            <a:pPr indent="0" marL="0">
              <a:buNone/>
            </a:pPr>
            <a:r>
              <a:rPr lang="en-US" sz="1800" b="1" dirty="0">
                <a:solidFill>
                  <a:schemeClr val="tx1"/>
                </a:solidFill>
              </a:rPr>
              <a:t>Offline-first sync</a:t>
            </a:r>
            <a:endParaRPr lang="en-US" sz="1800" dirty="0"/>
          </a:p>
        </p:txBody>
      </p:sp>
      <p:sp>
        <p:nvSpPr>
          <p:cNvPr id="12" name="Text 8"/>
          <p:cNvSpPr txBox="1"/>
          <p:nvPr/>
        </p:nvSpPr>
        <p:spPr>
          <a:xfrm>
            <a:off x="3474720" y="2651760"/>
            <a:ext cx="2240280" cy="685800"/>
          </a:xfrm>
          <a:prstGeom prst="rect">
            <a:avLst/>
          </a:prstGeom>
          <a:noFill/>
          <a:ln/>
        </p:spPr>
        <p:txBody>
          <a:bodyPr wrap="square" lIns="0" tIns="0" rIns="0" bIns="0" rtlCol="0" anchor="t"/>
          <a:lstStyle/>
          <a:p>
            <a:pPr indent="0" marL="0">
              <a:buNone/>
            </a:pPr>
            <a:r>
              <a:rPr lang="en-US" sz="1400" dirty="0">
                <a:solidFill>
                  <a:schemeClr val="tx1"/>
                </a:solidFill>
              </a:rPr>
              <a:t>Phones merge their changes and always end up identical.</a:t>
            </a:r>
            <a:endParaRPr lang="en-US" sz="1400" dirty="0"/>
          </a:p>
        </p:txBody>
      </p:sp>
      <p:sp>
        <p:nvSpPr>
          <p:cNvPr id="13" name="Feature card 3"/>
          <p:cNvSpPr/>
          <p:nvPr/>
        </p:nvSpPr>
        <p:spPr>
          <a:xfrm>
            <a:off x="6035040" y="1280160"/>
            <a:ext cx="2651760" cy="2103120"/>
          </a:xfrm>
          <a:prstGeom prst="roundRect">
            <a:avLst>
              <a:gd name="adj" fmla="val 5217"/>
            </a:avLst>
          </a:prstGeom>
          <a:solidFill>
            <a:schemeClr val="bg2"/>
          </a:solidFill>
          <a:ln w="6350">
            <a:solidFill>
              <a:schemeClr val="bg2"/>
            </a:solidFill>
            <a:prstDash val="solid"/>
          </a:ln>
          <a:effectLst>
            <a:outerShdw sx="100000" sy="100000" kx="0" ky="0" algn="bl" rotWithShape="0" blurRad="76200" dist="25400" dir="5400000">
              <a:srgbClr val="000000">
                <a:alpha val="12000"/>
              </a:srgbClr>
            </a:outerShdw>
          </a:effectLst>
        </p:spPr>
      </p:sp>
      <p:sp>
        <p:nvSpPr>
          <p:cNvPr id="14" name="Live delay handling badge"/>
          <p:cNvSpPr/>
          <p:nvPr/>
        </p:nvSpPr>
        <p:spPr>
          <a:xfrm>
            <a:off x="6263640" y="1481328"/>
            <a:ext cx="640080" cy="640080"/>
          </a:xfrm>
          <a:prstGeom prst="ellipse">
            <a:avLst/>
          </a:prstGeom>
          <a:solidFill>
            <a:srgbClr val="E64A19"/>
          </a:solidFill>
          <a:ln w="6350">
            <a:solidFill>
              <a:srgbClr val="E64A19"/>
            </a:solidFill>
            <a:prstDash val="solid"/>
          </a:ln>
        </p:spPr>
      </p:sp>
      <p:pic>
        <p:nvPicPr>
          <p:cNvPr id="15" name="Image 2" descr="Live delay handling icon">    </p:cNvPr>
          <p:cNvPicPr>
            <a:picLocks noChangeAspect="1"/>
          </p:cNvPicPr>
          <p:nvPr/>
        </p:nvPicPr>
        <p:blipFill>
          <a:blip r:embed="rId3"/>
          <a:stretch>
            <a:fillRect/>
          </a:stretch>
        </p:blipFill>
        <p:spPr>
          <a:xfrm>
            <a:off x="6436462" y="1654150"/>
            <a:ext cx="294437" cy="294437"/>
          </a:xfrm>
          <a:prstGeom prst="rect">
            <a:avLst/>
          </a:prstGeom>
        </p:spPr>
      </p:pic>
      <p:sp>
        <p:nvSpPr>
          <p:cNvPr id="16" name="Text 11"/>
          <p:cNvSpPr txBox="1"/>
          <p:nvPr/>
        </p:nvSpPr>
        <p:spPr>
          <a:xfrm>
            <a:off x="6263640" y="2286000"/>
            <a:ext cx="2240280" cy="274320"/>
          </a:xfrm>
          <a:prstGeom prst="rect">
            <a:avLst/>
          </a:prstGeom>
          <a:noFill/>
          <a:ln/>
        </p:spPr>
        <p:txBody>
          <a:bodyPr wrap="square" lIns="0" tIns="0" rIns="0" bIns="0" rtlCol="0" anchor="t"/>
          <a:lstStyle/>
          <a:p>
            <a:pPr indent="0" marL="0">
              <a:buNone/>
            </a:pPr>
            <a:r>
              <a:rPr lang="en-US" sz="1800" b="1" dirty="0">
                <a:solidFill>
                  <a:schemeClr val="tx1"/>
                </a:solidFill>
              </a:rPr>
              <a:t>Live delay handling</a:t>
            </a:r>
            <a:endParaRPr lang="en-US" sz="1800" dirty="0"/>
          </a:p>
        </p:txBody>
      </p:sp>
      <p:sp>
        <p:nvSpPr>
          <p:cNvPr id="17" name="Text 12"/>
          <p:cNvSpPr txBox="1"/>
          <p:nvPr/>
        </p:nvSpPr>
        <p:spPr>
          <a:xfrm>
            <a:off x="6263640" y="2651760"/>
            <a:ext cx="2240280" cy="685800"/>
          </a:xfrm>
          <a:prstGeom prst="rect">
            <a:avLst/>
          </a:prstGeom>
          <a:noFill/>
          <a:ln/>
        </p:spPr>
        <p:txBody>
          <a:bodyPr wrap="square" lIns="0" tIns="0" rIns="0" bIns="0" rtlCol="0" anchor="t"/>
          <a:lstStyle/>
          <a:p>
            <a:pPr indent="0" marL="0">
              <a:buNone/>
            </a:pPr>
            <a:r>
              <a:rPr lang="en-US" sz="1400" dirty="0">
                <a:solidFill>
                  <a:schemeClr val="tx1"/>
                </a:solidFill>
              </a:rPr>
              <a:t>A late match re-times everything that depends on it.</a:t>
            </a:r>
            <a:endParaRPr lang="en-US" sz="1400" dirty="0"/>
          </a:p>
        </p:txBody>
      </p:sp>
      <p:sp>
        <p:nvSpPr>
          <p:cNvPr id="18" name="Text 13"/>
          <p:cNvSpPr txBox="1"/>
          <p:nvPr/>
        </p:nvSpPr>
        <p:spPr>
          <a:xfrm>
            <a:off x="457200" y="3840480"/>
            <a:ext cx="1463040" cy="365760"/>
          </a:xfrm>
          <a:prstGeom prst="rect">
            <a:avLst/>
          </a:prstGeom>
          <a:noFill/>
          <a:ln/>
        </p:spPr>
        <p:txBody>
          <a:bodyPr wrap="square" lIns="0" tIns="0" rIns="0" bIns="0" rtlCol="0" anchor="ctr"/>
          <a:lstStyle/>
          <a:p>
            <a:pPr indent="0" marL="0">
              <a:buNone/>
            </a:pPr>
            <a:r>
              <a:rPr lang="en-US" sz="1600" b="1" dirty="0">
                <a:solidFill>
                  <a:schemeClr val="tx1"/>
                </a:solidFill>
              </a:rPr>
              <a:t>Who uses it</a:t>
            </a:r>
            <a:endParaRPr lang="en-US" sz="1600" dirty="0"/>
          </a:p>
        </p:txBody>
      </p:sp>
      <p:sp>
        <p:nvSpPr>
          <p:cNvPr id="19" name="Role pill Admin (organiser)"/>
          <p:cNvSpPr/>
          <p:nvPr/>
        </p:nvSpPr>
        <p:spPr>
          <a:xfrm>
            <a:off x="1965960" y="3840480"/>
            <a:ext cx="1554480" cy="365760"/>
          </a:xfrm>
          <a:prstGeom prst="roundRect">
            <a:avLst>
              <a:gd name="adj" fmla="val 50000"/>
            </a:avLst>
          </a:prstGeom>
          <a:solidFill>
            <a:srgbClr val="3949AB"/>
          </a:solidFill>
          <a:ln w="6350">
            <a:solidFill>
              <a:srgbClr val="3949AB"/>
            </a:solidFill>
            <a:prstDash val="solid"/>
          </a:ln>
        </p:spPr>
      </p:sp>
      <p:sp>
        <p:nvSpPr>
          <p:cNvPr id="20" name="Text 15"/>
          <p:cNvSpPr txBox="1"/>
          <p:nvPr/>
        </p:nvSpPr>
        <p:spPr>
          <a:xfrm>
            <a:off x="1965960" y="3840480"/>
            <a:ext cx="1554480" cy="365760"/>
          </a:xfrm>
          <a:prstGeom prst="rect">
            <a:avLst/>
          </a:prstGeom>
          <a:noFill/>
          <a:ln/>
        </p:spPr>
        <p:txBody>
          <a:bodyPr wrap="square" lIns="0" tIns="0" rIns="0" bIns="0" rtlCol="0" anchor="ctr"/>
          <a:lstStyle/>
          <a:p>
            <a:pPr algn="ctr" indent="0" marL="0">
              <a:buNone/>
            </a:pPr>
            <a:r>
              <a:rPr lang="en-US" sz="1300" b="1" dirty="0">
                <a:solidFill>
                  <a:schemeClr val="bg1"/>
                </a:solidFill>
              </a:rPr>
              <a:t>Admin (organiser)</a:t>
            </a:r>
            <a:endParaRPr lang="en-US" sz="1300" dirty="0"/>
          </a:p>
        </p:txBody>
      </p:sp>
      <p:sp>
        <p:nvSpPr>
          <p:cNvPr id="21" name="Role pill Referee"/>
          <p:cNvSpPr/>
          <p:nvPr/>
        </p:nvSpPr>
        <p:spPr>
          <a:xfrm>
            <a:off x="3630168" y="3840480"/>
            <a:ext cx="1554480" cy="365760"/>
          </a:xfrm>
          <a:prstGeom prst="roundRect">
            <a:avLst>
              <a:gd name="adj" fmla="val 50000"/>
            </a:avLst>
          </a:prstGeom>
          <a:solidFill>
            <a:srgbClr val="00897B"/>
          </a:solidFill>
          <a:ln w="6350">
            <a:solidFill>
              <a:srgbClr val="00897B"/>
            </a:solidFill>
            <a:prstDash val="solid"/>
          </a:ln>
        </p:spPr>
      </p:sp>
      <p:sp>
        <p:nvSpPr>
          <p:cNvPr id="22" name="Text 17"/>
          <p:cNvSpPr txBox="1"/>
          <p:nvPr/>
        </p:nvSpPr>
        <p:spPr>
          <a:xfrm>
            <a:off x="3630168" y="3840480"/>
            <a:ext cx="1554480" cy="365760"/>
          </a:xfrm>
          <a:prstGeom prst="rect">
            <a:avLst/>
          </a:prstGeom>
          <a:noFill/>
          <a:ln/>
        </p:spPr>
        <p:txBody>
          <a:bodyPr wrap="square" lIns="0" tIns="0" rIns="0" bIns="0" rtlCol="0" anchor="ctr"/>
          <a:lstStyle/>
          <a:p>
            <a:pPr algn="ctr" indent="0" marL="0">
              <a:buNone/>
            </a:pPr>
            <a:r>
              <a:rPr lang="en-US" sz="1300" b="1" dirty="0">
                <a:solidFill>
                  <a:schemeClr val="bg1"/>
                </a:solidFill>
              </a:rPr>
              <a:t>Referee</a:t>
            </a:r>
            <a:endParaRPr lang="en-US" sz="1300" dirty="0"/>
          </a:p>
        </p:txBody>
      </p:sp>
      <p:sp>
        <p:nvSpPr>
          <p:cNvPr id="23" name="Role pill Team or player"/>
          <p:cNvSpPr/>
          <p:nvPr/>
        </p:nvSpPr>
        <p:spPr>
          <a:xfrm>
            <a:off x="5294376" y="3840480"/>
            <a:ext cx="1554480" cy="365760"/>
          </a:xfrm>
          <a:prstGeom prst="roundRect">
            <a:avLst>
              <a:gd name="adj" fmla="val 50000"/>
            </a:avLst>
          </a:prstGeom>
          <a:solidFill>
            <a:srgbClr val="E64A19"/>
          </a:solidFill>
          <a:ln w="6350">
            <a:solidFill>
              <a:srgbClr val="E64A19"/>
            </a:solidFill>
            <a:prstDash val="solid"/>
          </a:ln>
        </p:spPr>
      </p:sp>
      <p:sp>
        <p:nvSpPr>
          <p:cNvPr id="24" name="Text 19"/>
          <p:cNvSpPr txBox="1"/>
          <p:nvPr/>
        </p:nvSpPr>
        <p:spPr>
          <a:xfrm>
            <a:off x="5294376" y="3840480"/>
            <a:ext cx="1554480" cy="365760"/>
          </a:xfrm>
          <a:prstGeom prst="rect">
            <a:avLst/>
          </a:prstGeom>
          <a:noFill/>
          <a:ln/>
        </p:spPr>
        <p:txBody>
          <a:bodyPr wrap="square" lIns="0" tIns="0" rIns="0" bIns="0" rtlCol="0" anchor="ctr"/>
          <a:lstStyle/>
          <a:p>
            <a:pPr algn="ctr" indent="0" marL="0">
              <a:buNone/>
            </a:pPr>
            <a:r>
              <a:rPr lang="en-US" sz="1300" b="1" dirty="0">
                <a:solidFill>
                  <a:schemeClr val="bg1"/>
                </a:solidFill>
              </a:rPr>
              <a:t>Team or player</a:t>
            </a:r>
            <a:endParaRPr lang="en-US" sz="1300" dirty="0"/>
          </a:p>
        </p:txBody>
      </p:sp>
      <p:sp>
        <p:nvSpPr>
          <p:cNvPr id="25" name="Role pill Spectator (web)"/>
          <p:cNvSpPr/>
          <p:nvPr/>
        </p:nvSpPr>
        <p:spPr>
          <a:xfrm>
            <a:off x="6958584" y="3840480"/>
            <a:ext cx="1554480" cy="365760"/>
          </a:xfrm>
          <a:prstGeom prst="roundRect">
            <a:avLst>
              <a:gd name="adj" fmla="val 50000"/>
            </a:avLst>
          </a:prstGeom>
          <a:solidFill>
            <a:srgbClr val="8E24AA"/>
          </a:solidFill>
          <a:ln w="6350">
            <a:solidFill>
              <a:srgbClr val="8E24AA"/>
            </a:solidFill>
            <a:prstDash val="solid"/>
          </a:ln>
        </p:spPr>
      </p:sp>
      <p:sp>
        <p:nvSpPr>
          <p:cNvPr id="26" name="Text 21"/>
          <p:cNvSpPr txBox="1"/>
          <p:nvPr/>
        </p:nvSpPr>
        <p:spPr>
          <a:xfrm>
            <a:off x="6958584" y="3840480"/>
            <a:ext cx="1554480" cy="365760"/>
          </a:xfrm>
          <a:prstGeom prst="rect">
            <a:avLst/>
          </a:prstGeom>
          <a:noFill/>
          <a:ln/>
        </p:spPr>
        <p:txBody>
          <a:bodyPr wrap="square" lIns="0" tIns="0" rIns="0" bIns="0" rtlCol="0" anchor="ctr"/>
          <a:lstStyle/>
          <a:p>
            <a:pPr algn="ctr" indent="0" marL="0">
              <a:buNone/>
            </a:pPr>
            <a:r>
              <a:rPr lang="en-US" sz="1300" b="1" dirty="0">
                <a:solidFill>
                  <a:schemeClr val="bg1"/>
                </a:solidFill>
              </a:rPr>
              <a:t>Spectator (web)</a:t>
            </a:r>
            <a:endParaRPr lang="en-US" sz="13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algn="l" indent="0" marL="0">
              <a:buNone/>
            </a:pPr>
            <a:r>
              <a:rPr lang="en-US" sz="3400" b="1" dirty="0">
                <a:solidFill>
                  <a:schemeClr val="tx1"/>
                </a:solidFill>
              </a:rPr>
              <a:t>How it fits together</a:t>
            </a:r>
            <a:endParaRPr lang="en-US" sz="3400" dirty="0"/>
          </a:p>
        </p:txBody>
      </p:sp>
      <p:sp>
        <p:nvSpPr>
          <p:cNvPr id="3" name="Text 1"/>
          <p:cNvSpPr txBox="1"/>
          <p:nvPr/>
        </p:nvSpPr>
        <p:spPr>
          <a:xfrm>
            <a:off x="457200" y="1024128"/>
            <a:ext cx="2743200" cy="228600"/>
          </a:xfrm>
          <a:prstGeom prst="rect">
            <a:avLst/>
          </a:prstGeom>
          <a:noFill/>
          <a:ln/>
        </p:spPr>
        <p:txBody>
          <a:bodyPr wrap="square" lIns="0" tIns="0" rIns="0" bIns="0" rtlCol="0" anchor="t"/>
          <a:lstStyle/>
          <a:p>
            <a:pPr indent="0" marL="0">
              <a:buNone/>
            </a:pPr>
            <a:r>
              <a:rPr lang="en-US" sz="1400" b="1" dirty="0">
                <a:solidFill>
                  <a:schemeClr val="tx2"/>
                </a:solidFill>
              </a:rPr>
              <a:t>On the phone</a:t>
            </a:r>
            <a:endParaRPr lang="en-US" sz="1400" dirty="0"/>
          </a:p>
        </p:txBody>
      </p:sp>
      <p:sp>
        <p:nvSpPr>
          <p:cNvPr id="4" name="Text 2"/>
          <p:cNvSpPr txBox="1"/>
          <p:nvPr/>
        </p:nvSpPr>
        <p:spPr>
          <a:xfrm>
            <a:off x="3566160" y="1024128"/>
            <a:ext cx="2011680" cy="228600"/>
          </a:xfrm>
          <a:prstGeom prst="rect">
            <a:avLst/>
          </a:prstGeom>
          <a:noFill/>
          <a:ln/>
        </p:spPr>
        <p:txBody>
          <a:bodyPr wrap="square" lIns="0" tIns="0" rIns="0" bIns="0" rtlCol="0" anchor="t"/>
          <a:lstStyle/>
          <a:p>
            <a:pPr indent="0" marL="0">
              <a:buNone/>
            </a:pPr>
            <a:r>
              <a:rPr lang="en-US" sz="1400" b="1" dirty="0">
                <a:solidFill>
                  <a:schemeClr val="tx2"/>
                </a:solidFill>
              </a:rPr>
              <a:t>Ways to sync</a:t>
            </a:r>
            <a:endParaRPr lang="en-US" sz="1400" dirty="0"/>
          </a:p>
        </p:txBody>
      </p:sp>
      <p:sp>
        <p:nvSpPr>
          <p:cNvPr id="5" name="Text 3"/>
          <p:cNvSpPr txBox="1"/>
          <p:nvPr/>
        </p:nvSpPr>
        <p:spPr>
          <a:xfrm>
            <a:off x="5943600" y="1024128"/>
            <a:ext cx="2743200" cy="228600"/>
          </a:xfrm>
          <a:prstGeom prst="rect">
            <a:avLst/>
          </a:prstGeom>
          <a:noFill/>
          <a:ln/>
        </p:spPr>
        <p:txBody>
          <a:bodyPr wrap="square" lIns="0" tIns="0" rIns="0" bIns="0" rtlCol="0" anchor="t"/>
          <a:lstStyle/>
          <a:p>
            <a:pPr indent="0" marL="0">
              <a:buNone/>
            </a:pPr>
            <a:r>
              <a:rPr lang="en-US" sz="1400" b="1" dirty="0">
                <a:solidFill>
                  <a:schemeClr val="tx2"/>
                </a:solidFill>
              </a:rPr>
              <a:t>Cloud and viewers</a:t>
            </a:r>
            <a:endParaRPr lang="en-US" sz="1400" dirty="0"/>
          </a:p>
        </p:txBody>
      </p:sp>
      <p:sp>
        <p:nvSpPr>
          <p:cNvPr id="6" name="Phone box 1"/>
          <p:cNvSpPr/>
          <p:nvPr/>
        </p:nvSpPr>
        <p:spPr>
          <a:xfrm>
            <a:off x="457200" y="1280160"/>
            <a:ext cx="2743200" cy="685800"/>
          </a:xfrm>
          <a:prstGeom prst="roundRect">
            <a:avLst>
              <a:gd name="adj" fmla="val 16000"/>
            </a:avLst>
          </a:prstGeom>
          <a:solidFill>
            <a:schemeClr val="bg2"/>
          </a:solidFill>
          <a:ln w="6350">
            <a:solidFill>
              <a:schemeClr val="bg2"/>
            </a:solidFill>
            <a:prstDash val="solid"/>
          </a:ln>
          <a:effectLst>
            <a:outerShdw sx="100000" sy="100000" kx="0" ky="0" algn="bl" rotWithShape="0" blurRad="76200" dist="25400" dir="5400000">
              <a:srgbClr val="000000">
                <a:alpha val="12000"/>
              </a:srgbClr>
            </a:outerShdw>
          </a:effectLst>
        </p:spPr>
      </p:sp>
      <p:sp>
        <p:nvSpPr>
          <p:cNvPr id="7" name="Text 5"/>
          <p:cNvSpPr txBox="1"/>
          <p:nvPr/>
        </p:nvSpPr>
        <p:spPr>
          <a:xfrm>
            <a:off x="594360" y="1280160"/>
            <a:ext cx="2468880" cy="685800"/>
          </a:xfrm>
          <a:prstGeom prst="rect">
            <a:avLst/>
          </a:prstGeom>
          <a:noFill/>
          <a:ln/>
        </p:spPr>
        <p:txBody>
          <a:bodyPr wrap="square" lIns="0" tIns="0" rIns="0" bIns="0" rtlCol="0" anchor="ctr"/>
          <a:lstStyle/>
          <a:p>
            <a:pPr indent="0" marL="0">
              <a:buNone/>
            </a:pPr>
            <a:r>
              <a:rPr lang="en-US" sz="1400" dirty="0">
                <a:solidFill>
                  <a:schemeClr val="tx1"/>
                </a:solidFill>
              </a:rPr>
              <a:t>Screens: schedule, timeline, insights, map</a:t>
            </a:r>
            <a:endParaRPr lang="en-US" sz="1400" dirty="0"/>
          </a:p>
        </p:txBody>
      </p:sp>
      <p:sp>
        <p:nvSpPr>
          <p:cNvPr id="8" name="Phone box 2"/>
          <p:cNvSpPr/>
          <p:nvPr/>
        </p:nvSpPr>
        <p:spPr>
          <a:xfrm>
            <a:off x="457200" y="2075688"/>
            <a:ext cx="2743200" cy="685800"/>
          </a:xfrm>
          <a:prstGeom prst="roundRect">
            <a:avLst>
              <a:gd name="adj" fmla="val 16000"/>
            </a:avLst>
          </a:prstGeom>
          <a:solidFill>
            <a:schemeClr val="bg2"/>
          </a:solidFill>
          <a:ln w="6350">
            <a:solidFill>
              <a:schemeClr val="bg2"/>
            </a:solidFill>
            <a:prstDash val="solid"/>
          </a:ln>
          <a:effectLst>
            <a:outerShdw sx="100000" sy="100000" kx="0" ky="0" algn="bl" rotWithShape="0" blurRad="76200" dist="25400" dir="5400000">
              <a:srgbClr val="000000">
                <a:alpha val="12000"/>
              </a:srgbClr>
            </a:outerShdw>
          </a:effectLst>
        </p:spPr>
      </p:sp>
      <p:sp>
        <p:nvSpPr>
          <p:cNvPr id="9" name="Text 7"/>
          <p:cNvSpPr txBox="1"/>
          <p:nvPr/>
        </p:nvSpPr>
        <p:spPr>
          <a:xfrm>
            <a:off x="594360" y="2075688"/>
            <a:ext cx="2468880" cy="685800"/>
          </a:xfrm>
          <a:prstGeom prst="rect">
            <a:avLst/>
          </a:prstGeom>
          <a:noFill/>
          <a:ln/>
        </p:spPr>
        <p:txBody>
          <a:bodyPr wrap="square" lIns="0" tIns="0" rIns="0" bIns="0" rtlCol="0" anchor="ctr"/>
          <a:lstStyle/>
          <a:p>
            <a:pPr indent="0" marL="0">
              <a:buNone/>
            </a:pPr>
            <a:r>
              <a:rPr lang="en-US" sz="1400" dirty="0">
                <a:solidFill>
                  <a:schemeClr val="tx1"/>
                </a:solidFill>
              </a:rPr>
              <a:t>Engine: scheduler, replay, delay logic</a:t>
            </a:r>
            <a:endParaRPr lang="en-US" sz="1400" dirty="0"/>
          </a:p>
        </p:txBody>
      </p:sp>
      <p:sp>
        <p:nvSpPr>
          <p:cNvPr id="10" name="Phone box 3"/>
          <p:cNvSpPr/>
          <p:nvPr/>
        </p:nvSpPr>
        <p:spPr>
          <a:xfrm>
            <a:off x="457200" y="2871216"/>
            <a:ext cx="2743200" cy="685800"/>
          </a:xfrm>
          <a:prstGeom prst="roundRect">
            <a:avLst>
              <a:gd name="adj" fmla="val 16000"/>
            </a:avLst>
          </a:prstGeom>
          <a:solidFill>
            <a:schemeClr val="accent1"/>
          </a:solidFill>
          <a:ln w="6350">
            <a:solidFill>
              <a:schemeClr val="accent1"/>
            </a:solidFill>
            <a:prstDash val="solid"/>
          </a:ln>
          <a:effectLst>
            <a:outerShdw sx="100000" sy="100000" kx="0" ky="0" algn="bl" rotWithShape="0" blurRad="76200" dist="25400" dir="5400000">
              <a:srgbClr val="000000">
                <a:alpha val="12000"/>
              </a:srgbClr>
            </a:outerShdw>
          </a:effectLst>
        </p:spPr>
      </p:sp>
      <p:sp>
        <p:nvSpPr>
          <p:cNvPr id="11" name="Text 9"/>
          <p:cNvSpPr txBox="1"/>
          <p:nvPr/>
        </p:nvSpPr>
        <p:spPr>
          <a:xfrm>
            <a:off x="594360" y="2871216"/>
            <a:ext cx="2468880" cy="685800"/>
          </a:xfrm>
          <a:prstGeom prst="rect">
            <a:avLst/>
          </a:prstGeom>
          <a:noFill/>
          <a:ln/>
        </p:spPr>
        <p:txBody>
          <a:bodyPr wrap="square" lIns="0" tIns="0" rIns="0" bIns="0" rtlCol="0" anchor="ctr"/>
          <a:lstStyle/>
          <a:p>
            <a:pPr indent="0" marL="0">
              <a:buNone/>
            </a:pPr>
            <a:r>
              <a:rPr lang="en-US" sz="1400" b="1" dirty="0">
                <a:solidFill>
                  <a:schemeClr val="bg1"/>
                </a:solidFill>
              </a:rPr>
              <a:t>SQLite: append-only change log</a:t>
            </a:r>
            <a:endParaRPr lang="en-US" sz="1400" dirty="0"/>
          </a:p>
        </p:txBody>
      </p:sp>
      <p:sp>
        <p:nvSpPr>
          <p:cNvPr id="12" name="Sync box 1"/>
          <p:cNvSpPr/>
          <p:nvPr/>
        </p:nvSpPr>
        <p:spPr>
          <a:xfrm>
            <a:off x="3566160" y="1280160"/>
            <a:ext cx="2011680" cy="685800"/>
          </a:xfrm>
          <a:prstGeom prst="roundRect">
            <a:avLst>
              <a:gd name="adj" fmla="val 16000"/>
            </a:avLst>
          </a:prstGeom>
          <a:solidFill>
            <a:schemeClr val="bg2"/>
          </a:solidFill>
          <a:ln w="6350">
            <a:solidFill>
              <a:schemeClr val="bg2"/>
            </a:solidFill>
            <a:prstDash val="solid"/>
          </a:ln>
          <a:effectLst>
            <a:outerShdw sx="100000" sy="100000" kx="0" ky="0" algn="bl" rotWithShape="0" blurRad="76200" dist="25400" dir="5400000">
              <a:srgbClr val="000000">
                <a:alpha val="12000"/>
              </a:srgbClr>
            </a:outerShdw>
          </a:effectLst>
        </p:spPr>
      </p:sp>
      <p:sp>
        <p:nvSpPr>
          <p:cNvPr id="13" name="Text 11"/>
          <p:cNvSpPr txBox="1"/>
          <p:nvPr/>
        </p:nvSpPr>
        <p:spPr>
          <a:xfrm>
            <a:off x="3566160" y="1280160"/>
            <a:ext cx="2011680" cy="685800"/>
          </a:xfrm>
          <a:prstGeom prst="rect">
            <a:avLst/>
          </a:prstGeom>
          <a:noFill/>
          <a:ln/>
        </p:spPr>
        <p:txBody>
          <a:bodyPr wrap="square" lIns="0" tIns="0" rIns="0" bIns="0" rtlCol="0" anchor="ctr"/>
          <a:lstStyle/>
          <a:p>
            <a:pPr algn="ctr" indent="0" marL="0">
              <a:buNone/>
            </a:pPr>
            <a:r>
              <a:rPr lang="en-US" sz="1400" b="1" dirty="0">
                <a:solidFill>
                  <a:schemeClr val="tx1"/>
                </a:solidFill>
              </a:rPr>
              <a:t>Wi-Fi or hotspot</a:t>
            </a:r>
            <a:endParaRPr lang="en-US" sz="1400" dirty="0"/>
          </a:p>
        </p:txBody>
      </p:sp>
      <p:sp>
        <p:nvSpPr>
          <p:cNvPr id="14" name="Arrow phone to sync 1"/>
          <p:cNvSpPr/>
          <p:nvPr/>
        </p:nvSpPr>
        <p:spPr>
          <a:xfrm>
            <a:off x="3218688" y="1623060"/>
            <a:ext cx="329184" cy="0"/>
          </a:xfrm>
          <a:prstGeom prst="line">
            <a:avLst/>
          </a:prstGeom>
          <a:noFill/>
          <a:ln w="22225">
            <a:solidFill>
              <a:srgbClr val="00897B"/>
            </a:solidFill>
            <a:prstDash val="solid"/>
            <a:tailEnd type="triangle"/>
          </a:ln>
        </p:spPr>
      </p:sp>
      <p:sp>
        <p:nvSpPr>
          <p:cNvPr id="15" name="Sync box 2"/>
          <p:cNvSpPr/>
          <p:nvPr/>
        </p:nvSpPr>
        <p:spPr>
          <a:xfrm>
            <a:off x="3566160" y="2075688"/>
            <a:ext cx="2011680" cy="685800"/>
          </a:xfrm>
          <a:prstGeom prst="roundRect">
            <a:avLst>
              <a:gd name="adj" fmla="val 16000"/>
            </a:avLst>
          </a:prstGeom>
          <a:solidFill>
            <a:schemeClr val="bg2"/>
          </a:solidFill>
          <a:ln w="6350">
            <a:solidFill>
              <a:schemeClr val="bg2"/>
            </a:solidFill>
            <a:prstDash val="solid"/>
          </a:ln>
          <a:effectLst>
            <a:outerShdw sx="100000" sy="100000" kx="0" ky="0" algn="bl" rotWithShape="0" blurRad="76200" dist="25400" dir="5400000">
              <a:srgbClr val="000000">
                <a:alpha val="12000"/>
              </a:srgbClr>
            </a:outerShdw>
          </a:effectLst>
        </p:spPr>
      </p:sp>
      <p:sp>
        <p:nvSpPr>
          <p:cNvPr id="16" name="Text 14"/>
          <p:cNvSpPr txBox="1"/>
          <p:nvPr/>
        </p:nvSpPr>
        <p:spPr>
          <a:xfrm>
            <a:off x="3566160" y="2075688"/>
            <a:ext cx="2011680" cy="685800"/>
          </a:xfrm>
          <a:prstGeom prst="rect">
            <a:avLst/>
          </a:prstGeom>
          <a:noFill/>
          <a:ln/>
        </p:spPr>
        <p:txBody>
          <a:bodyPr wrap="square" lIns="0" tIns="0" rIns="0" bIns="0" rtlCol="0" anchor="ctr"/>
          <a:lstStyle/>
          <a:p>
            <a:pPr algn="ctr" indent="0" marL="0">
              <a:buNone/>
            </a:pPr>
            <a:r>
              <a:rPr lang="en-US" sz="1400" b="1" dirty="0">
                <a:solidFill>
                  <a:schemeClr val="tx1"/>
                </a:solidFill>
              </a:rPr>
              <a:t>Shared file</a:t>
            </a:r>
            <a:endParaRPr lang="en-US" sz="1400" dirty="0"/>
          </a:p>
        </p:txBody>
      </p:sp>
      <p:sp>
        <p:nvSpPr>
          <p:cNvPr id="17" name="Arrow phone to sync 2"/>
          <p:cNvSpPr/>
          <p:nvPr/>
        </p:nvSpPr>
        <p:spPr>
          <a:xfrm>
            <a:off x="3218688" y="2418588"/>
            <a:ext cx="329184" cy="0"/>
          </a:xfrm>
          <a:prstGeom prst="line">
            <a:avLst/>
          </a:prstGeom>
          <a:noFill/>
          <a:ln w="22225">
            <a:solidFill>
              <a:srgbClr val="00897B"/>
            </a:solidFill>
            <a:prstDash val="solid"/>
            <a:tailEnd type="triangle"/>
          </a:ln>
        </p:spPr>
      </p:sp>
      <p:sp>
        <p:nvSpPr>
          <p:cNvPr id="18" name="Sync box 3"/>
          <p:cNvSpPr/>
          <p:nvPr/>
        </p:nvSpPr>
        <p:spPr>
          <a:xfrm>
            <a:off x="3566160" y="2871216"/>
            <a:ext cx="2011680" cy="685800"/>
          </a:xfrm>
          <a:prstGeom prst="roundRect">
            <a:avLst>
              <a:gd name="adj" fmla="val 16000"/>
            </a:avLst>
          </a:prstGeom>
          <a:solidFill>
            <a:schemeClr val="bg2"/>
          </a:solidFill>
          <a:ln w="6350">
            <a:solidFill>
              <a:schemeClr val="bg2"/>
            </a:solidFill>
            <a:prstDash val="solid"/>
          </a:ln>
          <a:effectLst>
            <a:outerShdw sx="100000" sy="100000" kx="0" ky="0" algn="bl" rotWithShape="0" blurRad="76200" dist="25400" dir="5400000">
              <a:srgbClr val="000000">
                <a:alpha val="12000"/>
              </a:srgbClr>
            </a:outerShdw>
          </a:effectLst>
        </p:spPr>
      </p:sp>
      <p:sp>
        <p:nvSpPr>
          <p:cNvPr id="19" name="Text 17"/>
          <p:cNvSpPr txBox="1"/>
          <p:nvPr/>
        </p:nvSpPr>
        <p:spPr>
          <a:xfrm>
            <a:off x="3566160" y="2871216"/>
            <a:ext cx="2011680" cy="685800"/>
          </a:xfrm>
          <a:prstGeom prst="rect">
            <a:avLst/>
          </a:prstGeom>
          <a:noFill/>
          <a:ln/>
        </p:spPr>
        <p:txBody>
          <a:bodyPr wrap="square" lIns="0" tIns="0" rIns="0" bIns="0" rtlCol="0" anchor="ctr"/>
          <a:lstStyle/>
          <a:p>
            <a:pPr algn="ctr" indent="0" marL="0">
              <a:buNone/>
            </a:pPr>
            <a:r>
              <a:rPr lang="en-US" sz="1400" b="1" dirty="0">
                <a:solidFill>
                  <a:schemeClr val="tx1"/>
                </a:solidFill>
              </a:rPr>
              <a:t>Cloud backup</a:t>
            </a:r>
            <a:endParaRPr lang="en-US" sz="1400" dirty="0"/>
          </a:p>
        </p:txBody>
      </p:sp>
      <p:sp>
        <p:nvSpPr>
          <p:cNvPr id="20" name="Arrow phone to sync 3"/>
          <p:cNvSpPr/>
          <p:nvPr/>
        </p:nvSpPr>
        <p:spPr>
          <a:xfrm>
            <a:off x="3218688" y="3214116"/>
            <a:ext cx="329184" cy="0"/>
          </a:xfrm>
          <a:prstGeom prst="line">
            <a:avLst/>
          </a:prstGeom>
          <a:noFill/>
          <a:ln w="22225">
            <a:solidFill>
              <a:srgbClr val="00897B"/>
            </a:solidFill>
            <a:prstDash val="solid"/>
            <a:tailEnd type="triangle"/>
          </a:ln>
        </p:spPr>
      </p:sp>
      <p:sp>
        <p:nvSpPr>
          <p:cNvPr id="21" name="Cloud box 1"/>
          <p:cNvSpPr/>
          <p:nvPr/>
        </p:nvSpPr>
        <p:spPr>
          <a:xfrm>
            <a:off x="5943600" y="2075688"/>
            <a:ext cx="2743200" cy="685800"/>
          </a:xfrm>
          <a:prstGeom prst="roundRect">
            <a:avLst>
              <a:gd name="adj" fmla="val 16000"/>
            </a:avLst>
          </a:prstGeom>
          <a:solidFill>
            <a:schemeClr val="bg2"/>
          </a:solidFill>
          <a:ln w="6350">
            <a:solidFill>
              <a:schemeClr val="bg2"/>
            </a:solidFill>
            <a:prstDash val="solid"/>
          </a:ln>
          <a:effectLst>
            <a:outerShdw sx="100000" sy="100000" kx="0" ky="0" algn="bl" rotWithShape="0" blurRad="76200" dist="25400" dir="5400000">
              <a:srgbClr val="000000">
                <a:alpha val="12000"/>
              </a:srgbClr>
            </a:outerShdw>
          </a:effectLst>
        </p:spPr>
      </p:sp>
      <p:sp>
        <p:nvSpPr>
          <p:cNvPr id="22" name="Text 20"/>
          <p:cNvSpPr txBox="1"/>
          <p:nvPr/>
        </p:nvSpPr>
        <p:spPr>
          <a:xfrm>
            <a:off x="6080760" y="2075688"/>
            <a:ext cx="2468880" cy="685800"/>
          </a:xfrm>
          <a:prstGeom prst="rect">
            <a:avLst/>
          </a:prstGeom>
          <a:noFill/>
          <a:ln/>
        </p:spPr>
        <p:txBody>
          <a:bodyPr wrap="square" lIns="0" tIns="0" rIns="0" bIns="0" rtlCol="0" anchor="ctr"/>
          <a:lstStyle/>
          <a:p>
            <a:pPr indent="0" marL="0">
              <a:buNone/>
            </a:pPr>
            <a:r>
              <a:rPr lang="en-US" sz="1400" b="1" dirty="0">
                <a:solidFill>
                  <a:schemeClr val="tx1"/>
                </a:solidFill>
              </a:rPr>
              <a:t>Firebase Auth: login</a:t>
            </a:r>
            <a:endParaRPr lang="en-US" sz="1400" dirty="0"/>
          </a:p>
        </p:txBody>
      </p:sp>
      <p:sp>
        <p:nvSpPr>
          <p:cNvPr id="23" name="Cloud box 2"/>
          <p:cNvSpPr/>
          <p:nvPr/>
        </p:nvSpPr>
        <p:spPr>
          <a:xfrm>
            <a:off x="5943600" y="2871216"/>
            <a:ext cx="2743200" cy="685800"/>
          </a:xfrm>
          <a:prstGeom prst="roundRect">
            <a:avLst>
              <a:gd name="adj" fmla="val 16000"/>
            </a:avLst>
          </a:prstGeom>
          <a:solidFill>
            <a:schemeClr val="bg2"/>
          </a:solidFill>
          <a:ln w="6350">
            <a:solidFill>
              <a:schemeClr val="bg2"/>
            </a:solidFill>
            <a:prstDash val="solid"/>
          </a:ln>
          <a:effectLst>
            <a:outerShdw sx="100000" sy="100000" kx="0" ky="0" algn="bl" rotWithShape="0" blurRad="76200" dist="25400" dir="5400000">
              <a:srgbClr val="000000">
                <a:alpha val="12000"/>
              </a:srgbClr>
            </a:outerShdw>
          </a:effectLst>
        </p:spPr>
      </p:sp>
      <p:sp>
        <p:nvSpPr>
          <p:cNvPr id="24" name="Text 22"/>
          <p:cNvSpPr txBox="1"/>
          <p:nvPr/>
        </p:nvSpPr>
        <p:spPr>
          <a:xfrm>
            <a:off x="6080760" y="2871216"/>
            <a:ext cx="2468880" cy="685800"/>
          </a:xfrm>
          <a:prstGeom prst="rect">
            <a:avLst/>
          </a:prstGeom>
          <a:noFill/>
          <a:ln/>
        </p:spPr>
        <p:txBody>
          <a:bodyPr wrap="square" lIns="0" tIns="0" rIns="0" bIns="0" rtlCol="0" anchor="ctr"/>
          <a:lstStyle/>
          <a:p>
            <a:pPr indent="0" marL="0">
              <a:buNone/>
            </a:pPr>
            <a:r>
              <a:rPr lang="en-US" sz="1400" b="1" dirty="0">
                <a:solidFill>
                  <a:schemeClr val="tx1"/>
                </a:solidFill>
              </a:rPr>
              <a:t>Firestore: backup and standings</a:t>
            </a:r>
            <a:endParaRPr lang="en-US" sz="1400" dirty="0"/>
          </a:p>
        </p:txBody>
      </p:sp>
      <p:sp>
        <p:nvSpPr>
          <p:cNvPr id="25" name="Arrow sync to cloud"/>
          <p:cNvSpPr/>
          <p:nvPr/>
        </p:nvSpPr>
        <p:spPr>
          <a:xfrm>
            <a:off x="5596128" y="3214116"/>
            <a:ext cx="329184" cy="0"/>
          </a:xfrm>
          <a:prstGeom prst="line">
            <a:avLst/>
          </a:prstGeom>
          <a:noFill/>
          <a:ln w="22225">
            <a:solidFill>
              <a:srgbClr val="00897B"/>
            </a:solidFill>
            <a:prstDash val="solid"/>
            <a:tailEnd type="triangle"/>
          </a:ln>
        </p:spPr>
      </p:sp>
      <p:sp>
        <p:nvSpPr>
          <p:cNvPr id="26" name="Flutter box"/>
          <p:cNvSpPr/>
          <p:nvPr/>
        </p:nvSpPr>
        <p:spPr>
          <a:xfrm>
            <a:off x="5943600" y="3931920"/>
            <a:ext cx="2743200" cy="685800"/>
          </a:xfrm>
          <a:prstGeom prst="roundRect">
            <a:avLst>
              <a:gd name="adj" fmla="val 16000"/>
            </a:avLst>
          </a:prstGeom>
          <a:solidFill>
            <a:schemeClr val="accent2"/>
          </a:solidFill>
          <a:ln w="6350">
            <a:solidFill>
              <a:schemeClr val="accent2"/>
            </a:solidFill>
            <a:prstDash val="solid"/>
          </a:ln>
          <a:effectLst>
            <a:outerShdw sx="100000" sy="100000" kx="0" ky="0" algn="bl" rotWithShape="0" blurRad="76200" dist="25400" dir="5400000">
              <a:srgbClr val="000000">
                <a:alpha val="12000"/>
              </a:srgbClr>
            </a:outerShdw>
          </a:effectLst>
        </p:spPr>
      </p:sp>
      <p:sp>
        <p:nvSpPr>
          <p:cNvPr id="27" name="Text 25"/>
          <p:cNvSpPr txBox="1"/>
          <p:nvPr/>
        </p:nvSpPr>
        <p:spPr>
          <a:xfrm>
            <a:off x="5943600" y="3931920"/>
            <a:ext cx="2743200" cy="685800"/>
          </a:xfrm>
          <a:prstGeom prst="rect">
            <a:avLst/>
          </a:prstGeom>
          <a:noFill/>
          <a:ln/>
        </p:spPr>
        <p:txBody>
          <a:bodyPr wrap="square" lIns="0" tIns="0" rIns="0" bIns="0" rtlCol="0" anchor="ctr"/>
          <a:lstStyle/>
          <a:p>
            <a:pPr algn="ctr" indent="0" marL="0">
              <a:buNone/>
            </a:pPr>
            <a:r>
              <a:rPr lang="en-US" sz="1400" b="1" dirty="0">
                <a:solidFill>
                  <a:schemeClr val="bg1"/>
                </a:solidFill>
              </a:rPr>
              <a:t>Flutter web dashboard</a:t>
            </a:r>
            <a:endParaRPr lang="en-US" sz="1400" dirty="0"/>
          </a:p>
        </p:txBody>
      </p:sp>
      <p:sp>
        <p:nvSpPr>
          <p:cNvPr id="28" name="Arrow cloud to dashboard"/>
          <p:cNvSpPr/>
          <p:nvPr/>
        </p:nvSpPr>
        <p:spPr>
          <a:xfrm>
            <a:off x="7315200" y="3566160"/>
            <a:ext cx="0" cy="347472"/>
          </a:xfrm>
          <a:prstGeom prst="line">
            <a:avLst/>
          </a:prstGeom>
          <a:noFill/>
          <a:ln w="22225">
            <a:solidFill>
              <a:srgbClr val="00897B"/>
            </a:solidFill>
            <a:prstDash val="solid"/>
            <a:tailEnd type="triangle"/>
          </a:ln>
        </p:spPr>
      </p:sp>
      <p:sp>
        <p:nvSpPr>
          <p:cNvPr id="29" name="Text 27"/>
          <p:cNvSpPr txBox="1"/>
          <p:nvPr/>
        </p:nvSpPr>
        <p:spPr>
          <a:xfrm>
            <a:off x="457200" y="3931920"/>
            <a:ext cx="5120640" cy="685800"/>
          </a:xfrm>
          <a:prstGeom prst="rect">
            <a:avLst/>
          </a:prstGeom>
          <a:noFill/>
          <a:ln/>
        </p:spPr>
        <p:txBody>
          <a:bodyPr wrap="square" lIns="0" tIns="0" rIns="0" bIns="0" rtlCol="0" anchor="ctr"/>
          <a:lstStyle/>
          <a:p>
            <a:pPr indent="0" marL="0">
              <a:buNone/>
            </a:pPr>
            <a:r>
              <a:rPr lang="en-US" sz="1400" i="1" dirty="0">
                <a:solidFill>
                  <a:schemeClr val="tx1"/>
                </a:solidFill>
              </a:rPr>
              <a:t>The change log is the single source of truth: the schedule is always a replay of it.</a:t>
            </a:r>
            <a:endParaRPr lang="en-US" sz="1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algn="l" indent="0" marL="0">
              <a:buNone/>
            </a:pPr>
            <a:r>
              <a:rPr lang="en-US" sz="3400" b="1" dirty="0">
                <a:solidFill>
                  <a:schemeClr val="tx1"/>
                </a:solidFill>
              </a:rPr>
              <a:t>Constraint-based scheduler</a:t>
            </a:r>
            <a:endParaRPr lang="en-US" sz="3400" dirty="0"/>
          </a:p>
        </p:txBody>
      </p:sp>
      <p:sp>
        <p:nvSpPr>
          <p:cNvPr id="3" name="Hard rules card"/>
          <p:cNvSpPr/>
          <p:nvPr/>
        </p:nvSpPr>
        <p:spPr>
          <a:xfrm>
            <a:off x="457200" y="1234440"/>
            <a:ext cx="4023360" cy="2468880"/>
          </a:xfrm>
          <a:prstGeom prst="roundRect">
            <a:avLst>
              <a:gd name="adj" fmla="val 4444"/>
            </a:avLst>
          </a:prstGeom>
          <a:solidFill>
            <a:schemeClr val="bg2"/>
          </a:solidFill>
          <a:ln w="6350">
            <a:solidFill>
              <a:schemeClr val="bg2"/>
            </a:solidFill>
            <a:prstDash val="solid"/>
          </a:ln>
          <a:effectLst>
            <a:outerShdw sx="100000" sy="100000" kx="0" ky="0" algn="bl" rotWithShape="0" blurRad="76200" dist="25400" dir="5400000">
              <a:srgbClr val="000000">
                <a:alpha val="12000"/>
              </a:srgbClr>
            </a:outerShdw>
          </a:effectLst>
        </p:spPr>
      </p:sp>
      <p:sp>
        <p:nvSpPr>
          <p:cNvPr id="4" name="Text 2"/>
          <p:cNvSpPr txBox="1"/>
          <p:nvPr/>
        </p:nvSpPr>
        <p:spPr>
          <a:xfrm>
            <a:off x="685800" y="1417320"/>
            <a:ext cx="3566160" cy="320040"/>
          </a:xfrm>
          <a:prstGeom prst="rect">
            <a:avLst/>
          </a:prstGeom>
          <a:noFill/>
          <a:ln/>
        </p:spPr>
        <p:txBody>
          <a:bodyPr wrap="square" lIns="0" tIns="0" rIns="0" bIns="0" rtlCol="0" anchor="t"/>
          <a:lstStyle/>
          <a:p>
            <a:pPr indent="0" marL="0">
              <a:buNone/>
            </a:pPr>
            <a:r>
              <a:rPr lang="en-US" sz="1800" b="1" dirty="0">
                <a:solidFill>
                  <a:schemeClr val="accent1"/>
                </a:solidFill>
              </a:rPr>
              <a:t>Hard rules: never broken</a:t>
            </a:r>
            <a:endParaRPr lang="en-US" sz="1800" dirty="0"/>
          </a:p>
        </p:txBody>
      </p:sp>
      <p:sp>
        <p:nvSpPr>
          <p:cNvPr id="5" name="Text 3"/>
          <p:cNvSpPr txBox="1"/>
          <p:nvPr/>
        </p:nvSpPr>
        <p:spPr>
          <a:xfrm>
            <a:off x="685800" y="1874520"/>
            <a:ext cx="3566160" cy="173736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chemeClr val="tx1"/>
                </a:solidFill>
              </a:rPr>
              <a:t>No venue, referee, team or player double-booked</a:t>
            </a:r>
            <a:endParaRPr lang="en-US" sz="1400" dirty="0"/>
          </a:p>
          <a:p>
            <a:pPr marL="203200" indent="-203200">
              <a:spcAft>
                <a:spcPts val="600"/>
              </a:spcAft>
              <a:buSzPct val="100000"/>
              <a:buChar char="•"/>
            </a:pPr>
            <a:r>
              <a:rPr lang="en-US" sz="1400" dirty="0">
                <a:solidFill>
                  <a:schemeClr val="tx1"/>
                </a:solidFill>
              </a:rPr>
              <a:t>Minimum rest and venue opening hours respected</a:t>
            </a:r>
            <a:endParaRPr lang="en-US" sz="1400" dirty="0"/>
          </a:p>
          <a:p>
            <a:pPr marL="203200" indent="-203200">
              <a:spcAft>
                <a:spcPts val="600"/>
              </a:spcAft>
              <a:buSzPct val="100000"/>
              <a:buChar char="•"/>
            </a:pPr>
            <a:r>
              <a:rPr lang="en-US" sz="1400" dirty="0">
                <a:solidFill>
                  <a:schemeClr val="tx1"/>
                </a:solidFill>
              </a:rPr>
              <a:t>A referee never officiates their own team</a:t>
            </a:r>
            <a:endParaRPr lang="en-US" sz="1400" dirty="0"/>
          </a:p>
        </p:txBody>
      </p:sp>
      <p:sp>
        <p:nvSpPr>
          <p:cNvPr id="6" name="Soft goals card"/>
          <p:cNvSpPr/>
          <p:nvPr/>
        </p:nvSpPr>
        <p:spPr>
          <a:xfrm>
            <a:off x="4663440" y="1234440"/>
            <a:ext cx="4023360" cy="2468880"/>
          </a:xfrm>
          <a:prstGeom prst="roundRect">
            <a:avLst>
              <a:gd name="adj" fmla="val 4444"/>
            </a:avLst>
          </a:prstGeom>
          <a:solidFill>
            <a:schemeClr val="bg2"/>
          </a:solidFill>
          <a:ln w="6350">
            <a:solidFill>
              <a:schemeClr val="bg2"/>
            </a:solidFill>
            <a:prstDash val="solid"/>
          </a:ln>
          <a:effectLst>
            <a:outerShdw sx="100000" sy="100000" kx="0" ky="0" algn="bl" rotWithShape="0" blurRad="76200" dist="25400" dir="5400000">
              <a:srgbClr val="000000">
                <a:alpha val="12000"/>
              </a:srgbClr>
            </a:outerShdw>
          </a:effectLst>
        </p:spPr>
      </p:sp>
      <p:sp>
        <p:nvSpPr>
          <p:cNvPr id="7" name="Text 5"/>
          <p:cNvSpPr txBox="1"/>
          <p:nvPr/>
        </p:nvSpPr>
        <p:spPr>
          <a:xfrm>
            <a:off x="4892040" y="1417320"/>
            <a:ext cx="3566160" cy="320040"/>
          </a:xfrm>
          <a:prstGeom prst="rect">
            <a:avLst/>
          </a:prstGeom>
          <a:noFill/>
          <a:ln/>
        </p:spPr>
        <p:txBody>
          <a:bodyPr wrap="square" lIns="0" tIns="0" rIns="0" bIns="0" rtlCol="0" anchor="t"/>
          <a:lstStyle/>
          <a:p>
            <a:pPr indent="0" marL="0">
              <a:buNone/>
            </a:pPr>
            <a:r>
              <a:rPr lang="en-US" sz="1800" b="1" dirty="0">
                <a:solidFill>
                  <a:schemeClr val="accent2"/>
                </a:solidFill>
              </a:rPr>
              <a:t>Soft goals: optimised</a:t>
            </a:r>
            <a:endParaRPr lang="en-US" sz="1800" dirty="0"/>
          </a:p>
        </p:txBody>
      </p:sp>
      <p:sp>
        <p:nvSpPr>
          <p:cNvPr id="8" name="Text 6"/>
          <p:cNvSpPr txBox="1"/>
          <p:nvPr/>
        </p:nvSpPr>
        <p:spPr>
          <a:xfrm>
            <a:off x="4892040" y="1874520"/>
            <a:ext cx="3566160" cy="173736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chemeClr val="tx1"/>
                </a:solidFill>
              </a:rPr>
              <a:t>Short waiting gaps between a team's matches</a:t>
            </a:r>
            <a:endParaRPr lang="en-US" sz="1400" dirty="0"/>
          </a:p>
          <a:p>
            <a:pPr marL="203200" indent="-203200">
              <a:spcAft>
                <a:spcPts val="600"/>
              </a:spcAft>
              <a:buSzPct val="100000"/>
              <a:buChar char="•"/>
            </a:pPr>
            <a:r>
              <a:rPr lang="en-US" sz="1400" dirty="0">
                <a:solidFill>
                  <a:schemeClr val="tx1"/>
                </a:solidFill>
              </a:rPr>
              <a:t>Balanced referee workload</a:t>
            </a:r>
            <a:endParaRPr lang="en-US" sz="1400" dirty="0"/>
          </a:p>
          <a:p>
            <a:pPr marL="203200" indent="-203200">
              <a:spcAft>
                <a:spcPts val="600"/>
              </a:spcAft>
              <a:buSzPct val="100000"/>
              <a:buChar char="•"/>
            </a:pPr>
            <a:r>
              <a:rPr lang="en-US" sz="1400" dirty="0">
                <a:solidFill>
                  <a:schemeClr val="tx1"/>
                </a:solidFill>
              </a:rPr>
              <a:t>No outdoor matches in the midday heat</a:t>
            </a:r>
            <a:endParaRPr lang="en-US" sz="1400" dirty="0"/>
          </a:p>
          <a:p>
            <a:pPr marL="203200" indent="-203200">
              <a:spcAft>
                <a:spcPts val="600"/>
              </a:spcAft>
              <a:buSzPct val="100000"/>
              <a:buChar char="•"/>
            </a:pPr>
            <a:r>
              <a:rPr lang="en-US" sz="1400" dirty="0">
                <a:solidFill>
                  <a:schemeClr val="tx1"/>
                </a:solidFill>
              </a:rPr>
              <a:t>Delay-resistant timing (our addition)</a:t>
            </a:r>
            <a:endParaRPr lang="en-US" sz="1400" dirty="0"/>
          </a:p>
        </p:txBody>
      </p:sp>
      <p:sp>
        <p:nvSpPr>
          <p:cNvPr id="9" name="Pipeline step 1"/>
          <p:cNvSpPr/>
          <p:nvPr/>
        </p:nvSpPr>
        <p:spPr>
          <a:xfrm>
            <a:off x="457200" y="3977640"/>
            <a:ext cx="2468880" cy="594360"/>
          </a:xfrm>
          <a:prstGeom prst="roundRect">
            <a:avLst>
              <a:gd name="adj" fmla="val 18462"/>
            </a:avLst>
          </a:prstGeom>
          <a:solidFill>
            <a:srgbClr val="3949AB"/>
          </a:solidFill>
          <a:ln w="6350">
            <a:solidFill>
              <a:srgbClr val="3949AB"/>
            </a:solidFill>
            <a:prstDash val="solid"/>
          </a:ln>
        </p:spPr>
      </p:sp>
      <p:sp>
        <p:nvSpPr>
          <p:cNvPr id="10" name="Text 8"/>
          <p:cNvSpPr txBox="1"/>
          <p:nvPr/>
        </p:nvSpPr>
        <p:spPr>
          <a:xfrm>
            <a:off x="457200" y="3977640"/>
            <a:ext cx="2468880" cy="594360"/>
          </a:xfrm>
          <a:prstGeom prst="rect">
            <a:avLst/>
          </a:prstGeom>
          <a:noFill/>
          <a:ln/>
        </p:spPr>
        <p:txBody>
          <a:bodyPr wrap="square" lIns="635" tIns="635" rIns="635" bIns="635" rtlCol="0" anchor="ctr"/>
          <a:lstStyle/>
          <a:p>
            <a:pPr algn="ctr" indent="0" marL="0">
              <a:buNone/>
            </a:pPr>
            <a:r>
              <a:rPr lang="en-US" sz="1400" b="1" dirty="0">
                <a:solidFill>
                  <a:schemeClr val="bg1"/>
                </a:solidFill>
              </a:rPr>
              <a:t>Greedy baseline</a:t>
            </a:r>
            <a:endParaRPr lang="en-US" sz="1400" dirty="0"/>
          </a:p>
        </p:txBody>
      </p:sp>
      <p:sp>
        <p:nvSpPr>
          <p:cNvPr id="11" name="Pipeline arrow 1"/>
          <p:cNvSpPr/>
          <p:nvPr/>
        </p:nvSpPr>
        <p:spPr>
          <a:xfrm>
            <a:off x="2944368" y="4274820"/>
            <a:ext cx="365760" cy="0"/>
          </a:xfrm>
          <a:prstGeom prst="line">
            <a:avLst/>
          </a:prstGeom>
          <a:noFill/>
          <a:ln w="22225">
            <a:solidFill>
              <a:srgbClr val="1A1446"/>
            </a:solidFill>
            <a:prstDash val="solid"/>
            <a:tailEnd type="triangle"/>
          </a:ln>
        </p:spPr>
      </p:sp>
      <p:sp>
        <p:nvSpPr>
          <p:cNvPr id="12" name="Pipeline step 2"/>
          <p:cNvSpPr/>
          <p:nvPr/>
        </p:nvSpPr>
        <p:spPr>
          <a:xfrm>
            <a:off x="3337560" y="3977640"/>
            <a:ext cx="2468880" cy="594360"/>
          </a:xfrm>
          <a:prstGeom prst="roundRect">
            <a:avLst>
              <a:gd name="adj" fmla="val 18462"/>
            </a:avLst>
          </a:prstGeom>
          <a:solidFill>
            <a:srgbClr val="00897B"/>
          </a:solidFill>
          <a:ln w="6350">
            <a:solidFill>
              <a:srgbClr val="00897B"/>
            </a:solidFill>
            <a:prstDash val="solid"/>
          </a:ln>
        </p:spPr>
      </p:sp>
      <p:sp>
        <p:nvSpPr>
          <p:cNvPr id="13" name="Text 11"/>
          <p:cNvSpPr txBox="1"/>
          <p:nvPr/>
        </p:nvSpPr>
        <p:spPr>
          <a:xfrm>
            <a:off x="3337560" y="3977640"/>
            <a:ext cx="2468880" cy="594360"/>
          </a:xfrm>
          <a:prstGeom prst="rect">
            <a:avLst/>
          </a:prstGeom>
          <a:noFill/>
          <a:ln/>
        </p:spPr>
        <p:txBody>
          <a:bodyPr wrap="square" lIns="635" tIns="635" rIns="635" bIns="635" rtlCol="0" anchor="ctr"/>
          <a:lstStyle/>
          <a:p>
            <a:pPr algn="ctr" indent="0" marL="0">
              <a:buNone/>
            </a:pPr>
            <a:r>
              <a:rPr lang="en-US" sz="1400" b="1" dirty="0">
                <a:solidFill>
                  <a:schemeClr val="bg1"/>
                </a:solidFill>
              </a:rPr>
              <a:t>Optimiser improves it</a:t>
            </a:r>
            <a:endParaRPr lang="en-US" sz="1400" dirty="0"/>
          </a:p>
        </p:txBody>
      </p:sp>
      <p:sp>
        <p:nvSpPr>
          <p:cNvPr id="14" name="Pipeline arrow 2"/>
          <p:cNvSpPr/>
          <p:nvPr/>
        </p:nvSpPr>
        <p:spPr>
          <a:xfrm>
            <a:off x="5824728" y="4274820"/>
            <a:ext cx="365760" cy="0"/>
          </a:xfrm>
          <a:prstGeom prst="line">
            <a:avLst/>
          </a:prstGeom>
          <a:noFill/>
          <a:ln w="22225">
            <a:solidFill>
              <a:srgbClr val="1A1446"/>
            </a:solidFill>
            <a:prstDash val="solid"/>
            <a:tailEnd type="triangle"/>
          </a:ln>
        </p:spPr>
      </p:sp>
      <p:sp>
        <p:nvSpPr>
          <p:cNvPr id="15" name="Pipeline step 3"/>
          <p:cNvSpPr/>
          <p:nvPr/>
        </p:nvSpPr>
        <p:spPr>
          <a:xfrm>
            <a:off x="6217920" y="3977640"/>
            <a:ext cx="2468880" cy="594360"/>
          </a:xfrm>
          <a:prstGeom prst="roundRect">
            <a:avLst>
              <a:gd name="adj" fmla="val 18462"/>
            </a:avLst>
          </a:prstGeom>
          <a:solidFill>
            <a:srgbClr val="3949AB"/>
          </a:solidFill>
          <a:ln w="6350">
            <a:solidFill>
              <a:srgbClr val="3949AB"/>
            </a:solidFill>
            <a:prstDash val="solid"/>
          </a:ln>
        </p:spPr>
      </p:sp>
      <p:sp>
        <p:nvSpPr>
          <p:cNvPr id="16" name="Text 14"/>
          <p:cNvSpPr txBox="1"/>
          <p:nvPr/>
        </p:nvSpPr>
        <p:spPr>
          <a:xfrm>
            <a:off x="6217920" y="3977640"/>
            <a:ext cx="2468880" cy="594360"/>
          </a:xfrm>
          <a:prstGeom prst="rect">
            <a:avLst/>
          </a:prstGeom>
          <a:noFill/>
          <a:ln/>
        </p:spPr>
        <p:txBody>
          <a:bodyPr wrap="square" lIns="635" tIns="635" rIns="635" bIns="635" rtlCol="0" anchor="ctr"/>
          <a:lstStyle/>
          <a:p>
            <a:pPr algn="ctr" indent="0" marL="0">
              <a:buNone/>
            </a:pPr>
            <a:r>
              <a:rPr lang="en-US" sz="1400" b="1" dirty="0">
                <a:solidFill>
                  <a:schemeClr val="bg1"/>
                </a:solidFill>
              </a:rPr>
              <a:t>If impossible, explains why</a:t>
            </a:r>
            <a:endParaRPr lang="en-US" sz="1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algn="l" indent="0" marL="0">
              <a:buNone/>
            </a:pPr>
            <a:r>
              <a:rPr lang="en-US" sz="3400" b="1" dirty="0">
                <a:solidFill>
                  <a:schemeClr val="tx1"/>
                </a:solidFill>
              </a:rPr>
              <a:t>Offline-first multi-admin sync</a:t>
            </a:r>
            <a:endParaRPr lang="en-US" sz="3400" dirty="0"/>
          </a:p>
        </p:txBody>
      </p:sp>
      <p:sp>
        <p:nvSpPr>
          <p:cNvPr id="3" name="Step number 1"/>
          <p:cNvSpPr/>
          <p:nvPr/>
        </p:nvSpPr>
        <p:spPr>
          <a:xfrm>
            <a:off x="457200" y="1280160"/>
            <a:ext cx="457200" cy="457200"/>
          </a:xfrm>
          <a:prstGeom prst="ellipse">
            <a:avLst/>
          </a:prstGeom>
          <a:solidFill>
            <a:srgbClr val="3949AB"/>
          </a:solidFill>
          <a:ln w="6350">
            <a:solidFill>
              <a:srgbClr val="3949AB"/>
            </a:solidFill>
            <a:prstDash val="solid"/>
          </a:ln>
        </p:spPr>
      </p:sp>
      <p:sp>
        <p:nvSpPr>
          <p:cNvPr id="4" name="Text 2"/>
          <p:cNvSpPr txBox="1"/>
          <p:nvPr/>
        </p:nvSpPr>
        <p:spPr>
          <a:xfrm>
            <a:off x="457200" y="12801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 3"/>
          <p:cNvSpPr txBox="1"/>
          <p:nvPr/>
        </p:nvSpPr>
        <p:spPr>
          <a:xfrm>
            <a:off x="1097280" y="1234440"/>
            <a:ext cx="4480560" cy="640080"/>
          </a:xfrm>
          <a:prstGeom prst="rect">
            <a:avLst/>
          </a:prstGeom>
          <a:noFill/>
          <a:ln/>
        </p:spPr>
        <p:txBody>
          <a:bodyPr wrap="square" lIns="0" tIns="0" rIns="0" bIns="0" rtlCol="0" anchor="ctr"/>
          <a:lstStyle/>
          <a:p>
            <a:pPr indent="0" marL="0">
              <a:buNone/>
            </a:pPr>
            <a:r>
              <a:rPr lang="en-US" sz="1400" dirty="0">
                <a:solidFill>
                  <a:schemeClr val="tx1"/>
                </a:solidFill>
              </a:rPr>
              <a:t>Every change is a log entry, stamped with a hybrid logical clock and the device ID</a:t>
            </a:r>
            <a:endParaRPr lang="en-US" sz="1400" dirty="0"/>
          </a:p>
        </p:txBody>
      </p:sp>
      <p:sp>
        <p:nvSpPr>
          <p:cNvPr id="6" name="Step number 2"/>
          <p:cNvSpPr/>
          <p:nvPr/>
        </p:nvSpPr>
        <p:spPr>
          <a:xfrm>
            <a:off x="457200" y="2103120"/>
            <a:ext cx="457200" cy="457200"/>
          </a:xfrm>
          <a:prstGeom prst="ellipse">
            <a:avLst/>
          </a:prstGeom>
          <a:solidFill>
            <a:srgbClr val="3949AB"/>
          </a:solidFill>
          <a:ln w="6350">
            <a:solidFill>
              <a:srgbClr val="3949AB"/>
            </a:solidFill>
            <a:prstDash val="solid"/>
          </a:ln>
        </p:spPr>
      </p:sp>
      <p:sp>
        <p:nvSpPr>
          <p:cNvPr id="7" name="Text 5"/>
          <p:cNvSpPr txBox="1"/>
          <p:nvPr/>
        </p:nvSpPr>
        <p:spPr>
          <a:xfrm>
            <a:off x="457200" y="21031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8" name="Text 6"/>
          <p:cNvSpPr txBox="1"/>
          <p:nvPr/>
        </p:nvSpPr>
        <p:spPr>
          <a:xfrm>
            <a:off x="1097280" y="2057400"/>
            <a:ext cx="4480560" cy="640080"/>
          </a:xfrm>
          <a:prstGeom prst="rect">
            <a:avLst/>
          </a:prstGeom>
          <a:noFill/>
          <a:ln/>
        </p:spPr>
        <p:txBody>
          <a:bodyPr wrap="square" lIns="0" tIns="0" rIns="0" bIns="0" rtlCol="0" anchor="ctr"/>
          <a:lstStyle/>
          <a:p>
            <a:pPr indent="0" marL="0">
              <a:buNone/>
            </a:pPr>
            <a:r>
              <a:rPr lang="en-US" sz="1400" dirty="0">
                <a:solidFill>
                  <a:schemeClr val="tx1"/>
                </a:solidFill>
              </a:rPr>
              <a:t>Phones swap logs; merging is a simple union, so order and repeats do not matter</a:t>
            </a:r>
            <a:endParaRPr lang="en-US" sz="1400" dirty="0"/>
          </a:p>
        </p:txBody>
      </p:sp>
      <p:sp>
        <p:nvSpPr>
          <p:cNvPr id="9" name="Step number 3"/>
          <p:cNvSpPr/>
          <p:nvPr/>
        </p:nvSpPr>
        <p:spPr>
          <a:xfrm>
            <a:off x="457200" y="2926080"/>
            <a:ext cx="457200" cy="457200"/>
          </a:xfrm>
          <a:prstGeom prst="ellipse">
            <a:avLst/>
          </a:prstGeom>
          <a:solidFill>
            <a:srgbClr val="3949AB"/>
          </a:solidFill>
          <a:ln w="6350">
            <a:solidFill>
              <a:srgbClr val="3949AB"/>
            </a:solidFill>
            <a:prstDash val="solid"/>
          </a:ln>
        </p:spPr>
      </p:sp>
      <p:sp>
        <p:nvSpPr>
          <p:cNvPr id="10" name="Text 8"/>
          <p:cNvSpPr txBox="1"/>
          <p:nvPr/>
        </p:nvSpPr>
        <p:spPr>
          <a:xfrm>
            <a:off x="457200" y="29260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1" name="Text 9"/>
          <p:cNvSpPr txBox="1"/>
          <p:nvPr/>
        </p:nvSpPr>
        <p:spPr>
          <a:xfrm>
            <a:off x="1097280" y="2880360"/>
            <a:ext cx="4480560" cy="640080"/>
          </a:xfrm>
          <a:prstGeom prst="rect">
            <a:avLst/>
          </a:prstGeom>
          <a:noFill/>
          <a:ln/>
        </p:spPr>
        <p:txBody>
          <a:bodyPr wrap="square" lIns="0" tIns="0" rIns="0" bIns="0" rtlCol="0" anchor="ctr"/>
          <a:lstStyle/>
          <a:p>
            <a:pPr indent="0" marL="0">
              <a:buNone/>
            </a:pPr>
            <a:r>
              <a:rPr lang="en-US" sz="1400" dirty="0">
                <a:solidFill>
                  <a:schemeClr val="tx1"/>
                </a:solidFill>
              </a:rPr>
              <a:t>Every phone replays the log in the same order and gets the same schedule</a:t>
            </a:r>
            <a:endParaRPr lang="en-US" sz="1400" dirty="0"/>
          </a:p>
        </p:txBody>
      </p:sp>
      <p:sp>
        <p:nvSpPr>
          <p:cNvPr id="12" name="Step number 4"/>
          <p:cNvSpPr/>
          <p:nvPr/>
        </p:nvSpPr>
        <p:spPr>
          <a:xfrm>
            <a:off x="457200" y="3749040"/>
            <a:ext cx="457200" cy="457200"/>
          </a:xfrm>
          <a:prstGeom prst="ellipse">
            <a:avLst/>
          </a:prstGeom>
          <a:solidFill>
            <a:srgbClr val="3949AB"/>
          </a:solidFill>
          <a:ln w="6350">
            <a:solidFill>
              <a:srgbClr val="3949AB"/>
            </a:solidFill>
            <a:prstDash val="solid"/>
          </a:ln>
        </p:spPr>
      </p:sp>
      <p:sp>
        <p:nvSpPr>
          <p:cNvPr id="13" name="Text 11"/>
          <p:cNvSpPr txBox="1"/>
          <p:nvPr/>
        </p:nvSpPr>
        <p:spPr>
          <a:xfrm>
            <a:off x="457200" y="37490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4" name="Text 12"/>
          <p:cNvSpPr txBox="1"/>
          <p:nvPr/>
        </p:nvSpPr>
        <p:spPr>
          <a:xfrm>
            <a:off x="1097280" y="3703320"/>
            <a:ext cx="4480560" cy="640080"/>
          </a:xfrm>
          <a:prstGeom prst="rect">
            <a:avLst/>
          </a:prstGeom>
          <a:noFill/>
          <a:ln/>
        </p:spPr>
        <p:txBody>
          <a:bodyPr wrap="square" lIns="0" tIns="0" rIns="0" bIns="0" rtlCol="0" anchor="ctr"/>
          <a:lstStyle/>
          <a:p>
            <a:pPr indent="0" marL="0">
              <a:buNone/>
            </a:pPr>
            <a:r>
              <a:rPr lang="en-US" sz="1400" dirty="0">
                <a:solidFill>
                  <a:schemeClr val="tx1"/>
                </a:solidFill>
              </a:rPr>
              <a:t>Clash? The earlier entry keeps the slot and the later match is rescheduled automatically</a:t>
            </a:r>
            <a:endParaRPr lang="en-US" sz="1400" dirty="0"/>
          </a:p>
        </p:txBody>
      </p:sp>
      <p:sp>
        <p:nvSpPr>
          <p:cNvPr id="15" name="Proof card"/>
          <p:cNvSpPr/>
          <p:nvPr/>
        </p:nvSpPr>
        <p:spPr>
          <a:xfrm>
            <a:off x="5852160" y="1280160"/>
            <a:ext cx="2834640" cy="3291840"/>
          </a:xfrm>
          <a:prstGeom prst="roundRect">
            <a:avLst>
              <a:gd name="adj" fmla="val 3871"/>
            </a:avLst>
          </a:prstGeom>
          <a:solidFill>
            <a:schemeClr val="tx1"/>
          </a:solidFill>
          <a:ln w="6350">
            <a:solidFill>
              <a:schemeClr val="tx1"/>
            </a:solidFill>
            <a:prstDash val="solid"/>
          </a:ln>
          <a:effectLst>
            <a:outerShdw sx="100000" sy="100000" kx="0" ky="0" algn="bl" rotWithShape="0" blurRad="76200" dist="25400" dir="5400000">
              <a:srgbClr val="000000">
                <a:alpha val="12000"/>
              </a:srgbClr>
            </a:outerShdw>
          </a:effectLst>
        </p:spPr>
      </p:sp>
      <p:sp>
        <p:nvSpPr>
          <p:cNvPr id="16" name="Text 14"/>
          <p:cNvSpPr txBox="1"/>
          <p:nvPr/>
        </p:nvSpPr>
        <p:spPr>
          <a:xfrm>
            <a:off x="6035040" y="1508760"/>
            <a:ext cx="2468880" cy="868680"/>
          </a:xfrm>
          <a:prstGeom prst="rect">
            <a:avLst/>
          </a:prstGeom>
          <a:noFill/>
          <a:ln/>
        </p:spPr>
        <p:txBody>
          <a:bodyPr wrap="square" lIns="0" tIns="0" rIns="0" bIns="0" rtlCol="0" anchor="t"/>
          <a:lstStyle/>
          <a:p>
            <a:pPr indent="0" marL="0">
              <a:buNone/>
            </a:pPr>
            <a:r>
              <a:rPr lang="en-US" sz="5400" b="1" dirty="0">
                <a:solidFill>
                  <a:schemeClr val="bg1"/>
                </a:solidFill>
              </a:rPr>
              <a:t>1,000</a:t>
            </a:r>
            <a:endParaRPr lang="en-US" sz="5400" dirty="0"/>
          </a:p>
        </p:txBody>
      </p:sp>
      <p:sp>
        <p:nvSpPr>
          <p:cNvPr id="17" name="Text 15"/>
          <p:cNvSpPr txBox="1"/>
          <p:nvPr/>
        </p:nvSpPr>
        <p:spPr>
          <a:xfrm>
            <a:off x="6035040" y="2423160"/>
            <a:ext cx="2468880" cy="685800"/>
          </a:xfrm>
          <a:prstGeom prst="rect">
            <a:avLst/>
          </a:prstGeom>
          <a:noFill/>
          <a:ln/>
        </p:spPr>
        <p:txBody>
          <a:bodyPr wrap="square" lIns="0" tIns="0" rIns="0" bIns="0" rtlCol="0" anchor="t"/>
          <a:lstStyle/>
          <a:p>
            <a:pPr indent="0" marL="0">
              <a:buNone/>
            </a:pPr>
            <a:r>
              <a:rPr lang="en-US" sz="1500" dirty="0">
                <a:solidFill>
                  <a:schemeClr val="bg2"/>
                </a:solidFill>
              </a:rPr>
              <a:t>shuffled sync orders gave 1 identical schedule</a:t>
            </a:r>
            <a:endParaRPr lang="en-US" sz="1500" dirty="0"/>
          </a:p>
        </p:txBody>
      </p:sp>
      <p:sp>
        <p:nvSpPr>
          <p:cNvPr id="18" name="Text 16"/>
          <p:cNvSpPr txBox="1"/>
          <p:nvPr/>
        </p:nvSpPr>
        <p:spPr>
          <a:xfrm>
            <a:off x="6035040" y="3383280"/>
            <a:ext cx="2468880" cy="1097280"/>
          </a:xfrm>
          <a:prstGeom prst="rect">
            <a:avLst/>
          </a:prstGeom>
          <a:noFill/>
          <a:ln/>
        </p:spPr>
        <p:txBody>
          <a:bodyPr wrap="square" lIns="0" tIns="0" rIns="0" bIns="0" rtlCol="0" anchor="t"/>
          <a:lstStyle/>
          <a:p>
            <a:pPr indent="0" marL="0">
              <a:buNone/>
            </a:pPr>
            <a:r>
              <a:rPr lang="en-US" sz="1200" i="1" dirty="0">
                <a:solidFill>
                  <a:schemeClr val="bg2"/>
                </a:solidFill>
              </a:rPr>
              <a:t>Why not Firebase offline writes? They are last-write-wins and can silently drop one admin's change.</a:t>
            </a:r>
            <a:endParaRPr lang="en-US" sz="12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algn="l" indent="0" marL="0">
              <a:buNone/>
            </a:pPr>
            <a:r>
              <a:rPr lang="en-US" sz="3400" b="1" dirty="0">
                <a:solidFill>
                  <a:schemeClr val="tx1"/>
                </a:solidFill>
              </a:rPr>
              <a:t>Live delay propagation</a:t>
            </a:r>
            <a:endParaRPr lang="en-US" sz="3400" dirty="0"/>
          </a:p>
        </p:txBody>
      </p:sp>
      <p:sp>
        <p:nvSpPr>
          <p:cNvPr id="3" name="Chain box 1"/>
          <p:cNvSpPr/>
          <p:nvPr/>
        </p:nvSpPr>
        <p:spPr>
          <a:xfrm>
            <a:off x="457200" y="1280160"/>
            <a:ext cx="1783080" cy="960120"/>
          </a:xfrm>
          <a:prstGeom prst="roundRect">
            <a:avLst>
              <a:gd name="adj" fmla="val 11429"/>
            </a:avLst>
          </a:prstGeom>
          <a:solidFill>
            <a:srgbClr val="E64A19"/>
          </a:solidFill>
          <a:ln w="6350">
            <a:solidFill>
              <a:srgbClr val="E64A19"/>
            </a:solidFill>
            <a:prstDash val="solid"/>
          </a:ln>
          <a:effectLst>
            <a:outerShdw sx="100000" sy="100000" kx="0" ky="0" algn="bl" rotWithShape="0" blurRad="76200" dist="25400" dir="5400000">
              <a:srgbClr val="000000">
                <a:alpha val="12000"/>
              </a:srgbClr>
            </a:outerShdw>
          </a:effectLst>
        </p:spPr>
      </p:sp>
      <p:sp>
        <p:nvSpPr>
          <p:cNvPr id="4" name="Text 2"/>
          <p:cNvSpPr txBox="1"/>
          <p:nvPr/>
        </p:nvSpPr>
        <p:spPr>
          <a:xfrm>
            <a:off x="457200" y="1280160"/>
            <a:ext cx="1783080" cy="960120"/>
          </a:xfrm>
          <a:prstGeom prst="rect">
            <a:avLst/>
          </a:prstGeom>
          <a:noFill/>
          <a:ln/>
        </p:spPr>
        <p:txBody>
          <a:bodyPr wrap="square" lIns="1524" tIns="1524" rIns="1524" bIns="1524" rtlCol="0" anchor="ctr"/>
          <a:lstStyle/>
          <a:p>
            <a:pPr algn="ctr" indent="0" marL="0">
              <a:buNone/>
            </a:pPr>
            <a:r>
              <a:rPr lang="en-US" sz="1400" b="1" dirty="0">
                <a:solidFill>
                  <a:schemeClr val="bg1"/>
                </a:solidFill>
              </a:rPr>
              <a:t>Match 5</a:t>
            </a:r>
            <a:endParaRPr lang="en-US" sz="1400" dirty="0"/>
          </a:p>
          <a:p>
            <a:pPr algn="ctr" indent="0" marL="0">
              <a:buNone/>
            </a:pPr>
            <a:r>
              <a:rPr lang="en-US" sz="1400" b="1" dirty="0">
                <a:solidFill>
                  <a:schemeClr val="bg1"/>
                </a:solidFill>
              </a:rPr>
              <a:t>starts 15 min late</a:t>
            </a:r>
            <a:endParaRPr lang="en-US" sz="1400" dirty="0"/>
          </a:p>
        </p:txBody>
      </p:sp>
      <p:sp>
        <p:nvSpPr>
          <p:cNvPr id="5" name="Chain arrow 1"/>
          <p:cNvSpPr/>
          <p:nvPr/>
        </p:nvSpPr>
        <p:spPr>
          <a:xfrm>
            <a:off x="2267712" y="1760220"/>
            <a:ext cx="310896" cy="0"/>
          </a:xfrm>
          <a:prstGeom prst="line">
            <a:avLst/>
          </a:prstGeom>
          <a:noFill/>
          <a:ln w="22225">
            <a:solidFill>
              <a:srgbClr val="1A1446"/>
            </a:solidFill>
            <a:prstDash val="solid"/>
            <a:tailEnd type="triangle"/>
          </a:ln>
        </p:spPr>
      </p:sp>
      <p:sp>
        <p:nvSpPr>
          <p:cNvPr id="6" name="Chain box 2"/>
          <p:cNvSpPr/>
          <p:nvPr/>
        </p:nvSpPr>
        <p:spPr>
          <a:xfrm>
            <a:off x="2606040" y="1280160"/>
            <a:ext cx="1783080" cy="960120"/>
          </a:xfrm>
          <a:prstGeom prst="roundRect">
            <a:avLst>
              <a:gd name="adj" fmla="val 11429"/>
            </a:avLst>
          </a:prstGeom>
          <a:solidFill>
            <a:srgbClr val="3949AB"/>
          </a:solidFill>
          <a:ln w="6350">
            <a:solidFill>
              <a:srgbClr val="3949AB"/>
            </a:solidFill>
            <a:prstDash val="solid"/>
          </a:ln>
          <a:effectLst>
            <a:outerShdw sx="100000" sy="100000" kx="0" ky="0" algn="bl" rotWithShape="0" blurRad="76200" dist="25400" dir="5400000">
              <a:srgbClr val="000000">
                <a:alpha val="12000"/>
              </a:srgbClr>
            </a:outerShdw>
          </a:effectLst>
        </p:spPr>
      </p:sp>
      <p:sp>
        <p:nvSpPr>
          <p:cNvPr id="7" name="Text 5"/>
          <p:cNvSpPr txBox="1"/>
          <p:nvPr/>
        </p:nvSpPr>
        <p:spPr>
          <a:xfrm>
            <a:off x="2606040" y="1280160"/>
            <a:ext cx="1783080" cy="960120"/>
          </a:xfrm>
          <a:prstGeom prst="rect">
            <a:avLst/>
          </a:prstGeom>
          <a:noFill/>
          <a:ln/>
        </p:spPr>
        <p:txBody>
          <a:bodyPr wrap="square" lIns="1524" tIns="1524" rIns="1524" bIns="1524" rtlCol="0" anchor="ctr"/>
          <a:lstStyle/>
          <a:p>
            <a:pPr algn="ctr" indent="0" marL="0">
              <a:buNone/>
            </a:pPr>
            <a:r>
              <a:rPr lang="en-US" sz="1400" b="1" dirty="0">
                <a:solidFill>
                  <a:schemeClr val="bg1"/>
                </a:solidFill>
              </a:rPr>
              <a:t>Next match, same venue</a:t>
            </a:r>
            <a:endParaRPr lang="en-US" sz="1400" dirty="0"/>
          </a:p>
        </p:txBody>
      </p:sp>
      <p:sp>
        <p:nvSpPr>
          <p:cNvPr id="8" name="Chain arrow 2"/>
          <p:cNvSpPr/>
          <p:nvPr/>
        </p:nvSpPr>
        <p:spPr>
          <a:xfrm>
            <a:off x="4416552" y="1760220"/>
            <a:ext cx="310896" cy="0"/>
          </a:xfrm>
          <a:prstGeom prst="line">
            <a:avLst/>
          </a:prstGeom>
          <a:noFill/>
          <a:ln w="22225">
            <a:solidFill>
              <a:srgbClr val="1A1446"/>
            </a:solidFill>
            <a:prstDash val="solid"/>
            <a:tailEnd type="triangle"/>
          </a:ln>
        </p:spPr>
      </p:sp>
      <p:sp>
        <p:nvSpPr>
          <p:cNvPr id="9" name="Chain box 3"/>
          <p:cNvSpPr/>
          <p:nvPr/>
        </p:nvSpPr>
        <p:spPr>
          <a:xfrm>
            <a:off x="4754880" y="1280160"/>
            <a:ext cx="1783080" cy="960120"/>
          </a:xfrm>
          <a:prstGeom prst="roundRect">
            <a:avLst>
              <a:gd name="adj" fmla="val 11429"/>
            </a:avLst>
          </a:prstGeom>
          <a:solidFill>
            <a:srgbClr val="3949AB"/>
          </a:solidFill>
          <a:ln w="6350">
            <a:solidFill>
              <a:srgbClr val="3949AB"/>
            </a:solidFill>
            <a:prstDash val="solid"/>
          </a:ln>
          <a:effectLst>
            <a:outerShdw sx="100000" sy="100000" kx="0" ky="0" algn="bl" rotWithShape="0" blurRad="76200" dist="25400" dir="5400000">
              <a:srgbClr val="000000">
                <a:alpha val="12000"/>
              </a:srgbClr>
            </a:outerShdw>
          </a:effectLst>
        </p:spPr>
      </p:sp>
      <p:sp>
        <p:nvSpPr>
          <p:cNvPr id="10" name="Text 8"/>
          <p:cNvSpPr txBox="1"/>
          <p:nvPr/>
        </p:nvSpPr>
        <p:spPr>
          <a:xfrm>
            <a:off x="4754880" y="1280160"/>
            <a:ext cx="1783080" cy="960120"/>
          </a:xfrm>
          <a:prstGeom prst="rect">
            <a:avLst/>
          </a:prstGeom>
          <a:noFill/>
          <a:ln/>
        </p:spPr>
        <p:txBody>
          <a:bodyPr wrap="square" lIns="1524" tIns="1524" rIns="1524" bIns="1524" rtlCol="0" anchor="ctr"/>
          <a:lstStyle/>
          <a:p>
            <a:pPr algn="ctr" indent="0" marL="0">
              <a:buNone/>
            </a:pPr>
            <a:r>
              <a:rPr lang="en-US" sz="1400" b="1" dirty="0">
                <a:solidFill>
                  <a:schemeClr val="bg1"/>
                </a:solidFill>
              </a:rPr>
              <a:t>Next match, same referee</a:t>
            </a:r>
            <a:endParaRPr lang="en-US" sz="1400" dirty="0"/>
          </a:p>
        </p:txBody>
      </p:sp>
      <p:sp>
        <p:nvSpPr>
          <p:cNvPr id="11" name="Chain arrow 3"/>
          <p:cNvSpPr/>
          <p:nvPr/>
        </p:nvSpPr>
        <p:spPr>
          <a:xfrm>
            <a:off x="6565392" y="1760220"/>
            <a:ext cx="310896" cy="0"/>
          </a:xfrm>
          <a:prstGeom prst="line">
            <a:avLst/>
          </a:prstGeom>
          <a:noFill/>
          <a:ln w="22225">
            <a:solidFill>
              <a:srgbClr val="1A1446"/>
            </a:solidFill>
            <a:prstDash val="solid"/>
            <a:tailEnd type="triangle"/>
          </a:ln>
        </p:spPr>
      </p:sp>
      <p:sp>
        <p:nvSpPr>
          <p:cNvPr id="12" name="Chain box 4"/>
          <p:cNvSpPr/>
          <p:nvPr/>
        </p:nvSpPr>
        <p:spPr>
          <a:xfrm>
            <a:off x="6903720" y="1280160"/>
            <a:ext cx="1783080" cy="960120"/>
          </a:xfrm>
          <a:prstGeom prst="roundRect">
            <a:avLst>
              <a:gd name="adj" fmla="val 11429"/>
            </a:avLst>
          </a:prstGeom>
          <a:solidFill>
            <a:srgbClr val="3949AB"/>
          </a:solidFill>
          <a:ln w="6350">
            <a:solidFill>
              <a:srgbClr val="3949AB"/>
            </a:solidFill>
            <a:prstDash val="solid"/>
          </a:ln>
          <a:effectLst>
            <a:outerShdw sx="100000" sy="100000" kx="0" ky="0" algn="bl" rotWithShape="0" blurRad="76200" dist="25400" dir="5400000">
              <a:srgbClr val="000000">
                <a:alpha val="12000"/>
              </a:srgbClr>
            </a:outerShdw>
          </a:effectLst>
        </p:spPr>
      </p:sp>
      <p:sp>
        <p:nvSpPr>
          <p:cNvPr id="13" name="Text 11"/>
          <p:cNvSpPr txBox="1"/>
          <p:nvPr/>
        </p:nvSpPr>
        <p:spPr>
          <a:xfrm>
            <a:off x="6903720" y="1280160"/>
            <a:ext cx="1783080" cy="960120"/>
          </a:xfrm>
          <a:prstGeom prst="rect">
            <a:avLst/>
          </a:prstGeom>
          <a:noFill/>
          <a:ln/>
        </p:spPr>
        <p:txBody>
          <a:bodyPr wrap="square" lIns="1524" tIns="1524" rIns="1524" bIns="1524" rtlCol="0" anchor="ctr"/>
          <a:lstStyle/>
          <a:p>
            <a:pPr algn="ctr" indent="0" marL="0">
              <a:buNone/>
            </a:pPr>
            <a:r>
              <a:rPr lang="en-US" sz="1400" b="1" dirty="0">
                <a:solidFill>
                  <a:schemeClr val="bg1"/>
                </a:solidFill>
              </a:rPr>
              <a:t>Next match, same teams</a:t>
            </a:r>
            <a:endParaRPr lang="en-US" sz="1400" dirty="0"/>
          </a:p>
        </p:txBody>
      </p:sp>
      <p:sp>
        <p:nvSpPr>
          <p:cNvPr id="14" name="Text 12"/>
          <p:cNvSpPr txBox="1"/>
          <p:nvPr/>
        </p:nvSpPr>
        <p:spPr>
          <a:xfrm>
            <a:off x="457200" y="2377440"/>
            <a:ext cx="8229600" cy="274320"/>
          </a:xfrm>
          <a:prstGeom prst="rect">
            <a:avLst/>
          </a:prstGeom>
          <a:noFill/>
          <a:ln/>
        </p:spPr>
        <p:txBody>
          <a:bodyPr wrap="square" lIns="0" tIns="0" rIns="0" bIns="0" rtlCol="0" anchor="t"/>
          <a:lstStyle/>
          <a:p>
            <a:pPr indent="0" marL="0">
              <a:buNone/>
            </a:pPr>
            <a:r>
              <a:rPr lang="en-US" sz="1400" i="1" dirty="0">
                <a:solidFill>
                  <a:schemeClr val="tx1"/>
                </a:solidFill>
              </a:rPr>
              <a:t>...and so on down the day, without ever breaking a rule.</a:t>
            </a:r>
            <a:endParaRPr lang="en-US" sz="1400" dirty="0"/>
          </a:p>
        </p:txBody>
      </p:sp>
      <p:sp>
        <p:nvSpPr>
          <p:cNvPr id="15" name="Benefit card 1"/>
          <p:cNvSpPr/>
          <p:nvPr/>
        </p:nvSpPr>
        <p:spPr>
          <a:xfrm>
            <a:off x="457200" y="2926080"/>
            <a:ext cx="2651760" cy="1691640"/>
          </a:xfrm>
          <a:prstGeom prst="roundRect">
            <a:avLst>
              <a:gd name="adj" fmla="val 6486"/>
            </a:avLst>
          </a:prstGeom>
          <a:solidFill>
            <a:schemeClr val="bg2"/>
          </a:solidFill>
          <a:ln w="6350">
            <a:solidFill>
              <a:schemeClr val="bg2"/>
            </a:solidFill>
            <a:prstDash val="solid"/>
          </a:ln>
          <a:effectLst>
            <a:outerShdw sx="100000" sy="100000" kx="0" ky="0" algn="bl" rotWithShape="0" blurRad="76200" dist="25400" dir="5400000">
              <a:srgbClr val="000000">
                <a:alpha val="12000"/>
              </a:srgbClr>
            </a:outerShdw>
          </a:effectLst>
        </p:spPr>
      </p:sp>
      <p:sp>
        <p:nvSpPr>
          <p:cNvPr id="16" name="Preview first badge"/>
          <p:cNvSpPr/>
          <p:nvPr/>
        </p:nvSpPr>
        <p:spPr>
          <a:xfrm>
            <a:off x="685800" y="3108960"/>
            <a:ext cx="502920" cy="502920"/>
          </a:xfrm>
          <a:prstGeom prst="ellipse">
            <a:avLst/>
          </a:prstGeom>
          <a:solidFill>
            <a:srgbClr val="3949AB"/>
          </a:solidFill>
          <a:ln w="6350">
            <a:solidFill>
              <a:srgbClr val="3949AB"/>
            </a:solidFill>
            <a:prstDash val="solid"/>
          </a:ln>
        </p:spPr>
      </p:sp>
      <p:pic>
        <p:nvPicPr>
          <p:cNvPr id="17" name="Image 0" descr="Preview first icon">    </p:cNvPr>
          <p:cNvPicPr>
            <a:picLocks noChangeAspect="1"/>
          </p:cNvPicPr>
          <p:nvPr/>
        </p:nvPicPr>
        <p:blipFill>
          <a:blip r:embed="rId1"/>
          <a:stretch>
            <a:fillRect/>
          </a:stretch>
        </p:blipFill>
        <p:spPr>
          <a:xfrm>
            <a:off x="821588" y="3244748"/>
            <a:ext cx="231343" cy="231343"/>
          </a:xfrm>
          <a:prstGeom prst="rect">
            <a:avLst/>
          </a:prstGeom>
        </p:spPr>
      </p:pic>
      <p:sp>
        <p:nvSpPr>
          <p:cNvPr id="18" name="Text 15"/>
          <p:cNvSpPr txBox="1"/>
          <p:nvPr/>
        </p:nvSpPr>
        <p:spPr>
          <a:xfrm>
            <a:off x="1325880" y="3200400"/>
            <a:ext cx="1645920" cy="320040"/>
          </a:xfrm>
          <a:prstGeom prst="rect">
            <a:avLst/>
          </a:prstGeom>
          <a:noFill/>
          <a:ln/>
        </p:spPr>
        <p:txBody>
          <a:bodyPr wrap="square" lIns="0" tIns="0" rIns="0" bIns="0" rtlCol="0" anchor="ctr"/>
          <a:lstStyle/>
          <a:p>
            <a:pPr indent="0" marL="0">
              <a:buNone/>
            </a:pPr>
            <a:r>
              <a:rPr lang="en-US" sz="1800" b="1" dirty="0">
                <a:solidFill>
                  <a:schemeClr val="tx1"/>
                </a:solidFill>
              </a:rPr>
              <a:t>Preview first</a:t>
            </a:r>
            <a:endParaRPr lang="en-US" sz="1800" dirty="0"/>
          </a:p>
        </p:txBody>
      </p:sp>
      <p:sp>
        <p:nvSpPr>
          <p:cNvPr id="19" name="Text 16"/>
          <p:cNvSpPr txBox="1"/>
          <p:nvPr/>
        </p:nvSpPr>
        <p:spPr>
          <a:xfrm>
            <a:off x="685800" y="3749040"/>
            <a:ext cx="2240280" cy="777240"/>
          </a:xfrm>
          <a:prstGeom prst="rect">
            <a:avLst/>
          </a:prstGeom>
          <a:noFill/>
          <a:ln/>
        </p:spPr>
        <p:txBody>
          <a:bodyPr wrap="square" lIns="0" tIns="0" rIns="0" bIns="0" rtlCol="0" anchor="t"/>
          <a:lstStyle/>
          <a:p>
            <a:pPr indent="0" marL="0">
              <a:buNone/>
            </a:pPr>
            <a:r>
              <a:rPr lang="en-US" sz="1400" dirty="0">
                <a:solidFill>
                  <a:schemeClr val="tx1"/>
                </a:solidFill>
              </a:rPr>
              <a:t>See exactly which matches move before anything is saved.</a:t>
            </a:r>
            <a:endParaRPr lang="en-US" sz="1400" dirty="0"/>
          </a:p>
        </p:txBody>
      </p:sp>
      <p:sp>
        <p:nvSpPr>
          <p:cNvPr id="20" name="Benefit card 2"/>
          <p:cNvSpPr/>
          <p:nvPr/>
        </p:nvSpPr>
        <p:spPr>
          <a:xfrm>
            <a:off x="3246120" y="2926080"/>
            <a:ext cx="2651760" cy="1691640"/>
          </a:xfrm>
          <a:prstGeom prst="roundRect">
            <a:avLst>
              <a:gd name="adj" fmla="val 6486"/>
            </a:avLst>
          </a:prstGeom>
          <a:solidFill>
            <a:schemeClr val="bg2"/>
          </a:solidFill>
          <a:ln w="6350">
            <a:solidFill>
              <a:schemeClr val="bg2"/>
            </a:solidFill>
            <a:prstDash val="solid"/>
          </a:ln>
          <a:effectLst>
            <a:outerShdw sx="100000" sy="100000" kx="0" ky="0" algn="bl" rotWithShape="0" blurRad="76200" dist="25400" dir="5400000">
              <a:srgbClr val="000000">
                <a:alpha val="12000"/>
              </a:srgbClr>
            </a:outerShdw>
          </a:effectLst>
        </p:spPr>
      </p:sp>
      <p:sp>
        <p:nvSpPr>
          <p:cNvPr id="21" name="Tells people badge"/>
          <p:cNvSpPr/>
          <p:nvPr/>
        </p:nvSpPr>
        <p:spPr>
          <a:xfrm>
            <a:off x="3474720" y="3108960"/>
            <a:ext cx="502920" cy="502920"/>
          </a:xfrm>
          <a:prstGeom prst="ellipse">
            <a:avLst/>
          </a:prstGeom>
          <a:solidFill>
            <a:srgbClr val="00897B"/>
          </a:solidFill>
          <a:ln w="6350">
            <a:solidFill>
              <a:srgbClr val="00897B"/>
            </a:solidFill>
            <a:prstDash val="solid"/>
          </a:ln>
        </p:spPr>
      </p:sp>
      <p:pic>
        <p:nvPicPr>
          <p:cNvPr id="22" name="Image 1" descr="Tells people icon">    </p:cNvPr>
          <p:cNvPicPr>
            <a:picLocks noChangeAspect="1"/>
          </p:cNvPicPr>
          <p:nvPr/>
        </p:nvPicPr>
        <p:blipFill>
          <a:blip r:embed="rId2"/>
          <a:stretch>
            <a:fillRect/>
          </a:stretch>
        </p:blipFill>
        <p:spPr>
          <a:xfrm>
            <a:off x="3610508" y="3244748"/>
            <a:ext cx="231343" cy="231343"/>
          </a:xfrm>
          <a:prstGeom prst="rect">
            <a:avLst/>
          </a:prstGeom>
        </p:spPr>
      </p:pic>
      <p:sp>
        <p:nvSpPr>
          <p:cNvPr id="23" name="Text 19"/>
          <p:cNvSpPr txBox="1"/>
          <p:nvPr/>
        </p:nvSpPr>
        <p:spPr>
          <a:xfrm>
            <a:off x="4114800" y="3200400"/>
            <a:ext cx="1645920" cy="320040"/>
          </a:xfrm>
          <a:prstGeom prst="rect">
            <a:avLst/>
          </a:prstGeom>
          <a:noFill/>
          <a:ln/>
        </p:spPr>
        <p:txBody>
          <a:bodyPr wrap="square" lIns="0" tIns="0" rIns="0" bIns="0" rtlCol="0" anchor="ctr"/>
          <a:lstStyle/>
          <a:p>
            <a:pPr indent="0" marL="0">
              <a:buNone/>
            </a:pPr>
            <a:r>
              <a:rPr lang="en-US" sz="1800" b="1" dirty="0">
                <a:solidFill>
                  <a:schemeClr val="tx1"/>
                </a:solidFill>
              </a:rPr>
              <a:t>Tells people</a:t>
            </a:r>
            <a:endParaRPr lang="en-US" sz="1800" dirty="0"/>
          </a:p>
        </p:txBody>
      </p:sp>
      <p:sp>
        <p:nvSpPr>
          <p:cNvPr id="24" name="Text 20"/>
          <p:cNvSpPr txBox="1"/>
          <p:nvPr/>
        </p:nvSpPr>
        <p:spPr>
          <a:xfrm>
            <a:off x="3474720" y="3749040"/>
            <a:ext cx="2240280" cy="777240"/>
          </a:xfrm>
          <a:prstGeom prst="rect">
            <a:avLst/>
          </a:prstGeom>
          <a:noFill/>
          <a:ln/>
        </p:spPr>
        <p:txBody>
          <a:bodyPr wrap="square" lIns="0" tIns="0" rIns="0" bIns="0" rtlCol="0" anchor="t"/>
          <a:lstStyle/>
          <a:p>
            <a:pPr indent="0" marL="0">
              <a:buNone/>
            </a:pPr>
            <a:r>
              <a:rPr lang="en-US" sz="1400" dirty="0">
                <a:solidFill>
                  <a:schemeClr val="tx1"/>
                </a:solidFill>
              </a:rPr>
              <a:t>Local notifications to the affected teams and referees.</a:t>
            </a:r>
            <a:endParaRPr lang="en-US" sz="1400" dirty="0"/>
          </a:p>
        </p:txBody>
      </p:sp>
      <p:sp>
        <p:nvSpPr>
          <p:cNvPr id="25" name="Benefit card 3"/>
          <p:cNvSpPr/>
          <p:nvPr/>
        </p:nvSpPr>
        <p:spPr>
          <a:xfrm>
            <a:off x="6035040" y="2926080"/>
            <a:ext cx="2651760" cy="1691640"/>
          </a:xfrm>
          <a:prstGeom prst="roundRect">
            <a:avLst>
              <a:gd name="adj" fmla="val 6486"/>
            </a:avLst>
          </a:prstGeom>
          <a:solidFill>
            <a:schemeClr val="bg2"/>
          </a:solidFill>
          <a:ln w="6350">
            <a:solidFill>
              <a:schemeClr val="bg2"/>
            </a:solidFill>
            <a:prstDash val="solid"/>
          </a:ln>
          <a:effectLst>
            <a:outerShdw sx="100000" sy="100000" kx="0" ky="0" algn="bl" rotWithShape="0" blurRad="76200" dist="25400" dir="5400000">
              <a:srgbClr val="000000">
                <a:alpha val="12000"/>
              </a:srgbClr>
            </a:outerShdw>
          </a:effectLst>
        </p:spPr>
      </p:sp>
      <p:sp>
        <p:nvSpPr>
          <p:cNvPr id="26" name="Fast badge"/>
          <p:cNvSpPr/>
          <p:nvPr/>
        </p:nvSpPr>
        <p:spPr>
          <a:xfrm>
            <a:off x="6263640" y="3108960"/>
            <a:ext cx="502920" cy="502920"/>
          </a:xfrm>
          <a:prstGeom prst="ellipse">
            <a:avLst/>
          </a:prstGeom>
          <a:solidFill>
            <a:srgbClr val="E64A19"/>
          </a:solidFill>
          <a:ln w="6350">
            <a:solidFill>
              <a:srgbClr val="E64A19"/>
            </a:solidFill>
            <a:prstDash val="solid"/>
          </a:ln>
        </p:spPr>
      </p:sp>
      <p:pic>
        <p:nvPicPr>
          <p:cNvPr id="27" name="Image 2" descr="Fast icon">    </p:cNvPr>
          <p:cNvPicPr>
            <a:picLocks noChangeAspect="1"/>
          </p:cNvPicPr>
          <p:nvPr/>
        </p:nvPicPr>
        <p:blipFill>
          <a:blip r:embed="rId3"/>
          <a:stretch>
            <a:fillRect/>
          </a:stretch>
        </p:blipFill>
        <p:spPr>
          <a:xfrm>
            <a:off x="6399428" y="3244748"/>
            <a:ext cx="231343" cy="231343"/>
          </a:xfrm>
          <a:prstGeom prst="rect">
            <a:avLst/>
          </a:prstGeom>
        </p:spPr>
      </p:pic>
      <p:sp>
        <p:nvSpPr>
          <p:cNvPr id="28" name="Text 23"/>
          <p:cNvSpPr txBox="1"/>
          <p:nvPr/>
        </p:nvSpPr>
        <p:spPr>
          <a:xfrm>
            <a:off x="6903720" y="3200400"/>
            <a:ext cx="1645920" cy="320040"/>
          </a:xfrm>
          <a:prstGeom prst="rect">
            <a:avLst/>
          </a:prstGeom>
          <a:noFill/>
          <a:ln/>
        </p:spPr>
        <p:txBody>
          <a:bodyPr wrap="square" lIns="0" tIns="0" rIns="0" bIns="0" rtlCol="0" anchor="ctr"/>
          <a:lstStyle/>
          <a:p>
            <a:pPr indent="0" marL="0">
              <a:buNone/>
            </a:pPr>
            <a:r>
              <a:rPr lang="en-US" sz="1800" b="1" dirty="0">
                <a:solidFill>
                  <a:schemeClr val="tx1"/>
                </a:solidFill>
              </a:rPr>
              <a:t>Fast</a:t>
            </a:r>
            <a:endParaRPr lang="en-US" sz="1800" dirty="0"/>
          </a:p>
        </p:txBody>
      </p:sp>
      <p:sp>
        <p:nvSpPr>
          <p:cNvPr id="29" name="Text 24"/>
          <p:cNvSpPr txBox="1"/>
          <p:nvPr/>
        </p:nvSpPr>
        <p:spPr>
          <a:xfrm>
            <a:off x="6263640" y="3749040"/>
            <a:ext cx="2240280" cy="777240"/>
          </a:xfrm>
          <a:prstGeom prst="rect">
            <a:avLst/>
          </a:prstGeom>
          <a:noFill/>
          <a:ln/>
        </p:spPr>
        <p:txBody>
          <a:bodyPr wrap="square" lIns="0" tIns="0" rIns="0" bIns="0" rtlCol="0" anchor="t"/>
          <a:lstStyle/>
          <a:p>
            <a:pPr indent="0" marL="0">
              <a:buNone/>
            </a:pPr>
            <a:r>
              <a:rPr lang="en-US" sz="1400" dirty="0">
                <a:solidFill>
                  <a:schemeClr val="tx1"/>
                </a:solidFill>
              </a:rPr>
              <a:t>About 8 ms to re-time a 16-team day.</a:t>
            </a:r>
            <a:endParaRPr lang="en-US" sz="1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algn="l" indent="0" marL="0">
              <a:buNone/>
            </a:pPr>
            <a:r>
              <a:rPr lang="en-US" sz="3400" b="1" dirty="0">
                <a:solidFill>
                  <a:schemeClr val="tx1"/>
                </a:solidFill>
              </a:rPr>
              <a:t>Delay-resistant scheduling</a:t>
            </a:r>
            <a:endParaRPr lang="en-US" sz="3400" dirty="0"/>
          </a:p>
        </p:txBody>
      </p:sp>
      <p:sp>
        <p:nvSpPr>
          <p:cNvPr id="3" name="Text 1"/>
          <p:cNvSpPr txBox="1"/>
          <p:nvPr/>
        </p:nvSpPr>
        <p:spPr>
          <a:xfrm>
            <a:off x="457200" y="1280160"/>
            <a:ext cx="3291840" cy="320040"/>
          </a:xfrm>
          <a:prstGeom prst="rect">
            <a:avLst/>
          </a:prstGeom>
          <a:noFill/>
          <a:ln/>
        </p:spPr>
        <p:txBody>
          <a:bodyPr wrap="square" lIns="0" tIns="0" rIns="0" bIns="0" rtlCol="0" anchor="t"/>
          <a:lstStyle/>
          <a:p>
            <a:pPr indent="0" marL="0">
              <a:buNone/>
            </a:pPr>
            <a:r>
              <a:rPr lang="en-US" sz="1800" b="1" dirty="0">
                <a:solidFill>
                  <a:schemeClr val="accent2"/>
                </a:solidFill>
              </a:rPr>
              <a:t>Plan so a delay costs less</a:t>
            </a:r>
            <a:endParaRPr lang="en-US" sz="1800" dirty="0"/>
          </a:p>
        </p:txBody>
      </p:sp>
      <p:sp>
        <p:nvSpPr>
          <p:cNvPr id="4" name="Text 2"/>
          <p:cNvSpPr txBox="1"/>
          <p:nvPr/>
        </p:nvSpPr>
        <p:spPr>
          <a:xfrm>
            <a:off x="457200" y="1737360"/>
            <a:ext cx="3200400" cy="155448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chemeClr val="tx1"/>
                </a:solidFill>
              </a:rPr>
              <a:t>Counts back-to-back matches with under 15 minutes of slack</a:t>
            </a:r>
            <a:endParaRPr lang="en-US" sz="1400" dirty="0"/>
          </a:p>
          <a:p>
            <a:pPr marL="203200" indent="-203200">
              <a:spcAft>
                <a:spcPts val="600"/>
              </a:spcAft>
              <a:buSzPct val="100000"/>
              <a:buChar char="•"/>
            </a:pPr>
            <a:r>
              <a:rPr lang="en-US" sz="1400" dirty="0">
                <a:solidFill>
                  <a:schemeClr val="tx1"/>
                </a:solidFill>
              </a:rPr>
              <a:t>The optimiser avoids those chains</a:t>
            </a:r>
            <a:endParaRPr lang="en-US" sz="1400" dirty="0"/>
          </a:p>
          <a:p>
            <a:pPr marL="203200" indent="-203200">
              <a:spcAft>
                <a:spcPts val="600"/>
              </a:spcAft>
              <a:buSzPct val="100000"/>
              <a:buChar char="•"/>
            </a:pPr>
            <a:r>
              <a:rPr lang="en-US" sz="1400" dirty="0">
                <a:solidFill>
                  <a:schemeClr val="tx1"/>
                </a:solidFill>
              </a:rPr>
              <a:t>Measured with the real delay engine</a:t>
            </a:r>
            <a:endParaRPr lang="en-US" sz="1400" dirty="0"/>
          </a:p>
        </p:txBody>
      </p:sp>
      <p:sp>
        <p:nvSpPr>
          <p:cNvPr id="5" name="Text 3"/>
          <p:cNvSpPr txBox="1"/>
          <p:nvPr/>
        </p:nvSpPr>
        <p:spPr>
          <a:xfrm>
            <a:off x="457200" y="3337560"/>
            <a:ext cx="1737360" cy="731520"/>
          </a:xfrm>
          <a:prstGeom prst="rect">
            <a:avLst/>
          </a:prstGeom>
          <a:noFill/>
          <a:ln/>
        </p:spPr>
        <p:txBody>
          <a:bodyPr wrap="square" lIns="0" tIns="0" rIns="0" bIns="0" rtlCol="0" anchor="t"/>
          <a:lstStyle/>
          <a:p>
            <a:pPr indent="0" marL="0">
              <a:buNone/>
            </a:pPr>
            <a:r>
              <a:rPr lang="en-US" sz="4800" b="1" dirty="0">
                <a:solidFill>
                  <a:schemeClr val="accent2"/>
                </a:solidFill>
              </a:rPr>
              <a:t>43%</a:t>
            </a:r>
            <a:endParaRPr lang="en-US" sz="4800" dirty="0"/>
          </a:p>
        </p:txBody>
      </p:sp>
      <p:sp>
        <p:nvSpPr>
          <p:cNvPr id="6" name="Text 4"/>
          <p:cNvSpPr txBox="1"/>
          <p:nvPr/>
        </p:nvSpPr>
        <p:spPr>
          <a:xfrm>
            <a:off x="2148840" y="3474720"/>
            <a:ext cx="1645920" cy="640080"/>
          </a:xfrm>
          <a:prstGeom prst="rect">
            <a:avLst/>
          </a:prstGeom>
          <a:noFill/>
          <a:ln/>
        </p:spPr>
        <p:txBody>
          <a:bodyPr wrap="square" lIns="0" tIns="0" rIns="0" bIns="0" rtlCol="0" anchor="t"/>
          <a:lstStyle/>
          <a:p>
            <a:pPr indent="0" marL="0">
              <a:buNone/>
            </a:pPr>
            <a:r>
              <a:rPr lang="en-US" sz="1400" dirty="0">
                <a:solidFill>
                  <a:schemeClr val="tx1"/>
                </a:solidFill>
              </a:rPr>
              <a:t>fewer matches pushed back at 12 teams</a:t>
            </a:r>
            <a:endParaRPr lang="en-US" sz="1400" dirty="0"/>
          </a:p>
        </p:txBody>
      </p:sp>
      <p:graphicFrame>
        <p:nvGraphicFramePr>
          <p:cNvPr id="7" name="Chart 0" descr=""/>
          <p:cNvGraphicFramePr/>
          <p:nvPr/>
        </p:nvGraphicFramePr>
        <p:xfrm>
          <a:off x="3931920" y="1188720"/>
          <a:ext cx="4754880" cy="320040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3931920" y="4434840"/>
            <a:ext cx="4754880" cy="274320"/>
          </a:xfrm>
          <a:prstGeom prst="rect">
            <a:avLst/>
          </a:prstGeom>
          <a:noFill/>
          <a:ln/>
        </p:spPr>
        <p:txBody>
          <a:bodyPr wrap="square" lIns="0" tIns="0" rIns="0" bIns="0" rtlCol="0" anchor="t"/>
          <a:lstStyle/>
          <a:p>
            <a:pPr indent="0" marL="0">
              <a:buNone/>
            </a:pPr>
            <a:r>
              <a:rPr lang="en-US" sz="1200" i="1" dirty="0">
                <a:solidFill>
                  <a:schemeClr val="tx1"/>
                </a:solidFill>
              </a:rPr>
              <a:t>Average of 6 random tournaments per size. Lower is better.</a:t>
            </a:r>
            <a:endParaRPr lang="en-US" sz="12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algn="l" indent="0" marL="0">
              <a:buNone/>
            </a:pPr>
            <a:r>
              <a:rPr lang="en-US" sz="3400" b="1" dirty="0">
                <a:solidFill>
                  <a:schemeClr val="tx1"/>
                </a:solidFill>
              </a:rPr>
              <a:t>Live events and reclaimed time</a:t>
            </a:r>
            <a:endParaRPr lang="en-US" sz="3400" dirty="0"/>
          </a:p>
        </p:txBody>
      </p:sp>
      <p:sp>
        <p:nvSpPr>
          <p:cNvPr id="3" name="Event card 1"/>
          <p:cNvSpPr/>
          <p:nvPr/>
        </p:nvSpPr>
        <p:spPr>
          <a:xfrm>
            <a:off x="457200" y="1280160"/>
            <a:ext cx="2651760" cy="2697480"/>
          </a:xfrm>
          <a:prstGeom prst="roundRect">
            <a:avLst>
              <a:gd name="adj" fmla="val 4138"/>
            </a:avLst>
          </a:prstGeom>
          <a:solidFill>
            <a:schemeClr val="bg2"/>
          </a:solidFill>
          <a:ln w="6350">
            <a:solidFill>
              <a:schemeClr val="bg2"/>
            </a:solidFill>
            <a:prstDash val="solid"/>
          </a:ln>
          <a:effectLst>
            <a:outerShdw sx="100000" sy="100000" kx="0" ky="0" algn="bl" rotWithShape="0" blurRad="76200" dist="25400" dir="5400000">
              <a:srgbClr val="000000">
                <a:alpha val="12000"/>
              </a:srgbClr>
            </a:outerShdw>
          </a:effectLst>
        </p:spPr>
      </p:sp>
      <p:sp>
        <p:nvSpPr>
          <p:cNvPr id="4" name="Kick-off badge"/>
          <p:cNvSpPr/>
          <p:nvPr/>
        </p:nvSpPr>
        <p:spPr>
          <a:xfrm>
            <a:off x="685800" y="1481328"/>
            <a:ext cx="640080" cy="640080"/>
          </a:xfrm>
          <a:prstGeom prst="ellipse">
            <a:avLst/>
          </a:prstGeom>
          <a:solidFill>
            <a:srgbClr val="E64A19"/>
          </a:solidFill>
          <a:ln w="6350">
            <a:solidFill>
              <a:srgbClr val="E64A19"/>
            </a:solidFill>
            <a:prstDash val="solid"/>
          </a:ln>
        </p:spPr>
      </p:sp>
      <p:pic>
        <p:nvPicPr>
          <p:cNvPr id="5" name="Image 0" descr="Kick-off icon">    </p:cNvPr>
          <p:cNvPicPr>
            <a:picLocks noChangeAspect="1"/>
          </p:cNvPicPr>
          <p:nvPr/>
        </p:nvPicPr>
        <p:blipFill>
          <a:blip r:embed="rId1"/>
          <a:stretch>
            <a:fillRect/>
          </a:stretch>
        </p:blipFill>
        <p:spPr>
          <a:xfrm>
            <a:off x="858622" y="1654150"/>
            <a:ext cx="294437" cy="294437"/>
          </a:xfrm>
          <a:prstGeom prst="rect">
            <a:avLst/>
          </a:prstGeom>
        </p:spPr>
      </p:pic>
      <p:sp>
        <p:nvSpPr>
          <p:cNvPr id="6" name="Text 3"/>
          <p:cNvSpPr txBox="1"/>
          <p:nvPr/>
        </p:nvSpPr>
        <p:spPr>
          <a:xfrm>
            <a:off x="685800" y="2286000"/>
            <a:ext cx="2240280" cy="274320"/>
          </a:xfrm>
          <a:prstGeom prst="rect">
            <a:avLst/>
          </a:prstGeom>
          <a:noFill/>
          <a:ln/>
        </p:spPr>
        <p:txBody>
          <a:bodyPr wrap="square" lIns="0" tIns="0" rIns="0" bIns="0" rtlCol="0" anchor="t"/>
          <a:lstStyle/>
          <a:p>
            <a:pPr indent="0" marL="0">
              <a:buNone/>
            </a:pPr>
            <a:r>
              <a:rPr lang="en-US" sz="1800" b="1" dirty="0">
                <a:solidFill>
                  <a:schemeClr val="tx1"/>
                </a:solidFill>
              </a:rPr>
              <a:t>Kick-off</a:t>
            </a:r>
            <a:endParaRPr lang="en-US" sz="1800" dirty="0"/>
          </a:p>
        </p:txBody>
      </p:sp>
      <p:sp>
        <p:nvSpPr>
          <p:cNvPr id="7" name="Text 4"/>
          <p:cNvSpPr txBox="1"/>
          <p:nvPr/>
        </p:nvSpPr>
        <p:spPr>
          <a:xfrm>
            <a:off x="685800" y="2651760"/>
            <a:ext cx="2240280" cy="1280160"/>
          </a:xfrm>
          <a:prstGeom prst="rect">
            <a:avLst/>
          </a:prstGeom>
          <a:noFill/>
          <a:ln/>
        </p:spPr>
        <p:txBody>
          <a:bodyPr wrap="square" lIns="0" tIns="0" rIns="0" bIns="0" rtlCol="0" anchor="t"/>
          <a:lstStyle/>
          <a:p>
            <a:pPr indent="0" marL="0">
              <a:buNone/>
            </a:pPr>
            <a:r>
              <a:rPr lang="en-US" sz="1400" dirty="0">
                <a:solidFill>
                  <a:schemeClr val="tx1"/>
                </a:solidFill>
              </a:rPr>
              <a:t>The referee taps Kick-off. If it was 5 or more minutes late, the admin gets a banner offering to re-time the next matches.</a:t>
            </a:r>
            <a:endParaRPr lang="en-US" sz="1400" dirty="0"/>
          </a:p>
        </p:txBody>
      </p:sp>
      <p:sp>
        <p:nvSpPr>
          <p:cNvPr id="8" name="Event card 2"/>
          <p:cNvSpPr/>
          <p:nvPr/>
        </p:nvSpPr>
        <p:spPr>
          <a:xfrm>
            <a:off x="3246120" y="1280160"/>
            <a:ext cx="2651760" cy="2697480"/>
          </a:xfrm>
          <a:prstGeom prst="roundRect">
            <a:avLst>
              <a:gd name="adj" fmla="val 4138"/>
            </a:avLst>
          </a:prstGeom>
          <a:solidFill>
            <a:schemeClr val="bg2"/>
          </a:solidFill>
          <a:ln w="6350">
            <a:solidFill>
              <a:schemeClr val="bg2"/>
            </a:solidFill>
            <a:prstDash val="solid"/>
          </a:ln>
          <a:effectLst>
            <a:outerShdw sx="100000" sy="100000" kx="0" ky="0" algn="bl" rotWithShape="0" blurRad="76200" dist="25400" dir="5400000">
              <a:srgbClr val="000000">
                <a:alpha val="12000"/>
              </a:srgbClr>
            </a:outerShdw>
          </a:effectLst>
        </p:spPr>
      </p:sp>
      <p:sp>
        <p:nvSpPr>
          <p:cNvPr id="9" name="Full time badge"/>
          <p:cNvSpPr/>
          <p:nvPr/>
        </p:nvSpPr>
        <p:spPr>
          <a:xfrm>
            <a:off x="3474720" y="1481328"/>
            <a:ext cx="640080" cy="640080"/>
          </a:xfrm>
          <a:prstGeom prst="ellipse">
            <a:avLst/>
          </a:prstGeom>
          <a:solidFill>
            <a:srgbClr val="3949AB"/>
          </a:solidFill>
          <a:ln w="6350">
            <a:solidFill>
              <a:srgbClr val="3949AB"/>
            </a:solidFill>
            <a:prstDash val="solid"/>
          </a:ln>
        </p:spPr>
      </p:sp>
      <p:pic>
        <p:nvPicPr>
          <p:cNvPr id="10" name="Image 1" descr="Full time icon">    </p:cNvPr>
          <p:cNvPicPr>
            <a:picLocks noChangeAspect="1"/>
          </p:cNvPicPr>
          <p:nvPr/>
        </p:nvPicPr>
        <p:blipFill>
          <a:blip r:embed="rId2"/>
          <a:stretch>
            <a:fillRect/>
          </a:stretch>
        </p:blipFill>
        <p:spPr>
          <a:xfrm>
            <a:off x="3647542" y="1654150"/>
            <a:ext cx="294437" cy="294437"/>
          </a:xfrm>
          <a:prstGeom prst="rect">
            <a:avLst/>
          </a:prstGeom>
        </p:spPr>
      </p:pic>
      <p:sp>
        <p:nvSpPr>
          <p:cNvPr id="11" name="Text 7"/>
          <p:cNvSpPr txBox="1"/>
          <p:nvPr/>
        </p:nvSpPr>
        <p:spPr>
          <a:xfrm>
            <a:off x="3474720" y="2286000"/>
            <a:ext cx="2240280" cy="274320"/>
          </a:xfrm>
          <a:prstGeom prst="rect">
            <a:avLst/>
          </a:prstGeom>
          <a:noFill/>
          <a:ln/>
        </p:spPr>
        <p:txBody>
          <a:bodyPr wrap="square" lIns="0" tIns="0" rIns="0" bIns="0" rtlCol="0" anchor="t"/>
          <a:lstStyle/>
          <a:p>
            <a:pPr indent="0" marL="0">
              <a:buNone/>
            </a:pPr>
            <a:r>
              <a:rPr lang="en-US" sz="1800" b="1" dirty="0">
                <a:solidFill>
                  <a:schemeClr val="tx1"/>
                </a:solidFill>
              </a:rPr>
              <a:t>Full time</a:t>
            </a:r>
            <a:endParaRPr lang="en-US" sz="1800" dirty="0"/>
          </a:p>
        </p:txBody>
      </p:sp>
      <p:sp>
        <p:nvSpPr>
          <p:cNvPr id="12" name="Text 8"/>
          <p:cNvSpPr txBox="1"/>
          <p:nvPr/>
        </p:nvSpPr>
        <p:spPr>
          <a:xfrm>
            <a:off x="3474720" y="2651760"/>
            <a:ext cx="2240280" cy="1280160"/>
          </a:xfrm>
          <a:prstGeom prst="rect">
            <a:avLst/>
          </a:prstGeom>
          <a:noFill/>
          <a:ln/>
        </p:spPr>
        <p:txBody>
          <a:bodyPr wrap="square" lIns="0" tIns="0" rIns="0" bIns="0" rtlCol="0" anchor="t"/>
          <a:lstStyle/>
          <a:p>
            <a:pPr indent="0" marL="0">
              <a:buNone/>
            </a:pPr>
            <a:r>
              <a:rPr lang="en-US" sz="1400" dirty="0">
                <a:solidFill>
                  <a:schemeClr val="tx1"/>
                </a:solidFill>
              </a:rPr>
              <a:t>The referee taps Full time. If it ended 10 or more minutes early, the banner offers to pull the next matches forward.</a:t>
            </a:r>
            <a:endParaRPr lang="en-US" sz="1400" dirty="0"/>
          </a:p>
        </p:txBody>
      </p:sp>
      <p:sp>
        <p:nvSpPr>
          <p:cNvPr id="13" name="Event card 3"/>
          <p:cNvSpPr/>
          <p:nvPr/>
        </p:nvSpPr>
        <p:spPr>
          <a:xfrm>
            <a:off x="6035040" y="1280160"/>
            <a:ext cx="2651760" cy="2697480"/>
          </a:xfrm>
          <a:prstGeom prst="roundRect">
            <a:avLst>
              <a:gd name="adj" fmla="val 4138"/>
            </a:avLst>
          </a:prstGeom>
          <a:solidFill>
            <a:schemeClr val="bg2"/>
          </a:solidFill>
          <a:ln w="6350">
            <a:solidFill>
              <a:schemeClr val="bg2"/>
            </a:solidFill>
            <a:prstDash val="solid"/>
          </a:ln>
          <a:effectLst>
            <a:outerShdw sx="100000" sy="100000" kx="0" ky="0" algn="bl" rotWithShape="0" blurRad="76200" dist="25400" dir="5400000">
              <a:srgbClr val="000000">
                <a:alpha val="12000"/>
              </a:srgbClr>
            </a:outerShdw>
          </a:effectLst>
        </p:spPr>
      </p:sp>
      <p:sp>
        <p:nvSpPr>
          <p:cNvPr id="14" name="Learns match length badge"/>
          <p:cNvSpPr/>
          <p:nvPr/>
        </p:nvSpPr>
        <p:spPr>
          <a:xfrm>
            <a:off x="6263640" y="1481328"/>
            <a:ext cx="640080" cy="640080"/>
          </a:xfrm>
          <a:prstGeom prst="ellipse">
            <a:avLst/>
          </a:prstGeom>
          <a:solidFill>
            <a:srgbClr val="00897B"/>
          </a:solidFill>
          <a:ln w="6350">
            <a:solidFill>
              <a:srgbClr val="00897B"/>
            </a:solidFill>
            <a:prstDash val="solid"/>
          </a:ln>
        </p:spPr>
      </p:sp>
      <p:pic>
        <p:nvPicPr>
          <p:cNvPr id="15" name="Image 2" descr="Learns match length icon">    </p:cNvPr>
          <p:cNvPicPr>
            <a:picLocks noChangeAspect="1"/>
          </p:cNvPicPr>
          <p:nvPr/>
        </p:nvPicPr>
        <p:blipFill>
          <a:blip r:embed="rId3"/>
          <a:stretch>
            <a:fillRect/>
          </a:stretch>
        </p:blipFill>
        <p:spPr>
          <a:xfrm>
            <a:off x="6436462" y="1654150"/>
            <a:ext cx="294437" cy="294437"/>
          </a:xfrm>
          <a:prstGeom prst="rect">
            <a:avLst/>
          </a:prstGeom>
        </p:spPr>
      </p:pic>
      <p:sp>
        <p:nvSpPr>
          <p:cNvPr id="16" name="Text 11"/>
          <p:cNvSpPr txBox="1"/>
          <p:nvPr/>
        </p:nvSpPr>
        <p:spPr>
          <a:xfrm>
            <a:off x="6263640" y="2286000"/>
            <a:ext cx="2240280" cy="274320"/>
          </a:xfrm>
          <a:prstGeom prst="rect">
            <a:avLst/>
          </a:prstGeom>
          <a:noFill/>
          <a:ln/>
        </p:spPr>
        <p:txBody>
          <a:bodyPr wrap="square" lIns="0" tIns="0" rIns="0" bIns="0" rtlCol="0" anchor="t"/>
          <a:lstStyle/>
          <a:p>
            <a:pPr indent="0" marL="0">
              <a:buNone/>
            </a:pPr>
            <a:r>
              <a:rPr lang="en-US" sz="1800" b="1" dirty="0">
                <a:solidFill>
                  <a:schemeClr val="tx1"/>
                </a:solidFill>
              </a:rPr>
              <a:t>Learns match length</a:t>
            </a:r>
            <a:endParaRPr lang="en-US" sz="1800" dirty="0"/>
          </a:p>
        </p:txBody>
      </p:sp>
      <p:sp>
        <p:nvSpPr>
          <p:cNvPr id="17" name="Text 12"/>
          <p:cNvSpPr txBox="1"/>
          <p:nvPr/>
        </p:nvSpPr>
        <p:spPr>
          <a:xfrm>
            <a:off x="6263640" y="2651760"/>
            <a:ext cx="2240280" cy="1280160"/>
          </a:xfrm>
          <a:prstGeom prst="rect">
            <a:avLst/>
          </a:prstGeom>
          <a:noFill/>
          <a:ln/>
        </p:spPr>
        <p:txBody>
          <a:bodyPr wrap="square" lIns="0" tIns="0" rIns="0" bIns="0" rtlCol="0" anchor="t"/>
          <a:lstStyle/>
          <a:p>
            <a:pPr indent="0" marL="0">
              <a:buNone/>
            </a:pPr>
            <a:r>
              <a:rPr lang="en-US" sz="1400" dirty="0">
                <a:solidFill>
                  <a:schemeClr val="tx1"/>
                </a:solidFill>
              </a:rPr>
              <a:t>After 3 or more played matches, the next schedule uses the real average length.</a:t>
            </a:r>
            <a:endParaRPr lang="en-US" sz="1400" dirty="0"/>
          </a:p>
        </p:txBody>
      </p:sp>
      <p:sp>
        <p:nvSpPr>
          <p:cNvPr id="18" name="Text 13"/>
          <p:cNvSpPr txBox="1"/>
          <p:nvPr/>
        </p:nvSpPr>
        <p:spPr>
          <a:xfrm>
            <a:off x="457200" y="4160520"/>
            <a:ext cx="8229600" cy="457200"/>
          </a:xfrm>
          <a:prstGeom prst="rect">
            <a:avLst/>
          </a:prstGeom>
          <a:noFill/>
          <a:ln/>
        </p:spPr>
        <p:txBody>
          <a:bodyPr wrap="square" lIns="0" tIns="0" rIns="0" bIns="0" rtlCol="0" anchor="ctr"/>
          <a:lstStyle/>
          <a:p>
            <a:pPr indent="0" marL="0">
              <a:buNone/>
            </a:pPr>
            <a:r>
              <a:rPr lang="en-US" sz="1400" i="1" dirty="0">
                <a:solidFill>
                  <a:schemeClr val="tx1"/>
                </a:solidFill>
              </a:rPr>
              <a:t>Every event is a log entry, so it syncs like everything else. Suggestions disappear once they are applied.</a:t>
            </a:r>
            <a:endParaRPr lang="en-US" sz="1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algn="l" indent="0" marL="0">
              <a:buNone/>
            </a:pPr>
            <a:r>
              <a:rPr lang="en-US" sz="3400" b="1" dirty="0">
                <a:solidFill>
                  <a:schemeClr val="tx1"/>
                </a:solidFill>
              </a:rPr>
              <a:t>More features that add value</a:t>
            </a:r>
            <a:endParaRPr lang="en-US" sz="3400" dirty="0"/>
          </a:p>
        </p:txBody>
      </p:sp>
      <p:sp>
        <p:nvSpPr>
          <p:cNvPr id="3" name="Extra card 1"/>
          <p:cNvSpPr/>
          <p:nvPr/>
        </p:nvSpPr>
        <p:spPr>
          <a:xfrm>
            <a:off x="457200" y="1234440"/>
            <a:ext cx="2651760" cy="1600200"/>
          </a:xfrm>
          <a:prstGeom prst="roundRect">
            <a:avLst>
              <a:gd name="adj" fmla="val 6857"/>
            </a:avLst>
          </a:prstGeom>
          <a:solidFill>
            <a:schemeClr val="bg2"/>
          </a:solidFill>
          <a:ln w="6350">
            <a:solidFill>
              <a:schemeClr val="bg2"/>
            </a:solidFill>
            <a:prstDash val="solid"/>
          </a:ln>
          <a:effectLst>
            <a:outerShdw sx="100000" sy="100000" kx="0" ky="0" algn="bl" rotWithShape="0" blurRad="76200" dist="25400" dir="5400000">
              <a:srgbClr val="000000">
                <a:alpha val="12000"/>
              </a:srgbClr>
            </a:outerShdw>
          </a:effectLst>
        </p:spPr>
      </p:sp>
      <p:sp>
        <p:nvSpPr>
          <p:cNvPr id="4" name="Tamper-evident sync code badge"/>
          <p:cNvSpPr/>
          <p:nvPr/>
        </p:nvSpPr>
        <p:spPr>
          <a:xfrm>
            <a:off x="640080" y="1417320"/>
            <a:ext cx="457200" cy="457200"/>
          </a:xfrm>
          <a:prstGeom prst="ellipse">
            <a:avLst/>
          </a:prstGeom>
          <a:solidFill>
            <a:srgbClr val="3949AB"/>
          </a:solidFill>
          <a:ln w="6350">
            <a:solidFill>
              <a:srgbClr val="3949AB"/>
            </a:solidFill>
            <a:prstDash val="solid"/>
          </a:ln>
        </p:spPr>
      </p:sp>
      <p:pic>
        <p:nvPicPr>
          <p:cNvPr id="5" name="Image 0" descr="Tamper-evident sync code icon">    </p:cNvPr>
          <p:cNvPicPr>
            <a:picLocks noChangeAspect="1"/>
          </p:cNvPicPr>
          <p:nvPr/>
        </p:nvPicPr>
        <p:blipFill>
          <a:blip r:embed="rId1"/>
          <a:stretch>
            <a:fillRect/>
          </a:stretch>
        </p:blipFill>
        <p:spPr>
          <a:xfrm>
            <a:off x="763524" y="1540764"/>
            <a:ext cx="210312" cy="210312"/>
          </a:xfrm>
          <a:prstGeom prst="rect">
            <a:avLst/>
          </a:prstGeom>
        </p:spPr>
      </p:pic>
      <p:sp>
        <p:nvSpPr>
          <p:cNvPr id="6" name="Text 3"/>
          <p:cNvSpPr txBox="1"/>
          <p:nvPr/>
        </p:nvSpPr>
        <p:spPr>
          <a:xfrm>
            <a:off x="1234440" y="1417320"/>
            <a:ext cx="1783080" cy="457200"/>
          </a:xfrm>
          <a:prstGeom prst="rect">
            <a:avLst/>
          </a:prstGeom>
          <a:noFill/>
          <a:ln/>
        </p:spPr>
        <p:txBody>
          <a:bodyPr wrap="square" lIns="0" tIns="0" rIns="0" bIns="0" rtlCol="0" anchor="ctr"/>
          <a:lstStyle/>
          <a:p>
            <a:pPr indent="0" marL="0">
              <a:buNone/>
            </a:pPr>
            <a:r>
              <a:rPr lang="en-US" sz="1500" b="1" dirty="0">
                <a:solidFill>
                  <a:schemeClr val="tx1"/>
                </a:solidFill>
              </a:rPr>
              <a:t>Tamper-evident sync code</a:t>
            </a:r>
            <a:endParaRPr lang="en-US" sz="1500" dirty="0"/>
          </a:p>
        </p:txBody>
      </p:sp>
      <p:sp>
        <p:nvSpPr>
          <p:cNvPr id="7" name="Text 4"/>
          <p:cNvSpPr txBox="1"/>
          <p:nvPr/>
        </p:nvSpPr>
        <p:spPr>
          <a:xfrm>
            <a:off x="640080" y="2011680"/>
            <a:ext cx="2331720" cy="731520"/>
          </a:xfrm>
          <a:prstGeom prst="rect">
            <a:avLst/>
          </a:prstGeom>
          <a:noFill/>
          <a:ln/>
        </p:spPr>
        <p:txBody>
          <a:bodyPr wrap="square" lIns="0" tIns="0" rIns="0" bIns="0" rtlCol="0" anchor="t"/>
          <a:lstStyle/>
          <a:p>
            <a:pPr indent="0" marL="0">
              <a:buNone/>
            </a:pPr>
            <a:r>
              <a:rPr lang="en-US" sz="1400" dirty="0">
                <a:solidFill>
                  <a:schemeClr val="tx1"/>
                </a:solidFill>
              </a:rPr>
              <a:t>SHA-256 chain proves two phones hold identical data.</a:t>
            </a:r>
            <a:endParaRPr lang="en-US" sz="1400" dirty="0"/>
          </a:p>
        </p:txBody>
      </p:sp>
      <p:sp>
        <p:nvSpPr>
          <p:cNvPr id="8" name="Extra card 2"/>
          <p:cNvSpPr/>
          <p:nvPr/>
        </p:nvSpPr>
        <p:spPr>
          <a:xfrm>
            <a:off x="3246120" y="1234440"/>
            <a:ext cx="2651760" cy="1600200"/>
          </a:xfrm>
          <a:prstGeom prst="roundRect">
            <a:avLst>
              <a:gd name="adj" fmla="val 6857"/>
            </a:avLst>
          </a:prstGeom>
          <a:solidFill>
            <a:schemeClr val="bg2"/>
          </a:solidFill>
          <a:ln w="6350">
            <a:solidFill>
              <a:schemeClr val="bg2"/>
            </a:solidFill>
            <a:prstDash val="solid"/>
          </a:ln>
          <a:effectLst>
            <a:outerShdw sx="100000" sy="100000" kx="0" ky="0" algn="bl" rotWithShape="0" blurRad="76200" dist="25400" dir="5400000">
              <a:srgbClr val="000000">
                <a:alpha val="12000"/>
              </a:srgbClr>
            </a:outerShdw>
          </a:effectLst>
        </p:spPr>
      </p:sp>
      <p:sp>
        <p:nvSpPr>
          <p:cNvPr id="9" name="Conflict-of-interest rule badge"/>
          <p:cNvSpPr/>
          <p:nvPr/>
        </p:nvSpPr>
        <p:spPr>
          <a:xfrm>
            <a:off x="3429000" y="1417320"/>
            <a:ext cx="457200" cy="457200"/>
          </a:xfrm>
          <a:prstGeom prst="ellipse">
            <a:avLst/>
          </a:prstGeom>
          <a:solidFill>
            <a:srgbClr val="00897B"/>
          </a:solidFill>
          <a:ln w="6350">
            <a:solidFill>
              <a:srgbClr val="00897B"/>
            </a:solidFill>
            <a:prstDash val="solid"/>
          </a:ln>
        </p:spPr>
      </p:sp>
      <p:pic>
        <p:nvPicPr>
          <p:cNvPr id="10" name="Image 1" descr="Conflict-of-interest rule icon">    </p:cNvPr>
          <p:cNvPicPr>
            <a:picLocks noChangeAspect="1"/>
          </p:cNvPicPr>
          <p:nvPr/>
        </p:nvPicPr>
        <p:blipFill>
          <a:blip r:embed="rId2"/>
          <a:stretch>
            <a:fillRect/>
          </a:stretch>
        </p:blipFill>
        <p:spPr>
          <a:xfrm>
            <a:off x="3552444" y="1540764"/>
            <a:ext cx="210312" cy="210312"/>
          </a:xfrm>
          <a:prstGeom prst="rect">
            <a:avLst/>
          </a:prstGeom>
        </p:spPr>
      </p:pic>
      <p:sp>
        <p:nvSpPr>
          <p:cNvPr id="11" name="Text 7"/>
          <p:cNvSpPr txBox="1"/>
          <p:nvPr/>
        </p:nvSpPr>
        <p:spPr>
          <a:xfrm>
            <a:off x="4023360" y="1417320"/>
            <a:ext cx="1783080" cy="457200"/>
          </a:xfrm>
          <a:prstGeom prst="rect">
            <a:avLst/>
          </a:prstGeom>
          <a:noFill/>
          <a:ln/>
        </p:spPr>
        <p:txBody>
          <a:bodyPr wrap="square" lIns="0" tIns="0" rIns="0" bIns="0" rtlCol="0" anchor="ctr"/>
          <a:lstStyle/>
          <a:p>
            <a:pPr indent="0" marL="0">
              <a:buNone/>
            </a:pPr>
            <a:r>
              <a:rPr lang="en-US" sz="1500" b="1" dirty="0">
                <a:solidFill>
                  <a:schemeClr val="tx1"/>
                </a:solidFill>
              </a:rPr>
              <a:t>Conflict-of-interest rule</a:t>
            </a:r>
            <a:endParaRPr lang="en-US" sz="1500" dirty="0"/>
          </a:p>
        </p:txBody>
      </p:sp>
      <p:sp>
        <p:nvSpPr>
          <p:cNvPr id="12" name="Text 8"/>
          <p:cNvSpPr txBox="1"/>
          <p:nvPr/>
        </p:nvSpPr>
        <p:spPr>
          <a:xfrm>
            <a:off x="3429000" y="2011680"/>
            <a:ext cx="2331720" cy="731520"/>
          </a:xfrm>
          <a:prstGeom prst="rect">
            <a:avLst/>
          </a:prstGeom>
          <a:noFill/>
          <a:ln/>
        </p:spPr>
        <p:txBody>
          <a:bodyPr wrap="square" lIns="0" tIns="0" rIns="0" bIns="0" rtlCol="0" anchor="t"/>
          <a:lstStyle/>
          <a:p>
            <a:pPr indent="0" marL="0">
              <a:buNone/>
            </a:pPr>
            <a:r>
              <a:rPr lang="en-US" sz="1400" dirty="0">
                <a:solidFill>
                  <a:schemeClr val="tx1"/>
                </a:solidFill>
              </a:rPr>
              <a:t>A referee never officiates their own team.</a:t>
            </a:r>
            <a:endParaRPr lang="en-US" sz="1400" dirty="0"/>
          </a:p>
        </p:txBody>
      </p:sp>
      <p:sp>
        <p:nvSpPr>
          <p:cNvPr id="13" name="Extra card 3"/>
          <p:cNvSpPr/>
          <p:nvPr/>
        </p:nvSpPr>
        <p:spPr>
          <a:xfrm>
            <a:off x="6035040" y="1234440"/>
            <a:ext cx="2651760" cy="1600200"/>
          </a:xfrm>
          <a:prstGeom prst="roundRect">
            <a:avLst>
              <a:gd name="adj" fmla="val 6857"/>
            </a:avLst>
          </a:prstGeom>
          <a:solidFill>
            <a:schemeClr val="bg2"/>
          </a:solidFill>
          <a:ln w="6350">
            <a:solidFill>
              <a:schemeClr val="bg2"/>
            </a:solidFill>
            <a:prstDash val="solid"/>
          </a:ln>
          <a:effectLst>
            <a:outerShdw sx="100000" sy="100000" kx="0" ky="0" algn="bl" rotWithShape="0" blurRad="76200" dist="25400" dir="5400000">
              <a:srgbClr val="000000">
                <a:alpha val="12000"/>
              </a:srgbClr>
            </a:outerShdw>
          </a:effectLst>
        </p:spPr>
      </p:sp>
      <p:sp>
        <p:nvSpPr>
          <p:cNvPr id="14" name="Rain planner badge"/>
          <p:cNvSpPr/>
          <p:nvPr/>
        </p:nvSpPr>
        <p:spPr>
          <a:xfrm>
            <a:off x="6217920" y="1417320"/>
            <a:ext cx="457200" cy="457200"/>
          </a:xfrm>
          <a:prstGeom prst="ellipse">
            <a:avLst/>
          </a:prstGeom>
          <a:solidFill>
            <a:srgbClr val="E64A19"/>
          </a:solidFill>
          <a:ln w="6350">
            <a:solidFill>
              <a:srgbClr val="E64A19"/>
            </a:solidFill>
            <a:prstDash val="solid"/>
          </a:ln>
        </p:spPr>
      </p:sp>
      <p:pic>
        <p:nvPicPr>
          <p:cNvPr id="15" name="Image 2" descr="Rain planner icon">    </p:cNvPr>
          <p:cNvPicPr>
            <a:picLocks noChangeAspect="1"/>
          </p:cNvPicPr>
          <p:nvPr/>
        </p:nvPicPr>
        <p:blipFill>
          <a:blip r:embed="rId3"/>
          <a:stretch>
            <a:fillRect/>
          </a:stretch>
        </p:blipFill>
        <p:spPr>
          <a:xfrm>
            <a:off x="6341364" y="1540764"/>
            <a:ext cx="210312" cy="210312"/>
          </a:xfrm>
          <a:prstGeom prst="rect">
            <a:avLst/>
          </a:prstGeom>
        </p:spPr>
      </p:pic>
      <p:sp>
        <p:nvSpPr>
          <p:cNvPr id="16" name="Text 11"/>
          <p:cNvSpPr txBox="1"/>
          <p:nvPr/>
        </p:nvSpPr>
        <p:spPr>
          <a:xfrm>
            <a:off x="6812280" y="1417320"/>
            <a:ext cx="1783080" cy="457200"/>
          </a:xfrm>
          <a:prstGeom prst="rect">
            <a:avLst/>
          </a:prstGeom>
          <a:noFill/>
          <a:ln/>
        </p:spPr>
        <p:txBody>
          <a:bodyPr wrap="square" lIns="0" tIns="0" rIns="0" bIns="0" rtlCol="0" anchor="ctr"/>
          <a:lstStyle/>
          <a:p>
            <a:pPr indent="0" marL="0">
              <a:buNone/>
            </a:pPr>
            <a:r>
              <a:rPr lang="en-US" sz="1500" b="1" dirty="0">
                <a:solidFill>
                  <a:schemeClr val="tx1"/>
                </a:solidFill>
              </a:rPr>
              <a:t>Rain planner</a:t>
            </a:r>
            <a:endParaRPr lang="en-US" sz="1500" dirty="0"/>
          </a:p>
        </p:txBody>
      </p:sp>
      <p:sp>
        <p:nvSpPr>
          <p:cNvPr id="17" name="Text 12"/>
          <p:cNvSpPr txBox="1"/>
          <p:nvPr/>
        </p:nvSpPr>
        <p:spPr>
          <a:xfrm>
            <a:off x="6217920" y="2011680"/>
            <a:ext cx="2331720" cy="731520"/>
          </a:xfrm>
          <a:prstGeom prst="rect">
            <a:avLst/>
          </a:prstGeom>
          <a:noFill/>
          <a:ln/>
        </p:spPr>
        <p:txBody>
          <a:bodyPr wrap="square" lIns="0" tIns="0" rIns="0" bIns="0" rtlCol="0" anchor="t"/>
          <a:lstStyle/>
          <a:p>
            <a:pPr indent="0" marL="0">
              <a:buNone/>
            </a:pPr>
            <a:r>
              <a:rPr lang="en-US" sz="1400" dirty="0">
                <a:solidFill>
                  <a:schemeClr val="tx1"/>
                </a:solidFill>
              </a:rPr>
              <a:t>Moves outdoor matches to free slots, indoors if possible.</a:t>
            </a:r>
            <a:endParaRPr lang="en-US" sz="1400" dirty="0"/>
          </a:p>
        </p:txBody>
      </p:sp>
      <p:sp>
        <p:nvSpPr>
          <p:cNvPr id="18" name="Extra card 4"/>
          <p:cNvSpPr/>
          <p:nvPr/>
        </p:nvSpPr>
        <p:spPr>
          <a:xfrm>
            <a:off x="457200" y="2971800"/>
            <a:ext cx="2651760" cy="1600200"/>
          </a:xfrm>
          <a:prstGeom prst="roundRect">
            <a:avLst>
              <a:gd name="adj" fmla="val 6857"/>
            </a:avLst>
          </a:prstGeom>
          <a:solidFill>
            <a:schemeClr val="bg2"/>
          </a:solidFill>
          <a:ln w="6350">
            <a:solidFill>
              <a:schemeClr val="bg2"/>
            </a:solidFill>
            <a:prstDash val="solid"/>
          </a:ln>
          <a:effectLst>
            <a:outerShdw sx="100000" sy="100000" kx="0" ky="0" algn="bl" rotWithShape="0" blurRad="76200" dist="25400" dir="5400000">
              <a:srgbClr val="000000">
                <a:alpha val="12000"/>
              </a:srgbClr>
            </a:outerShdw>
          </a:effectLst>
        </p:spPr>
      </p:sp>
      <p:sp>
        <p:nvSpPr>
          <p:cNvPr id="19" name="Venue map and check-in badge"/>
          <p:cNvSpPr/>
          <p:nvPr/>
        </p:nvSpPr>
        <p:spPr>
          <a:xfrm>
            <a:off x="640080" y="3154680"/>
            <a:ext cx="457200" cy="457200"/>
          </a:xfrm>
          <a:prstGeom prst="ellipse">
            <a:avLst/>
          </a:prstGeom>
          <a:solidFill>
            <a:srgbClr val="8E24AA"/>
          </a:solidFill>
          <a:ln w="6350">
            <a:solidFill>
              <a:srgbClr val="8E24AA"/>
            </a:solidFill>
            <a:prstDash val="solid"/>
          </a:ln>
        </p:spPr>
      </p:sp>
      <p:pic>
        <p:nvPicPr>
          <p:cNvPr id="20" name="Image 3" descr="Venue map and check-in icon">    </p:cNvPr>
          <p:cNvPicPr>
            <a:picLocks noChangeAspect="1"/>
          </p:cNvPicPr>
          <p:nvPr/>
        </p:nvPicPr>
        <p:blipFill>
          <a:blip r:embed="rId4"/>
          <a:stretch>
            <a:fillRect/>
          </a:stretch>
        </p:blipFill>
        <p:spPr>
          <a:xfrm>
            <a:off x="763524" y="3278124"/>
            <a:ext cx="210312" cy="210312"/>
          </a:xfrm>
          <a:prstGeom prst="rect">
            <a:avLst/>
          </a:prstGeom>
        </p:spPr>
      </p:pic>
      <p:sp>
        <p:nvSpPr>
          <p:cNvPr id="21" name="Text 15"/>
          <p:cNvSpPr txBox="1"/>
          <p:nvPr/>
        </p:nvSpPr>
        <p:spPr>
          <a:xfrm>
            <a:off x="1234440" y="3154680"/>
            <a:ext cx="1783080" cy="457200"/>
          </a:xfrm>
          <a:prstGeom prst="rect">
            <a:avLst/>
          </a:prstGeom>
          <a:noFill/>
          <a:ln/>
        </p:spPr>
        <p:txBody>
          <a:bodyPr wrap="square" lIns="0" tIns="0" rIns="0" bIns="0" rtlCol="0" anchor="ctr"/>
          <a:lstStyle/>
          <a:p>
            <a:pPr indent="0" marL="0">
              <a:buNone/>
            </a:pPr>
            <a:r>
              <a:rPr lang="en-US" sz="1500" b="1" dirty="0">
                <a:solidFill>
                  <a:schemeClr val="tx1"/>
                </a:solidFill>
              </a:rPr>
              <a:t>Venue map and check-in</a:t>
            </a:r>
            <a:endParaRPr lang="en-US" sz="1500" dirty="0"/>
          </a:p>
        </p:txBody>
      </p:sp>
      <p:sp>
        <p:nvSpPr>
          <p:cNvPr id="22" name="Text 16"/>
          <p:cNvSpPr txBox="1"/>
          <p:nvPr/>
        </p:nvSpPr>
        <p:spPr>
          <a:xfrm>
            <a:off x="640080" y="3749040"/>
            <a:ext cx="2331720" cy="731520"/>
          </a:xfrm>
          <a:prstGeom prst="rect">
            <a:avLst/>
          </a:prstGeom>
          <a:noFill/>
          <a:ln/>
        </p:spPr>
        <p:txBody>
          <a:bodyPr wrap="square" lIns="0" tIns="0" rIns="0" bIns="0" rtlCol="0" anchor="t"/>
          <a:lstStyle/>
          <a:p>
            <a:pPr indent="0" marL="0">
              <a:buNone/>
            </a:pPr>
            <a:r>
              <a:rPr lang="en-US" sz="1400" dirty="0">
                <a:solidFill>
                  <a:schemeClr val="tx1"/>
                </a:solidFill>
              </a:rPr>
              <a:t>Google Map pins, and referees check in by GPS.</a:t>
            </a:r>
            <a:endParaRPr lang="en-US" sz="1400" dirty="0"/>
          </a:p>
        </p:txBody>
      </p:sp>
      <p:sp>
        <p:nvSpPr>
          <p:cNvPr id="23" name="Extra card 5"/>
          <p:cNvSpPr/>
          <p:nvPr/>
        </p:nvSpPr>
        <p:spPr>
          <a:xfrm>
            <a:off x="3246120" y="2971800"/>
            <a:ext cx="2651760" cy="1600200"/>
          </a:xfrm>
          <a:prstGeom prst="roundRect">
            <a:avLst>
              <a:gd name="adj" fmla="val 6857"/>
            </a:avLst>
          </a:prstGeom>
          <a:solidFill>
            <a:schemeClr val="bg2"/>
          </a:solidFill>
          <a:ln w="6350">
            <a:solidFill>
              <a:schemeClr val="bg2"/>
            </a:solidFill>
            <a:prstDash val="solid"/>
          </a:ln>
          <a:effectLst>
            <a:outerShdw sx="100000" sy="100000" kx="0" ky="0" algn="bl" rotWithShape="0" blurRad="76200" dist="25400" dir="5400000">
              <a:srgbClr val="000000">
                <a:alpha val="12000"/>
              </a:srgbClr>
            </a:outerShdw>
          </a:effectLst>
        </p:spPr>
      </p:sp>
      <p:sp>
        <p:nvSpPr>
          <p:cNvPr id="24" name="Team logos that sync badge"/>
          <p:cNvSpPr/>
          <p:nvPr/>
        </p:nvSpPr>
        <p:spPr>
          <a:xfrm>
            <a:off x="3429000" y="3154680"/>
            <a:ext cx="457200" cy="457200"/>
          </a:xfrm>
          <a:prstGeom prst="ellipse">
            <a:avLst/>
          </a:prstGeom>
          <a:solidFill>
            <a:srgbClr val="5C6BC0"/>
          </a:solidFill>
          <a:ln w="6350">
            <a:solidFill>
              <a:srgbClr val="5C6BC0"/>
            </a:solidFill>
            <a:prstDash val="solid"/>
          </a:ln>
        </p:spPr>
      </p:sp>
      <p:pic>
        <p:nvPicPr>
          <p:cNvPr id="25" name="Image 4" descr="Team logos that sync icon">    </p:cNvPr>
          <p:cNvPicPr>
            <a:picLocks noChangeAspect="1"/>
          </p:cNvPicPr>
          <p:nvPr/>
        </p:nvPicPr>
        <p:blipFill>
          <a:blip r:embed="rId5"/>
          <a:stretch>
            <a:fillRect/>
          </a:stretch>
        </p:blipFill>
        <p:spPr>
          <a:xfrm>
            <a:off x="3552444" y="3278124"/>
            <a:ext cx="210312" cy="210312"/>
          </a:xfrm>
          <a:prstGeom prst="rect">
            <a:avLst/>
          </a:prstGeom>
        </p:spPr>
      </p:pic>
      <p:sp>
        <p:nvSpPr>
          <p:cNvPr id="26" name="Text 19"/>
          <p:cNvSpPr txBox="1"/>
          <p:nvPr/>
        </p:nvSpPr>
        <p:spPr>
          <a:xfrm>
            <a:off x="4023360" y="3154680"/>
            <a:ext cx="1783080" cy="457200"/>
          </a:xfrm>
          <a:prstGeom prst="rect">
            <a:avLst/>
          </a:prstGeom>
          <a:noFill/>
          <a:ln/>
        </p:spPr>
        <p:txBody>
          <a:bodyPr wrap="square" lIns="0" tIns="0" rIns="0" bIns="0" rtlCol="0" anchor="ctr"/>
          <a:lstStyle/>
          <a:p>
            <a:pPr indent="0" marL="0">
              <a:buNone/>
            </a:pPr>
            <a:r>
              <a:rPr lang="en-US" sz="1500" b="1" dirty="0">
                <a:solidFill>
                  <a:schemeClr val="tx1"/>
                </a:solidFill>
              </a:rPr>
              <a:t>Team logos that sync</a:t>
            </a:r>
            <a:endParaRPr lang="en-US" sz="1500" dirty="0"/>
          </a:p>
        </p:txBody>
      </p:sp>
      <p:sp>
        <p:nvSpPr>
          <p:cNvPr id="27" name="Text 20"/>
          <p:cNvSpPr txBox="1"/>
          <p:nvPr/>
        </p:nvSpPr>
        <p:spPr>
          <a:xfrm>
            <a:off x="3429000" y="3749040"/>
            <a:ext cx="2331720" cy="731520"/>
          </a:xfrm>
          <a:prstGeom prst="rect">
            <a:avLst/>
          </a:prstGeom>
          <a:noFill/>
          <a:ln/>
        </p:spPr>
        <p:txBody>
          <a:bodyPr wrap="square" lIns="0" tIns="0" rIns="0" bIns="0" rtlCol="0" anchor="t"/>
          <a:lstStyle/>
          <a:p>
            <a:pPr indent="0" marL="0">
              <a:buNone/>
            </a:pPr>
            <a:r>
              <a:rPr lang="en-US" sz="1400" dirty="0">
                <a:solidFill>
                  <a:schemeClr val="tx1"/>
                </a:solidFill>
              </a:rPr>
              <a:t>Logos travel inside the same change log.</a:t>
            </a:r>
            <a:endParaRPr lang="en-US" sz="1400" dirty="0"/>
          </a:p>
        </p:txBody>
      </p:sp>
      <p:sp>
        <p:nvSpPr>
          <p:cNvPr id="28" name="Extra card 6"/>
          <p:cNvSpPr/>
          <p:nvPr/>
        </p:nvSpPr>
        <p:spPr>
          <a:xfrm>
            <a:off x="6035040" y="2971800"/>
            <a:ext cx="2651760" cy="1600200"/>
          </a:xfrm>
          <a:prstGeom prst="roundRect">
            <a:avLst>
              <a:gd name="adj" fmla="val 6857"/>
            </a:avLst>
          </a:prstGeom>
          <a:solidFill>
            <a:schemeClr val="bg2"/>
          </a:solidFill>
          <a:ln w="6350">
            <a:solidFill>
              <a:schemeClr val="bg2"/>
            </a:solidFill>
            <a:prstDash val="solid"/>
          </a:ln>
          <a:effectLst>
            <a:outerShdw sx="100000" sy="100000" kx="0" ky="0" algn="bl" rotWithShape="0" blurRad="76200" dist="25400" dir="5400000">
              <a:srgbClr val="000000">
                <a:alpha val="12000"/>
              </a:srgbClr>
            </a:outerShdw>
          </a:effectLst>
        </p:spPr>
      </p:sp>
      <p:sp>
        <p:nvSpPr>
          <p:cNvPr id="29" name="Insights dashboard badge"/>
          <p:cNvSpPr/>
          <p:nvPr/>
        </p:nvSpPr>
        <p:spPr>
          <a:xfrm>
            <a:off x="6217920" y="3154680"/>
            <a:ext cx="457200" cy="457200"/>
          </a:xfrm>
          <a:prstGeom prst="ellipse">
            <a:avLst/>
          </a:prstGeom>
          <a:solidFill>
            <a:srgbClr val="3949AB"/>
          </a:solidFill>
          <a:ln w="6350">
            <a:solidFill>
              <a:srgbClr val="3949AB"/>
            </a:solidFill>
            <a:prstDash val="solid"/>
          </a:ln>
        </p:spPr>
      </p:sp>
      <p:pic>
        <p:nvPicPr>
          <p:cNvPr id="30" name="Image 5" descr="Insights dashboard icon">    </p:cNvPr>
          <p:cNvPicPr>
            <a:picLocks noChangeAspect="1"/>
          </p:cNvPicPr>
          <p:nvPr/>
        </p:nvPicPr>
        <p:blipFill>
          <a:blip r:embed="rId6"/>
          <a:stretch>
            <a:fillRect/>
          </a:stretch>
        </p:blipFill>
        <p:spPr>
          <a:xfrm>
            <a:off x="6341364" y="3278124"/>
            <a:ext cx="210312" cy="210312"/>
          </a:xfrm>
          <a:prstGeom prst="rect">
            <a:avLst/>
          </a:prstGeom>
        </p:spPr>
      </p:pic>
      <p:sp>
        <p:nvSpPr>
          <p:cNvPr id="31" name="Text 23"/>
          <p:cNvSpPr txBox="1"/>
          <p:nvPr/>
        </p:nvSpPr>
        <p:spPr>
          <a:xfrm>
            <a:off x="6812280" y="3154680"/>
            <a:ext cx="1783080" cy="457200"/>
          </a:xfrm>
          <a:prstGeom prst="rect">
            <a:avLst/>
          </a:prstGeom>
          <a:noFill/>
          <a:ln/>
        </p:spPr>
        <p:txBody>
          <a:bodyPr wrap="square" lIns="0" tIns="0" rIns="0" bIns="0" rtlCol="0" anchor="ctr"/>
          <a:lstStyle/>
          <a:p>
            <a:pPr indent="0" marL="0">
              <a:buNone/>
            </a:pPr>
            <a:r>
              <a:rPr lang="en-US" sz="1500" b="1" dirty="0">
                <a:solidFill>
                  <a:schemeClr val="tx1"/>
                </a:solidFill>
              </a:rPr>
              <a:t>Insights dashboard</a:t>
            </a:r>
            <a:endParaRPr lang="en-US" sz="1500" dirty="0"/>
          </a:p>
        </p:txBody>
      </p:sp>
      <p:sp>
        <p:nvSpPr>
          <p:cNvPr id="32" name="Text 24"/>
          <p:cNvSpPr txBox="1"/>
          <p:nvPr/>
        </p:nvSpPr>
        <p:spPr>
          <a:xfrm>
            <a:off x="6217920" y="3749040"/>
            <a:ext cx="2331720" cy="731520"/>
          </a:xfrm>
          <a:prstGeom prst="rect">
            <a:avLst/>
          </a:prstGeom>
          <a:noFill/>
          <a:ln/>
        </p:spPr>
        <p:txBody>
          <a:bodyPr wrap="square" lIns="0" tIns="0" rIns="0" bIns="0" rtlCol="0" anchor="t"/>
          <a:lstStyle/>
          <a:p>
            <a:pPr indent="0" marL="0">
              <a:buNone/>
            </a:pPr>
            <a:r>
              <a:rPr lang="en-US" sz="1400" dirty="0">
                <a:solidFill>
                  <a:schemeClr val="tx1"/>
                </a:solidFill>
              </a:rPr>
              <a:t>Fairness, waiting time and delay resilience at a glance.</a:t>
            </a:r>
            <a:endParaRPr lang="en-US" sz="1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algn="l" indent="0" marL="0">
              <a:buNone/>
            </a:pPr>
            <a:r>
              <a:rPr lang="en-US" sz="3400" b="1" dirty="0">
                <a:solidFill>
                  <a:schemeClr val="tx1"/>
                </a:solidFill>
              </a:rPr>
              <a:t>Tools and syllabus coverage</a:t>
            </a:r>
            <a:endParaRPr lang="en-US" sz="3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2377440"/>
                <a:gridCol w="5852160"/>
              </a:tblGrid>
              <a:tr h="411480">
                <a:tc>
                  <a:txBody>
                    <a:bodyPr/>
                    <a:lstStyle/>
                    <a:p>
                      <a:pPr indent="0" marL="0">
                        <a:buNone/>
                      </a:pPr>
                      <a:r>
                        <a:rPr lang="en-US" sz="1400" b="1" dirty="0">
                          <a:solidFill>
                            <a:srgbClr val="FFFFFF"/>
                          </a:solidFill>
                        </a:rPr>
                        <a:t>Unit</a:t>
                      </a:r>
                      <a:endParaRPr lang="en-US" sz="1400" dirty="0"/>
                    </a:p>
                  </a:txBody>
                  <a:tcPr marL="109728" marR="109728" marT="0" marB="0" anchor="ctr">
                    <a:lnL w="6350" cap="flat" cmpd="sng" algn="ctr">
                      <a:solidFill>
                        <a:srgbClr val="D9D4F0"/>
                      </a:solidFill>
                      <a:prstDash val="solid"/>
                      <a:round/>
                      <a:headEnd type="none" w="med" len="med"/>
                      <a:tailEnd type="none" w="med" len="med"/>
                    </a:lnL>
                    <a:lnR w="6350" cap="flat" cmpd="sng" algn="ctr">
                      <a:solidFill>
                        <a:srgbClr val="D9D4F0"/>
                      </a:solidFill>
                      <a:prstDash val="solid"/>
                      <a:round/>
                      <a:headEnd type="none" w="med" len="med"/>
                      <a:tailEnd type="none" w="med" len="med"/>
                    </a:lnR>
                    <a:lnT w="6350" cap="flat" cmpd="sng" algn="ctr">
                      <a:solidFill>
                        <a:srgbClr val="D9D4F0"/>
                      </a:solidFill>
                      <a:prstDash val="solid"/>
                      <a:round/>
                      <a:headEnd type="none" w="med" len="med"/>
                      <a:tailEnd type="none" w="med" len="med"/>
                    </a:lnT>
                    <a:lnB w="6350" cap="flat" cmpd="sng" algn="ctr">
                      <a:solidFill>
                        <a:srgbClr val="D9D4F0"/>
                      </a:solidFill>
                      <a:prstDash val="solid"/>
                      <a:round/>
                      <a:headEnd type="none" w="med" len="med"/>
                      <a:tailEnd type="none" w="med" len="med"/>
                    </a:lnB>
                    <a:solidFill>
                      <a:srgbClr val="3949AB"/>
                    </a:solidFill>
                  </a:tcPr>
                </a:tc>
                <a:tc>
                  <a:txBody>
                    <a:bodyPr/>
                    <a:lstStyle/>
                    <a:p>
                      <a:pPr indent="0" marL="0">
                        <a:buNone/>
                      </a:pPr>
                      <a:r>
                        <a:rPr lang="en-US" sz="1400" b="1" dirty="0">
                          <a:solidFill>
                            <a:srgbClr val="FFFFFF"/>
                          </a:solidFill>
                        </a:rPr>
                        <a:t>Where it shows up</a:t>
                      </a:r>
                      <a:endParaRPr lang="en-US" sz="1400" dirty="0"/>
                    </a:p>
                  </a:txBody>
                  <a:tcPr marL="109728" marR="109728" marT="0" marB="0" anchor="ctr">
                    <a:lnL w="6350" cap="flat" cmpd="sng" algn="ctr">
                      <a:solidFill>
                        <a:srgbClr val="D9D4F0"/>
                      </a:solidFill>
                      <a:prstDash val="solid"/>
                      <a:round/>
                      <a:headEnd type="none" w="med" len="med"/>
                      <a:tailEnd type="none" w="med" len="med"/>
                    </a:lnL>
                    <a:lnR w="6350" cap="flat" cmpd="sng" algn="ctr">
                      <a:solidFill>
                        <a:srgbClr val="D9D4F0"/>
                      </a:solidFill>
                      <a:prstDash val="solid"/>
                      <a:round/>
                      <a:headEnd type="none" w="med" len="med"/>
                      <a:tailEnd type="none" w="med" len="med"/>
                    </a:lnR>
                    <a:lnT w="6350" cap="flat" cmpd="sng" algn="ctr">
                      <a:solidFill>
                        <a:srgbClr val="D9D4F0"/>
                      </a:solidFill>
                      <a:prstDash val="solid"/>
                      <a:round/>
                      <a:headEnd type="none" w="med" len="med"/>
                      <a:tailEnd type="none" w="med" len="med"/>
                    </a:lnT>
                    <a:lnB w="6350" cap="flat" cmpd="sng" algn="ctr">
                      <a:solidFill>
                        <a:srgbClr val="D9D4F0"/>
                      </a:solidFill>
                      <a:prstDash val="solid"/>
                      <a:round/>
                      <a:headEnd type="none" w="med" len="med"/>
                      <a:tailEnd type="none" w="med" len="med"/>
                    </a:lnB>
                    <a:solidFill>
                      <a:srgbClr val="3949AB"/>
                    </a:solidFill>
                  </a:tcPr>
                </a:tc>
              </a:tr>
              <a:tr h="411480">
                <a:tc>
                  <a:txBody>
                    <a:bodyPr/>
                    <a:lstStyle/>
                    <a:p>
                      <a:pPr indent="0" marL="0">
                        <a:buNone/>
                      </a:pPr>
                      <a:r>
                        <a:rPr lang="en-US" sz="1400" b="1" dirty="0">
                          <a:solidFill>
                            <a:srgbClr val="1A1446"/>
                          </a:solidFill>
                        </a:rPr>
                        <a:t>1. Platform setup</a:t>
                      </a:r>
                      <a:endParaRPr lang="en-US" sz="1400" dirty="0"/>
                    </a:p>
                  </a:txBody>
                  <a:tcPr marL="109728" marR="109728" marT="0" marB="0" anchor="ctr">
                    <a:lnL w="6350" cap="flat" cmpd="sng" algn="ctr">
                      <a:solidFill>
                        <a:srgbClr val="D9D4F0"/>
                      </a:solidFill>
                      <a:prstDash val="solid"/>
                      <a:round/>
                      <a:headEnd type="none" w="med" len="med"/>
                      <a:tailEnd type="none" w="med" len="med"/>
                    </a:lnL>
                    <a:lnR w="6350" cap="flat" cmpd="sng" algn="ctr">
                      <a:solidFill>
                        <a:srgbClr val="D9D4F0"/>
                      </a:solidFill>
                      <a:prstDash val="solid"/>
                      <a:round/>
                      <a:headEnd type="none" w="med" len="med"/>
                      <a:tailEnd type="none" w="med" len="med"/>
                    </a:lnR>
                    <a:lnT w="6350" cap="flat" cmpd="sng" algn="ctr">
                      <a:solidFill>
                        <a:srgbClr val="D9D4F0"/>
                      </a:solidFill>
                      <a:prstDash val="solid"/>
                      <a:round/>
                      <a:headEnd type="none" w="med" len="med"/>
                      <a:tailEnd type="none" w="med" len="med"/>
                    </a:lnT>
                    <a:lnB w="6350" cap="flat" cmpd="sng" algn="ctr">
                      <a:solidFill>
                        <a:srgbClr val="D9D4F0"/>
                      </a:solidFill>
                      <a:prstDash val="solid"/>
                      <a:round/>
                      <a:headEnd type="none" w="med" len="med"/>
                      <a:tailEnd type="none" w="med" len="med"/>
                    </a:lnB>
                    <a:solidFill>
                      <a:srgbClr val="F3F1FB"/>
                    </a:solidFill>
                  </a:tcPr>
                </a:tc>
                <a:tc>
                  <a:txBody>
                    <a:bodyPr/>
                    <a:lstStyle/>
                    <a:p>
                      <a:pPr indent="0" marL="0">
                        <a:buNone/>
                      </a:pPr>
                      <a:r>
                        <a:rPr lang="en-US" sz="1400" dirty="0">
                          <a:solidFill>
                            <a:srgbClr val="1A1446"/>
                          </a:solidFill>
                        </a:rPr>
                        <a:t>Android Studio, Gradle, Firebase configuration</a:t>
                      </a:r>
                      <a:endParaRPr lang="en-US" sz="1400" dirty="0"/>
                    </a:p>
                  </a:txBody>
                  <a:tcPr marL="109728" marR="109728" marT="0" marB="0" anchor="ctr">
                    <a:lnL w="6350" cap="flat" cmpd="sng" algn="ctr">
                      <a:solidFill>
                        <a:srgbClr val="D9D4F0"/>
                      </a:solidFill>
                      <a:prstDash val="solid"/>
                      <a:round/>
                      <a:headEnd type="none" w="med" len="med"/>
                      <a:tailEnd type="none" w="med" len="med"/>
                    </a:lnL>
                    <a:lnR w="6350" cap="flat" cmpd="sng" algn="ctr">
                      <a:solidFill>
                        <a:srgbClr val="D9D4F0"/>
                      </a:solidFill>
                      <a:prstDash val="solid"/>
                      <a:round/>
                      <a:headEnd type="none" w="med" len="med"/>
                      <a:tailEnd type="none" w="med" len="med"/>
                    </a:lnR>
                    <a:lnT w="6350" cap="flat" cmpd="sng" algn="ctr">
                      <a:solidFill>
                        <a:srgbClr val="D9D4F0"/>
                      </a:solidFill>
                      <a:prstDash val="solid"/>
                      <a:round/>
                      <a:headEnd type="none" w="med" len="med"/>
                      <a:tailEnd type="none" w="med" len="med"/>
                    </a:lnT>
                    <a:lnB w="6350" cap="flat" cmpd="sng" algn="ctr">
                      <a:solidFill>
                        <a:srgbClr val="D9D4F0"/>
                      </a:solidFill>
                      <a:prstDash val="solid"/>
                      <a:round/>
                      <a:headEnd type="none" w="med" len="med"/>
                      <a:tailEnd type="none" w="med" len="med"/>
                    </a:lnB>
                    <a:solidFill>
                      <a:srgbClr val="F3F1FB"/>
                    </a:solidFill>
                  </a:tcPr>
                </a:tc>
              </a:tr>
              <a:tr h="411480">
                <a:tc>
                  <a:txBody>
                    <a:bodyPr/>
                    <a:lstStyle/>
                    <a:p>
                      <a:pPr indent="0" marL="0">
                        <a:buNone/>
                      </a:pPr>
                      <a:r>
                        <a:rPr lang="en-US" sz="1400" b="1" dirty="0">
                          <a:solidFill>
                            <a:srgbClr val="1A1446"/>
                          </a:solidFill>
                        </a:rPr>
                        <a:t>2. UI components</a:t>
                      </a:r>
                      <a:endParaRPr lang="en-US" sz="1400" dirty="0"/>
                    </a:p>
                  </a:txBody>
                  <a:tcPr marL="109728" marR="109728" marT="0" marB="0" anchor="ctr">
                    <a:lnL w="6350" cap="flat" cmpd="sng" algn="ctr">
                      <a:solidFill>
                        <a:srgbClr val="D9D4F0"/>
                      </a:solidFill>
                      <a:prstDash val="solid"/>
                      <a:round/>
                      <a:headEnd type="none" w="med" len="med"/>
                      <a:tailEnd type="none" w="med" len="med"/>
                    </a:lnL>
                    <a:lnR w="6350" cap="flat" cmpd="sng" algn="ctr">
                      <a:solidFill>
                        <a:srgbClr val="D9D4F0"/>
                      </a:solidFill>
                      <a:prstDash val="solid"/>
                      <a:round/>
                      <a:headEnd type="none" w="med" len="med"/>
                      <a:tailEnd type="none" w="med" len="med"/>
                    </a:lnR>
                    <a:lnT w="6350" cap="flat" cmpd="sng" algn="ctr">
                      <a:solidFill>
                        <a:srgbClr val="D9D4F0"/>
                      </a:solidFill>
                      <a:prstDash val="solid"/>
                      <a:round/>
                      <a:headEnd type="none" w="med" len="med"/>
                      <a:tailEnd type="none" w="med" len="med"/>
                    </a:lnT>
                    <a:lnB w="6350" cap="flat" cmpd="sng" algn="ctr">
                      <a:solidFill>
                        <a:srgbClr val="D9D4F0"/>
                      </a:solidFill>
                      <a:prstDash val="solid"/>
                      <a:round/>
                      <a:headEnd type="none" w="med" len="med"/>
                      <a:tailEnd type="none" w="med" len="med"/>
                    </a:lnB>
                    <a:solidFill>
                      <a:srgbClr val="FFFFFF"/>
                    </a:solidFill>
                  </a:tcPr>
                </a:tc>
                <a:tc>
                  <a:txBody>
                    <a:bodyPr/>
                    <a:lstStyle/>
                    <a:p>
                      <a:pPr indent="0" marL="0">
                        <a:buNone/>
                      </a:pPr>
                      <a:r>
                        <a:rPr lang="en-US" sz="1400" dirty="0">
                          <a:solidFill>
                            <a:srgbClr val="1A1446"/>
                          </a:solidFill>
                        </a:rPr>
                        <a:t>Pickers, lists, dialogs, many screens, glass-style Material design</a:t>
                      </a:r>
                      <a:endParaRPr lang="en-US" sz="1400" dirty="0"/>
                    </a:p>
                  </a:txBody>
                  <a:tcPr marL="109728" marR="109728" marT="0" marB="0" anchor="ctr">
                    <a:lnL w="6350" cap="flat" cmpd="sng" algn="ctr">
                      <a:solidFill>
                        <a:srgbClr val="D9D4F0"/>
                      </a:solidFill>
                      <a:prstDash val="solid"/>
                      <a:round/>
                      <a:headEnd type="none" w="med" len="med"/>
                      <a:tailEnd type="none" w="med" len="med"/>
                    </a:lnL>
                    <a:lnR w="6350" cap="flat" cmpd="sng" algn="ctr">
                      <a:solidFill>
                        <a:srgbClr val="D9D4F0"/>
                      </a:solidFill>
                      <a:prstDash val="solid"/>
                      <a:round/>
                      <a:headEnd type="none" w="med" len="med"/>
                      <a:tailEnd type="none" w="med" len="med"/>
                    </a:lnR>
                    <a:lnT w="6350" cap="flat" cmpd="sng" algn="ctr">
                      <a:solidFill>
                        <a:srgbClr val="D9D4F0"/>
                      </a:solidFill>
                      <a:prstDash val="solid"/>
                      <a:round/>
                      <a:headEnd type="none" w="med" len="med"/>
                      <a:tailEnd type="none" w="med" len="med"/>
                    </a:lnT>
                    <a:lnB w="6350" cap="flat" cmpd="sng" algn="ctr">
                      <a:solidFill>
                        <a:srgbClr val="D9D4F0"/>
                      </a:solidFill>
                      <a:prstDash val="solid"/>
                      <a:round/>
                      <a:headEnd type="none" w="med" len="med"/>
                      <a:tailEnd type="none" w="med" len="med"/>
                    </a:lnB>
                    <a:solidFill>
                      <a:srgbClr val="FFFFFF"/>
                    </a:solidFill>
                  </a:tcPr>
                </a:tc>
              </a:tr>
              <a:tr h="411480">
                <a:tc>
                  <a:txBody>
                    <a:bodyPr/>
                    <a:lstStyle/>
                    <a:p>
                      <a:pPr indent="0" marL="0">
                        <a:buNone/>
                      </a:pPr>
                      <a:r>
                        <a:rPr lang="en-US" sz="1400" b="1" dirty="0">
                          <a:solidFill>
                            <a:srgbClr val="1A1446"/>
                          </a:solidFill>
                        </a:rPr>
                        <a:t>3. Images and files</a:t>
                      </a:r>
                      <a:endParaRPr lang="en-US" sz="1400" dirty="0"/>
                    </a:p>
                  </a:txBody>
                  <a:tcPr marL="109728" marR="109728" marT="0" marB="0" anchor="ctr">
                    <a:lnL w="6350" cap="flat" cmpd="sng" algn="ctr">
                      <a:solidFill>
                        <a:srgbClr val="D9D4F0"/>
                      </a:solidFill>
                      <a:prstDash val="solid"/>
                      <a:round/>
                      <a:headEnd type="none" w="med" len="med"/>
                      <a:tailEnd type="none" w="med" len="med"/>
                    </a:lnL>
                    <a:lnR w="6350" cap="flat" cmpd="sng" algn="ctr">
                      <a:solidFill>
                        <a:srgbClr val="D9D4F0"/>
                      </a:solidFill>
                      <a:prstDash val="solid"/>
                      <a:round/>
                      <a:headEnd type="none" w="med" len="med"/>
                      <a:tailEnd type="none" w="med" len="med"/>
                    </a:lnR>
                    <a:lnT w="6350" cap="flat" cmpd="sng" algn="ctr">
                      <a:solidFill>
                        <a:srgbClr val="D9D4F0"/>
                      </a:solidFill>
                      <a:prstDash val="solid"/>
                      <a:round/>
                      <a:headEnd type="none" w="med" len="med"/>
                      <a:tailEnd type="none" w="med" len="med"/>
                    </a:lnT>
                    <a:lnB w="6350" cap="flat" cmpd="sng" algn="ctr">
                      <a:solidFill>
                        <a:srgbClr val="D9D4F0"/>
                      </a:solidFill>
                      <a:prstDash val="solid"/>
                      <a:round/>
                      <a:headEnd type="none" w="med" len="med"/>
                      <a:tailEnd type="none" w="med" len="med"/>
                    </a:lnB>
                    <a:solidFill>
                      <a:srgbClr val="F3F1FB"/>
                    </a:solidFill>
                  </a:tcPr>
                </a:tc>
                <a:tc>
                  <a:txBody>
                    <a:bodyPr/>
                    <a:lstStyle/>
                    <a:p>
                      <a:pPr indent="0" marL="0">
                        <a:buNone/>
                      </a:pPr>
                      <a:r>
                        <a:rPr lang="en-US" sz="1400" dirty="0">
                          <a:solidFill>
                            <a:srgbClr val="1A1446"/>
                          </a:solidFill>
                        </a:rPr>
                        <a:t>Team logos, CSV export, file-based sync</a:t>
                      </a:r>
                      <a:endParaRPr lang="en-US" sz="1400" dirty="0"/>
                    </a:p>
                  </a:txBody>
                  <a:tcPr marL="109728" marR="109728" marT="0" marB="0" anchor="ctr">
                    <a:lnL w="6350" cap="flat" cmpd="sng" algn="ctr">
                      <a:solidFill>
                        <a:srgbClr val="D9D4F0"/>
                      </a:solidFill>
                      <a:prstDash val="solid"/>
                      <a:round/>
                      <a:headEnd type="none" w="med" len="med"/>
                      <a:tailEnd type="none" w="med" len="med"/>
                    </a:lnL>
                    <a:lnR w="6350" cap="flat" cmpd="sng" algn="ctr">
                      <a:solidFill>
                        <a:srgbClr val="D9D4F0"/>
                      </a:solidFill>
                      <a:prstDash val="solid"/>
                      <a:round/>
                      <a:headEnd type="none" w="med" len="med"/>
                      <a:tailEnd type="none" w="med" len="med"/>
                    </a:lnR>
                    <a:lnT w="6350" cap="flat" cmpd="sng" algn="ctr">
                      <a:solidFill>
                        <a:srgbClr val="D9D4F0"/>
                      </a:solidFill>
                      <a:prstDash val="solid"/>
                      <a:round/>
                      <a:headEnd type="none" w="med" len="med"/>
                      <a:tailEnd type="none" w="med" len="med"/>
                    </a:lnT>
                    <a:lnB w="6350" cap="flat" cmpd="sng" algn="ctr">
                      <a:solidFill>
                        <a:srgbClr val="D9D4F0"/>
                      </a:solidFill>
                      <a:prstDash val="solid"/>
                      <a:round/>
                      <a:headEnd type="none" w="med" len="med"/>
                      <a:tailEnd type="none" w="med" len="med"/>
                    </a:lnB>
                    <a:solidFill>
                      <a:srgbClr val="F3F1FB"/>
                    </a:solidFill>
                  </a:tcPr>
                </a:tc>
              </a:tr>
              <a:tr h="411480">
                <a:tc>
                  <a:txBody>
                    <a:bodyPr/>
                    <a:lstStyle/>
                    <a:p>
                      <a:pPr indent="0" marL="0">
                        <a:buNone/>
                      </a:pPr>
                      <a:r>
                        <a:rPr lang="en-US" sz="1400" b="1" dirty="0">
                          <a:solidFill>
                            <a:srgbClr val="1A1446"/>
                          </a:solidFill>
                        </a:rPr>
                        <a:t>4. Location</a:t>
                      </a:r>
                      <a:endParaRPr lang="en-US" sz="1400" dirty="0"/>
                    </a:p>
                  </a:txBody>
                  <a:tcPr marL="109728" marR="109728" marT="0" marB="0" anchor="ctr">
                    <a:lnL w="6350" cap="flat" cmpd="sng" algn="ctr">
                      <a:solidFill>
                        <a:srgbClr val="D9D4F0"/>
                      </a:solidFill>
                      <a:prstDash val="solid"/>
                      <a:round/>
                      <a:headEnd type="none" w="med" len="med"/>
                      <a:tailEnd type="none" w="med" len="med"/>
                    </a:lnL>
                    <a:lnR w="6350" cap="flat" cmpd="sng" algn="ctr">
                      <a:solidFill>
                        <a:srgbClr val="D9D4F0"/>
                      </a:solidFill>
                      <a:prstDash val="solid"/>
                      <a:round/>
                      <a:headEnd type="none" w="med" len="med"/>
                      <a:tailEnd type="none" w="med" len="med"/>
                    </a:lnR>
                    <a:lnT w="6350" cap="flat" cmpd="sng" algn="ctr">
                      <a:solidFill>
                        <a:srgbClr val="D9D4F0"/>
                      </a:solidFill>
                      <a:prstDash val="solid"/>
                      <a:round/>
                      <a:headEnd type="none" w="med" len="med"/>
                      <a:tailEnd type="none" w="med" len="med"/>
                    </a:lnT>
                    <a:lnB w="6350" cap="flat" cmpd="sng" algn="ctr">
                      <a:solidFill>
                        <a:srgbClr val="D9D4F0"/>
                      </a:solidFill>
                      <a:prstDash val="solid"/>
                      <a:round/>
                      <a:headEnd type="none" w="med" len="med"/>
                      <a:tailEnd type="none" w="med" len="med"/>
                    </a:lnB>
                    <a:solidFill>
                      <a:srgbClr val="FFFFFF"/>
                    </a:solidFill>
                  </a:tcPr>
                </a:tc>
                <a:tc>
                  <a:txBody>
                    <a:bodyPr/>
                    <a:lstStyle/>
                    <a:p>
                      <a:pPr indent="0" marL="0">
                        <a:buNone/>
                      </a:pPr>
                      <a:r>
                        <a:rPr lang="en-US" sz="1400" dirty="0">
                          <a:solidFill>
                            <a:srgbClr val="1A1446"/>
                          </a:solidFill>
                        </a:rPr>
                        <a:t>Google Maps venue pins, GPS referee check-in</a:t>
                      </a:r>
                      <a:endParaRPr lang="en-US" sz="1400" dirty="0"/>
                    </a:p>
                  </a:txBody>
                  <a:tcPr marL="109728" marR="109728" marT="0" marB="0" anchor="ctr">
                    <a:lnL w="6350" cap="flat" cmpd="sng" algn="ctr">
                      <a:solidFill>
                        <a:srgbClr val="D9D4F0"/>
                      </a:solidFill>
                      <a:prstDash val="solid"/>
                      <a:round/>
                      <a:headEnd type="none" w="med" len="med"/>
                      <a:tailEnd type="none" w="med" len="med"/>
                    </a:lnL>
                    <a:lnR w="6350" cap="flat" cmpd="sng" algn="ctr">
                      <a:solidFill>
                        <a:srgbClr val="D9D4F0"/>
                      </a:solidFill>
                      <a:prstDash val="solid"/>
                      <a:round/>
                      <a:headEnd type="none" w="med" len="med"/>
                      <a:tailEnd type="none" w="med" len="med"/>
                    </a:lnR>
                    <a:lnT w="6350" cap="flat" cmpd="sng" algn="ctr">
                      <a:solidFill>
                        <a:srgbClr val="D9D4F0"/>
                      </a:solidFill>
                      <a:prstDash val="solid"/>
                      <a:round/>
                      <a:headEnd type="none" w="med" len="med"/>
                      <a:tailEnd type="none" w="med" len="med"/>
                    </a:lnT>
                    <a:lnB w="6350" cap="flat" cmpd="sng" algn="ctr">
                      <a:solidFill>
                        <a:srgbClr val="D9D4F0"/>
                      </a:solidFill>
                      <a:prstDash val="solid"/>
                      <a:round/>
                      <a:headEnd type="none" w="med" len="med"/>
                      <a:tailEnd type="none" w="med" len="med"/>
                    </a:lnB>
                    <a:solidFill>
                      <a:srgbClr val="FFFFFF"/>
                    </a:solidFill>
                  </a:tcPr>
                </a:tc>
              </a:tr>
              <a:tr h="411480">
                <a:tc>
                  <a:txBody>
                    <a:bodyPr/>
                    <a:lstStyle/>
                    <a:p>
                      <a:pPr indent="0" marL="0">
                        <a:buNone/>
                      </a:pPr>
                      <a:r>
                        <a:rPr lang="en-US" sz="1400" b="1" dirty="0">
                          <a:solidFill>
                            <a:srgbClr val="1A1446"/>
                          </a:solidFill>
                        </a:rPr>
                        <a:t>5. Flutter</a:t>
                      </a:r>
                      <a:endParaRPr lang="en-US" sz="1400" dirty="0"/>
                    </a:p>
                  </a:txBody>
                  <a:tcPr marL="109728" marR="109728" marT="0" marB="0" anchor="ctr">
                    <a:lnL w="6350" cap="flat" cmpd="sng" algn="ctr">
                      <a:solidFill>
                        <a:srgbClr val="D9D4F0"/>
                      </a:solidFill>
                      <a:prstDash val="solid"/>
                      <a:round/>
                      <a:headEnd type="none" w="med" len="med"/>
                      <a:tailEnd type="none" w="med" len="med"/>
                    </a:lnL>
                    <a:lnR w="6350" cap="flat" cmpd="sng" algn="ctr">
                      <a:solidFill>
                        <a:srgbClr val="D9D4F0"/>
                      </a:solidFill>
                      <a:prstDash val="solid"/>
                      <a:round/>
                      <a:headEnd type="none" w="med" len="med"/>
                      <a:tailEnd type="none" w="med" len="med"/>
                    </a:lnR>
                    <a:lnT w="6350" cap="flat" cmpd="sng" algn="ctr">
                      <a:solidFill>
                        <a:srgbClr val="D9D4F0"/>
                      </a:solidFill>
                      <a:prstDash val="solid"/>
                      <a:round/>
                      <a:headEnd type="none" w="med" len="med"/>
                      <a:tailEnd type="none" w="med" len="med"/>
                    </a:lnT>
                    <a:lnB w="6350" cap="flat" cmpd="sng" algn="ctr">
                      <a:solidFill>
                        <a:srgbClr val="D9D4F0"/>
                      </a:solidFill>
                      <a:prstDash val="solid"/>
                      <a:round/>
                      <a:headEnd type="none" w="med" len="med"/>
                      <a:tailEnd type="none" w="med" len="med"/>
                    </a:lnB>
                    <a:solidFill>
                      <a:srgbClr val="F3F1FB"/>
                    </a:solidFill>
                  </a:tcPr>
                </a:tc>
                <a:tc>
                  <a:txBody>
                    <a:bodyPr/>
                    <a:lstStyle/>
                    <a:p>
                      <a:pPr indent="0" marL="0">
                        <a:buNone/>
                      </a:pPr>
                      <a:r>
                        <a:rPr lang="en-US" sz="1400" dirty="0">
                          <a:solidFill>
                            <a:srgbClr val="1A1446"/>
                          </a:solidFill>
                        </a:rPr>
                        <a:t>Live standings dashboard on the web</a:t>
                      </a:r>
                      <a:endParaRPr lang="en-US" sz="1400" dirty="0"/>
                    </a:p>
                  </a:txBody>
                  <a:tcPr marL="109728" marR="109728" marT="0" marB="0" anchor="ctr">
                    <a:lnL w="6350" cap="flat" cmpd="sng" algn="ctr">
                      <a:solidFill>
                        <a:srgbClr val="D9D4F0"/>
                      </a:solidFill>
                      <a:prstDash val="solid"/>
                      <a:round/>
                      <a:headEnd type="none" w="med" len="med"/>
                      <a:tailEnd type="none" w="med" len="med"/>
                    </a:lnL>
                    <a:lnR w="6350" cap="flat" cmpd="sng" algn="ctr">
                      <a:solidFill>
                        <a:srgbClr val="D9D4F0"/>
                      </a:solidFill>
                      <a:prstDash val="solid"/>
                      <a:round/>
                      <a:headEnd type="none" w="med" len="med"/>
                      <a:tailEnd type="none" w="med" len="med"/>
                    </a:lnR>
                    <a:lnT w="6350" cap="flat" cmpd="sng" algn="ctr">
                      <a:solidFill>
                        <a:srgbClr val="D9D4F0"/>
                      </a:solidFill>
                      <a:prstDash val="solid"/>
                      <a:round/>
                      <a:headEnd type="none" w="med" len="med"/>
                      <a:tailEnd type="none" w="med" len="med"/>
                    </a:lnT>
                    <a:lnB w="6350" cap="flat" cmpd="sng" algn="ctr">
                      <a:solidFill>
                        <a:srgbClr val="D9D4F0"/>
                      </a:solidFill>
                      <a:prstDash val="solid"/>
                      <a:round/>
                      <a:headEnd type="none" w="med" len="med"/>
                      <a:tailEnd type="none" w="med" len="med"/>
                    </a:lnB>
                    <a:solidFill>
                      <a:srgbClr val="F3F1FB"/>
                    </a:solidFill>
                  </a:tcPr>
                </a:tc>
              </a:tr>
              <a:tr h="411480">
                <a:tc>
                  <a:txBody>
                    <a:bodyPr/>
                    <a:lstStyle/>
                    <a:p>
                      <a:pPr indent="0" marL="0">
                        <a:buNone/>
                      </a:pPr>
                      <a:r>
                        <a:rPr lang="en-US" sz="1400" b="1" dirty="0">
                          <a:solidFill>
                            <a:srgbClr val="1A1446"/>
                          </a:solidFill>
                        </a:rPr>
                        <a:t>6. Databases</a:t>
                      </a:r>
                      <a:endParaRPr lang="en-US" sz="1400" dirty="0"/>
                    </a:p>
                  </a:txBody>
                  <a:tcPr marL="109728" marR="109728" marT="0" marB="0" anchor="ctr">
                    <a:lnL w="6350" cap="flat" cmpd="sng" algn="ctr">
                      <a:solidFill>
                        <a:srgbClr val="D9D4F0"/>
                      </a:solidFill>
                      <a:prstDash val="solid"/>
                      <a:round/>
                      <a:headEnd type="none" w="med" len="med"/>
                      <a:tailEnd type="none" w="med" len="med"/>
                    </a:lnL>
                    <a:lnR w="6350" cap="flat" cmpd="sng" algn="ctr">
                      <a:solidFill>
                        <a:srgbClr val="D9D4F0"/>
                      </a:solidFill>
                      <a:prstDash val="solid"/>
                      <a:round/>
                      <a:headEnd type="none" w="med" len="med"/>
                      <a:tailEnd type="none" w="med" len="med"/>
                    </a:lnR>
                    <a:lnT w="6350" cap="flat" cmpd="sng" algn="ctr">
                      <a:solidFill>
                        <a:srgbClr val="D9D4F0"/>
                      </a:solidFill>
                      <a:prstDash val="solid"/>
                      <a:round/>
                      <a:headEnd type="none" w="med" len="med"/>
                      <a:tailEnd type="none" w="med" len="med"/>
                    </a:lnT>
                    <a:lnB w="6350" cap="flat" cmpd="sng" algn="ctr">
                      <a:solidFill>
                        <a:srgbClr val="D9D4F0"/>
                      </a:solidFill>
                      <a:prstDash val="solid"/>
                      <a:round/>
                      <a:headEnd type="none" w="med" len="med"/>
                      <a:tailEnd type="none" w="med" len="med"/>
                    </a:lnB>
                    <a:solidFill>
                      <a:srgbClr val="FFFFFF"/>
                    </a:solidFill>
                  </a:tcPr>
                </a:tc>
                <a:tc>
                  <a:txBody>
                    <a:bodyPr/>
                    <a:lstStyle/>
                    <a:p>
                      <a:pPr indent="0" marL="0">
                        <a:buNone/>
                      </a:pPr>
                      <a:r>
                        <a:rPr lang="en-US" sz="1400" dirty="0">
                          <a:solidFill>
                            <a:srgbClr val="1A1446"/>
                          </a:solidFill>
                        </a:rPr>
                        <a:t>SQLite change log, Firebase Auth and Firestore</a:t>
                      </a:r>
                      <a:endParaRPr lang="en-US" sz="1400" dirty="0"/>
                    </a:p>
                  </a:txBody>
                  <a:tcPr marL="109728" marR="109728" marT="0" marB="0" anchor="ctr">
                    <a:lnL w="6350" cap="flat" cmpd="sng" algn="ctr">
                      <a:solidFill>
                        <a:srgbClr val="D9D4F0"/>
                      </a:solidFill>
                      <a:prstDash val="solid"/>
                      <a:round/>
                      <a:headEnd type="none" w="med" len="med"/>
                      <a:tailEnd type="none" w="med" len="med"/>
                    </a:lnL>
                    <a:lnR w="6350" cap="flat" cmpd="sng" algn="ctr">
                      <a:solidFill>
                        <a:srgbClr val="D9D4F0"/>
                      </a:solidFill>
                      <a:prstDash val="solid"/>
                      <a:round/>
                      <a:headEnd type="none" w="med" len="med"/>
                      <a:tailEnd type="none" w="med" len="med"/>
                    </a:lnR>
                    <a:lnT w="6350" cap="flat" cmpd="sng" algn="ctr">
                      <a:solidFill>
                        <a:srgbClr val="D9D4F0"/>
                      </a:solidFill>
                      <a:prstDash val="solid"/>
                      <a:round/>
                      <a:headEnd type="none" w="med" len="med"/>
                      <a:tailEnd type="none" w="med" len="med"/>
                    </a:lnT>
                    <a:lnB w="6350" cap="flat" cmpd="sng" algn="ctr">
                      <a:solidFill>
                        <a:srgbClr val="D9D4F0"/>
                      </a:solidFill>
                      <a:prstDash val="solid"/>
                      <a:round/>
                      <a:headEnd type="none" w="med" len="med"/>
                      <a:tailEnd type="none" w="med" len="med"/>
                    </a:lnB>
                    <a:solidFill>
                      <a:srgbClr val="FFFFFF"/>
                    </a:solidFill>
                  </a:tcPr>
                </a:tc>
              </a:tr>
              <a:tr h="411480">
                <a:tc>
                  <a:txBody>
                    <a:bodyPr/>
                    <a:lstStyle/>
                    <a:p>
                      <a:pPr indent="0" marL="0">
                        <a:buNone/>
                      </a:pPr>
                      <a:r>
                        <a:rPr lang="en-US" sz="1400" b="1" dirty="0">
                          <a:solidFill>
                            <a:srgbClr val="1A1446"/>
                          </a:solidFill>
                        </a:rPr>
                        <a:t>7. Publishing</a:t>
                      </a:r>
                      <a:endParaRPr lang="en-US" sz="1400" dirty="0"/>
                    </a:p>
                  </a:txBody>
                  <a:tcPr marL="109728" marR="109728" marT="0" marB="0" anchor="ctr">
                    <a:lnL w="6350" cap="flat" cmpd="sng" algn="ctr">
                      <a:solidFill>
                        <a:srgbClr val="D9D4F0"/>
                      </a:solidFill>
                      <a:prstDash val="solid"/>
                      <a:round/>
                      <a:headEnd type="none" w="med" len="med"/>
                      <a:tailEnd type="none" w="med" len="med"/>
                    </a:lnL>
                    <a:lnR w="6350" cap="flat" cmpd="sng" algn="ctr">
                      <a:solidFill>
                        <a:srgbClr val="D9D4F0"/>
                      </a:solidFill>
                      <a:prstDash val="solid"/>
                      <a:round/>
                      <a:headEnd type="none" w="med" len="med"/>
                      <a:tailEnd type="none" w="med" len="med"/>
                    </a:lnR>
                    <a:lnT w="6350" cap="flat" cmpd="sng" algn="ctr">
                      <a:solidFill>
                        <a:srgbClr val="D9D4F0"/>
                      </a:solidFill>
                      <a:prstDash val="solid"/>
                      <a:round/>
                      <a:headEnd type="none" w="med" len="med"/>
                      <a:tailEnd type="none" w="med" len="med"/>
                    </a:lnT>
                    <a:lnB w="6350" cap="flat" cmpd="sng" algn="ctr">
                      <a:solidFill>
                        <a:srgbClr val="D9D4F0"/>
                      </a:solidFill>
                      <a:prstDash val="solid"/>
                      <a:round/>
                      <a:headEnd type="none" w="med" len="med"/>
                      <a:tailEnd type="none" w="med" len="med"/>
                    </a:lnB>
                    <a:solidFill>
                      <a:srgbClr val="F3F1FB"/>
                    </a:solidFill>
                  </a:tcPr>
                </a:tc>
                <a:tc>
                  <a:txBody>
                    <a:bodyPr/>
                    <a:lstStyle/>
                    <a:p>
                      <a:pPr indent="0" marL="0">
                        <a:buNone/>
                      </a:pPr>
                      <a:r>
                        <a:rPr lang="en-US" sz="1400" dirty="0">
                          <a:solidFill>
                            <a:srgbClr val="1A1446"/>
                          </a:solidFill>
                        </a:rPr>
                        <a:t>Signed release APK, dashboard hosted on Firebase</a:t>
                      </a:r>
                      <a:endParaRPr lang="en-US" sz="1400" dirty="0"/>
                    </a:p>
                  </a:txBody>
                  <a:tcPr marL="109728" marR="109728" marT="0" marB="0" anchor="ctr">
                    <a:lnL w="6350" cap="flat" cmpd="sng" algn="ctr">
                      <a:solidFill>
                        <a:srgbClr val="D9D4F0"/>
                      </a:solidFill>
                      <a:prstDash val="solid"/>
                      <a:round/>
                      <a:headEnd type="none" w="med" len="med"/>
                      <a:tailEnd type="none" w="med" len="med"/>
                    </a:lnL>
                    <a:lnR w="6350" cap="flat" cmpd="sng" algn="ctr">
                      <a:solidFill>
                        <a:srgbClr val="D9D4F0"/>
                      </a:solidFill>
                      <a:prstDash val="solid"/>
                      <a:round/>
                      <a:headEnd type="none" w="med" len="med"/>
                      <a:tailEnd type="none" w="med" len="med"/>
                    </a:lnR>
                    <a:lnT w="6350" cap="flat" cmpd="sng" algn="ctr">
                      <a:solidFill>
                        <a:srgbClr val="D9D4F0"/>
                      </a:solidFill>
                      <a:prstDash val="solid"/>
                      <a:round/>
                      <a:headEnd type="none" w="med" len="med"/>
                      <a:tailEnd type="none" w="med" len="med"/>
                    </a:lnT>
                    <a:lnB w="6350" cap="flat" cmpd="sng" algn="ctr">
                      <a:solidFill>
                        <a:srgbClr val="D9D4F0"/>
                      </a:solidFill>
                      <a:prstDash val="solid"/>
                      <a:round/>
                      <a:headEnd type="none" w="med" len="med"/>
                      <a:tailEnd type="none" w="med" len="med"/>
                    </a:lnB>
                    <a:solidFill>
                      <a:srgbClr val="F3F1FB"/>
                    </a:solidFill>
                  </a:tcPr>
                </a:tc>
              </a:tr>
            </a:tbl>
          </a:graphicData>
        </a:graphic>
      </p:graphicFrame>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algn="l" indent="0" marL="0">
              <a:buNone/>
            </a:pPr>
            <a:r>
              <a:rPr lang="en-US" sz="3400" b="1" dirty="0">
                <a:solidFill>
                  <a:schemeClr val="tx1"/>
                </a:solidFill>
              </a:rPr>
              <a:t>Results and testing</a:t>
            </a:r>
            <a:endParaRPr lang="en-US" sz="3400" dirty="0"/>
          </a:p>
        </p:txBody>
      </p:sp>
      <p:sp>
        <p:nvSpPr>
          <p:cNvPr id="3" name="Result tile 1"/>
          <p:cNvSpPr/>
          <p:nvPr/>
        </p:nvSpPr>
        <p:spPr>
          <a:xfrm>
            <a:off x="457200" y="1188720"/>
            <a:ext cx="1920240" cy="1554480"/>
          </a:xfrm>
          <a:prstGeom prst="roundRect">
            <a:avLst>
              <a:gd name="adj" fmla="val 7059"/>
            </a:avLst>
          </a:prstGeom>
          <a:solidFill>
            <a:schemeClr val="accent1"/>
          </a:solidFill>
          <a:ln w="6350">
            <a:solidFill>
              <a:schemeClr val="accent1"/>
            </a:solidFill>
            <a:prstDash val="solid"/>
          </a:ln>
          <a:effectLst>
            <a:outerShdw sx="100000" sy="100000" kx="0" ky="0" algn="bl" rotWithShape="0" blurRad="76200" dist="25400" dir="5400000">
              <a:srgbClr val="000000">
                <a:alpha val="12000"/>
              </a:srgbClr>
            </a:outerShdw>
          </a:effectLst>
        </p:spPr>
      </p:sp>
      <p:sp>
        <p:nvSpPr>
          <p:cNvPr id="4" name="Text 2"/>
          <p:cNvSpPr txBox="1"/>
          <p:nvPr/>
        </p:nvSpPr>
        <p:spPr>
          <a:xfrm>
            <a:off x="594360" y="1298448"/>
            <a:ext cx="1645920" cy="594360"/>
          </a:xfrm>
          <a:prstGeom prst="rect">
            <a:avLst/>
          </a:prstGeom>
          <a:noFill/>
          <a:ln/>
        </p:spPr>
        <p:txBody>
          <a:bodyPr wrap="square" lIns="0" tIns="0" rIns="0" bIns="0" rtlCol="0" anchor="ctr"/>
          <a:lstStyle/>
          <a:p>
            <a:pPr indent="0" marL="0">
              <a:buNone/>
            </a:pPr>
            <a:r>
              <a:rPr lang="en-US" sz="3400" b="1" dirty="0">
                <a:solidFill>
                  <a:schemeClr val="bg1"/>
                </a:solidFill>
              </a:rPr>
              <a:t>16</a:t>
            </a:r>
            <a:endParaRPr lang="en-US" sz="3400" dirty="0"/>
          </a:p>
        </p:txBody>
      </p:sp>
      <p:sp>
        <p:nvSpPr>
          <p:cNvPr id="5" name="Text 3"/>
          <p:cNvSpPr txBox="1"/>
          <p:nvPr/>
        </p:nvSpPr>
        <p:spPr>
          <a:xfrm>
            <a:off x="594360" y="1920240"/>
            <a:ext cx="1645920" cy="777240"/>
          </a:xfrm>
          <a:prstGeom prst="rect">
            <a:avLst/>
          </a:prstGeom>
          <a:noFill/>
          <a:ln/>
        </p:spPr>
        <p:txBody>
          <a:bodyPr wrap="square" lIns="0" tIns="0" rIns="0" bIns="0" rtlCol="0" anchor="t"/>
          <a:lstStyle/>
          <a:p>
            <a:pPr indent="0" marL="0">
              <a:buNone/>
            </a:pPr>
            <a:r>
              <a:rPr lang="en-US" sz="1400" dirty="0">
                <a:solidFill>
                  <a:schemeClr val="bg1"/>
                </a:solidFill>
              </a:rPr>
              <a:t>automated tests, all passing</a:t>
            </a:r>
            <a:endParaRPr lang="en-US" sz="1400" dirty="0"/>
          </a:p>
        </p:txBody>
      </p:sp>
      <p:sp>
        <p:nvSpPr>
          <p:cNvPr id="6" name="Result tile 2"/>
          <p:cNvSpPr/>
          <p:nvPr/>
        </p:nvSpPr>
        <p:spPr>
          <a:xfrm>
            <a:off x="2560320" y="1188720"/>
            <a:ext cx="1920240" cy="1554480"/>
          </a:xfrm>
          <a:prstGeom prst="roundRect">
            <a:avLst>
              <a:gd name="adj" fmla="val 7059"/>
            </a:avLst>
          </a:prstGeom>
          <a:solidFill>
            <a:schemeClr val="accent2"/>
          </a:solidFill>
          <a:ln w="6350">
            <a:solidFill>
              <a:schemeClr val="accent2"/>
            </a:solidFill>
            <a:prstDash val="solid"/>
          </a:ln>
          <a:effectLst>
            <a:outerShdw sx="100000" sy="100000" kx="0" ky="0" algn="bl" rotWithShape="0" blurRad="76200" dist="25400" dir="5400000">
              <a:srgbClr val="000000">
                <a:alpha val="12000"/>
              </a:srgbClr>
            </a:outerShdw>
          </a:effectLst>
        </p:spPr>
      </p:sp>
      <p:sp>
        <p:nvSpPr>
          <p:cNvPr id="7" name="Text 5"/>
          <p:cNvSpPr txBox="1"/>
          <p:nvPr/>
        </p:nvSpPr>
        <p:spPr>
          <a:xfrm>
            <a:off x="2697480" y="1298448"/>
            <a:ext cx="1645920" cy="594360"/>
          </a:xfrm>
          <a:prstGeom prst="rect">
            <a:avLst/>
          </a:prstGeom>
          <a:noFill/>
          <a:ln/>
        </p:spPr>
        <p:txBody>
          <a:bodyPr wrap="square" lIns="0" tIns="0" rIns="0" bIns="0" rtlCol="0" anchor="ctr"/>
          <a:lstStyle/>
          <a:p>
            <a:pPr indent="0" marL="0">
              <a:buNone/>
            </a:pPr>
            <a:r>
              <a:rPr lang="en-US" sz="3400" b="1" dirty="0">
                <a:solidFill>
                  <a:schemeClr val="bg1"/>
                </a:solidFill>
              </a:rPr>
              <a:t>1</a:t>
            </a:r>
            <a:endParaRPr lang="en-US" sz="3400" dirty="0"/>
          </a:p>
        </p:txBody>
      </p:sp>
      <p:sp>
        <p:nvSpPr>
          <p:cNvPr id="8" name="Text 6"/>
          <p:cNvSpPr txBox="1"/>
          <p:nvPr/>
        </p:nvSpPr>
        <p:spPr>
          <a:xfrm>
            <a:off x="2697480" y="1920240"/>
            <a:ext cx="1645920" cy="777240"/>
          </a:xfrm>
          <a:prstGeom prst="rect">
            <a:avLst/>
          </a:prstGeom>
          <a:noFill/>
          <a:ln/>
        </p:spPr>
        <p:txBody>
          <a:bodyPr wrap="square" lIns="0" tIns="0" rIns="0" bIns="0" rtlCol="0" anchor="t"/>
          <a:lstStyle/>
          <a:p>
            <a:pPr indent="0" marL="0">
              <a:buNone/>
            </a:pPr>
            <a:r>
              <a:rPr lang="en-US" sz="1400" dirty="0">
                <a:solidFill>
                  <a:schemeClr val="bg1"/>
                </a:solidFill>
              </a:rPr>
              <a:t>schedule from 1,000 shuffled sync orders</a:t>
            </a:r>
            <a:endParaRPr lang="en-US" sz="1400" dirty="0"/>
          </a:p>
        </p:txBody>
      </p:sp>
      <p:sp>
        <p:nvSpPr>
          <p:cNvPr id="9" name="Result tile 3"/>
          <p:cNvSpPr/>
          <p:nvPr/>
        </p:nvSpPr>
        <p:spPr>
          <a:xfrm>
            <a:off x="4663440" y="1188720"/>
            <a:ext cx="1920240" cy="1554480"/>
          </a:xfrm>
          <a:prstGeom prst="roundRect">
            <a:avLst>
              <a:gd name="adj" fmla="val 7059"/>
            </a:avLst>
          </a:prstGeom>
          <a:solidFill>
            <a:schemeClr val="accent1"/>
          </a:solidFill>
          <a:ln w="6350">
            <a:solidFill>
              <a:schemeClr val="accent1"/>
            </a:solidFill>
            <a:prstDash val="solid"/>
          </a:ln>
          <a:effectLst>
            <a:outerShdw sx="100000" sy="100000" kx="0" ky="0" algn="bl" rotWithShape="0" blurRad="76200" dist="25400" dir="5400000">
              <a:srgbClr val="000000">
                <a:alpha val="12000"/>
              </a:srgbClr>
            </a:outerShdw>
          </a:effectLst>
        </p:spPr>
      </p:sp>
      <p:sp>
        <p:nvSpPr>
          <p:cNvPr id="10" name="Text 8"/>
          <p:cNvSpPr txBox="1"/>
          <p:nvPr/>
        </p:nvSpPr>
        <p:spPr>
          <a:xfrm>
            <a:off x="4800600" y="1298448"/>
            <a:ext cx="1645920" cy="594360"/>
          </a:xfrm>
          <a:prstGeom prst="rect">
            <a:avLst/>
          </a:prstGeom>
          <a:noFill/>
          <a:ln/>
        </p:spPr>
        <p:txBody>
          <a:bodyPr wrap="square" lIns="0" tIns="0" rIns="0" bIns="0" rtlCol="0" anchor="ctr"/>
          <a:lstStyle/>
          <a:p>
            <a:pPr indent="0" marL="0">
              <a:buNone/>
            </a:pPr>
            <a:r>
              <a:rPr lang="en-US" sz="3400" b="1" dirty="0">
                <a:solidFill>
                  <a:schemeClr val="bg1"/>
                </a:solidFill>
              </a:rPr>
              <a:t>13–43%</a:t>
            </a:r>
            <a:endParaRPr lang="en-US" sz="3400" dirty="0"/>
          </a:p>
        </p:txBody>
      </p:sp>
      <p:sp>
        <p:nvSpPr>
          <p:cNvPr id="11" name="Text 9"/>
          <p:cNvSpPr txBox="1"/>
          <p:nvPr/>
        </p:nvSpPr>
        <p:spPr>
          <a:xfrm>
            <a:off x="4800600" y="1920240"/>
            <a:ext cx="1645920" cy="777240"/>
          </a:xfrm>
          <a:prstGeom prst="rect">
            <a:avLst/>
          </a:prstGeom>
          <a:noFill/>
          <a:ln/>
        </p:spPr>
        <p:txBody>
          <a:bodyPr wrap="square" lIns="0" tIns="0" rIns="0" bIns="0" rtlCol="0" anchor="t"/>
          <a:lstStyle/>
          <a:p>
            <a:pPr indent="0" marL="0">
              <a:buNone/>
            </a:pPr>
            <a:r>
              <a:rPr lang="en-US" sz="1400" dirty="0">
                <a:solidFill>
                  <a:schemeClr val="bg1"/>
                </a:solidFill>
              </a:rPr>
              <a:t>fewer matches pushed back by a delay</a:t>
            </a:r>
            <a:endParaRPr lang="en-US" sz="1400" dirty="0"/>
          </a:p>
        </p:txBody>
      </p:sp>
      <p:sp>
        <p:nvSpPr>
          <p:cNvPr id="12" name="Result tile 4"/>
          <p:cNvSpPr/>
          <p:nvPr/>
        </p:nvSpPr>
        <p:spPr>
          <a:xfrm>
            <a:off x="6766560" y="1188720"/>
            <a:ext cx="1920240" cy="1554480"/>
          </a:xfrm>
          <a:prstGeom prst="roundRect">
            <a:avLst>
              <a:gd name="adj" fmla="val 7059"/>
            </a:avLst>
          </a:prstGeom>
          <a:solidFill>
            <a:schemeClr val="accent2"/>
          </a:solidFill>
          <a:ln w="6350">
            <a:solidFill>
              <a:schemeClr val="accent2"/>
            </a:solidFill>
            <a:prstDash val="solid"/>
          </a:ln>
          <a:effectLst>
            <a:outerShdw sx="100000" sy="100000" kx="0" ky="0" algn="bl" rotWithShape="0" blurRad="76200" dist="25400" dir="5400000">
              <a:srgbClr val="000000">
                <a:alpha val="12000"/>
              </a:srgbClr>
            </a:outerShdw>
          </a:effectLst>
        </p:spPr>
      </p:sp>
      <p:sp>
        <p:nvSpPr>
          <p:cNvPr id="13" name="Text 11"/>
          <p:cNvSpPr txBox="1"/>
          <p:nvPr/>
        </p:nvSpPr>
        <p:spPr>
          <a:xfrm>
            <a:off x="6903720" y="1298448"/>
            <a:ext cx="1645920" cy="594360"/>
          </a:xfrm>
          <a:prstGeom prst="rect">
            <a:avLst/>
          </a:prstGeom>
          <a:noFill/>
          <a:ln/>
        </p:spPr>
        <p:txBody>
          <a:bodyPr wrap="square" lIns="0" tIns="0" rIns="0" bIns="0" rtlCol="0" anchor="ctr"/>
          <a:lstStyle/>
          <a:p>
            <a:pPr indent="0" marL="0">
              <a:buNone/>
            </a:pPr>
            <a:r>
              <a:rPr lang="en-US" sz="3400" b="1" dirty="0">
                <a:solidFill>
                  <a:schemeClr val="bg1"/>
                </a:solidFill>
              </a:rPr>
              <a:t>≈ 8 ms</a:t>
            </a:r>
            <a:endParaRPr lang="en-US" sz="3400" dirty="0"/>
          </a:p>
        </p:txBody>
      </p:sp>
      <p:sp>
        <p:nvSpPr>
          <p:cNvPr id="14" name="Text 12"/>
          <p:cNvSpPr txBox="1"/>
          <p:nvPr/>
        </p:nvSpPr>
        <p:spPr>
          <a:xfrm>
            <a:off x="6903720" y="1920240"/>
            <a:ext cx="1645920" cy="777240"/>
          </a:xfrm>
          <a:prstGeom prst="rect">
            <a:avLst/>
          </a:prstGeom>
          <a:noFill/>
          <a:ln/>
        </p:spPr>
        <p:txBody>
          <a:bodyPr wrap="square" lIns="0" tIns="0" rIns="0" bIns="0" rtlCol="0" anchor="t"/>
          <a:lstStyle/>
          <a:p>
            <a:pPr indent="0" marL="0">
              <a:buNone/>
            </a:pPr>
            <a:r>
              <a:rPr lang="en-US" sz="1400" dirty="0">
                <a:solidFill>
                  <a:schemeClr val="bg1"/>
                </a:solidFill>
              </a:rPr>
              <a:t>to re-time a 16-team day</a:t>
            </a:r>
            <a:endParaRPr lang="en-US" sz="1400" dirty="0"/>
          </a:p>
        </p:txBody>
      </p:sp>
      <p:sp>
        <p:nvSpPr>
          <p:cNvPr id="15" name="Cost comparison card"/>
          <p:cNvSpPr/>
          <p:nvPr/>
        </p:nvSpPr>
        <p:spPr>
          <a:xfrm>
            <a:off x="457200" y="2971800"/>
            <a:ext cx="8229600" cy="1691640"/>
          </a:xfrm>
          <a:prstGeom prst="roundRect">
            <a:avLst>
              <a:gd name="adj" fmla="val 6486"/>
            </a:avLst>
          </a:prstGeom>
          <a:solidFill>
            <a:schemeClr val="bg2"/>
          </a:solidFill>
          <a:ln w="6350">
            <a:solidFill>
              <a:schemeClr val="bg2"/>
            </a:solidFill>
            <a:prstDash val="solid"/>
          </a:ln>
          <a:effectLst>
            <a:outerShdw sx="100000" sy="100000" kx="0" ky="0" algn="bl" rotWithShape="0" blurRad="76200" dist="25400" dir="5400000">
              <a:srgbClr val="000000">
                <a:alpha val="12000"/>
              </a:srgbClr>
            </a:outerShdw>
          </a:effectLst>
        </p:spPr>
      </p:sp>
      <p:sp>
        <p:nvSpPr>
          <p:cNvPr id="16" name="Text 14"/>
          <p:cNvSpPr txBox="1"/>
          <p:nvPr/>
        </p:nvSpPr>
        <p:spPr>
          <a:xfrm>
            <a:off x="685800" y="3127248"/>
            <a:ext cx="7772400" cy="274320"/>
          </a:xfrm>
          <a:prstGeom prst="rect">
            <a:avLst/>
          </a:prstGeom>
          <a:noFill/>
          <a:ln/>
        </p:spPr>
        <p:txBody>
          <a:bodyPr wrap="square" lIns="0" tIns="0" rIns="0" bIns="0" rtlCol="0" anchor="t"/>
          <a:lstStyle/>
          <a:p>
            <a:pPr indent="0" marL="0">
              <a:buNone/>
            </a:pPr>
            <a:r>
              <a:rPr lang="en-US" sz="1500" b="1" dirty="0">
                <a:solidFill>
                  <a:schemeClr val="tx1"/>
                </a:solidFill>
              </a:rPr>
              <a:t>Schedule cost against a greedy baseline (lower is better)</a:t>
            </a:r>
            <a:endParaRPr lang="en-US" sz="1500" dirty="0"/>
          </a:p>
        </p:txBody>
      </p:sp>
      <p:sp>
        <p:nvSpPr>
          <p:cNvPr id="17" name="Text 15"/>
          <p:cNvSpPr txBox="1"/>
          <p:nvPr/>
        </p:nvSpPr>
        <p:spPr>
          <a:xfrm>
            <a:off x="685800" y="3566160"/>
            <a:ext cx="1828800" cy="274320"/>
          </a:xfrm>
          <a:prstGeom prst="rect">
            <a:avLst/>
          </a:prstGeom>
          <a:noFill/>
          <a:ln/>
        </p:spPr>
        <p:txBody>
          <a:bodyPr wrap="square" lIns="0" tIns="0" rIns="0" bIns="0" rtlCol="0" anchor="t"/>
          <a:lstStyle/>
          <a:p>
            <a:pPr indent="0" marL="0">
              <a:buNone/>
            </a:pPr>
            <a:r>
              <a:rPr lang="en-US" sz="1400" dirty="0">
                <a:solidFill>
                  <a:schemeClr val="tx2"/>
                </a:solidFill>
              </a:rPr>
              <a:t>6 teams</a:t>
            </a:r>
            <a:endParaRPr lang="en-US" sz="1400" dirty="0"/>
          </a:p>
        </p:txBody>
      </p:sp>
      <p:sp>
        <p:nvSpPr>
          <p:cNvPr id="18" name="Text 16"/>
          <p:cNvSpPr txBox="1"/>
          <p:nvPr/>
        </p:nvSpPr>
        <p:spPr>
          <a:xfrm>
            <a:off x="685800" y="3840480"/>
            <a:ext cx="1828800" cy="365760"/>
          </a:xfrm>
          <a:prstGeom prst="rect">
            <a:avLst/>
          </a:prstGeom>
          <a:noFill/>
          <a:ln/>
        </p:spPr>
        <p:txBody>
          <a:bodyPr wrap="square" lIns="0" tIns="0" rIns="0" bIns="0" rtlCol="0" anchor="t"/>
          <a:lstStyle/>
          <a:p>
            <a:pPr indent="0" marL="0">
              <a:buNone/>
            </a:pPr>
            <a:r>
              <a:rPr lang="en-US" sz="2000" b="1" dirty="0">
                <a:solidFill>
                  <a:schemeClr val="tx1"/>
                </a:solidFill>
              </a:rPr>
              <a:t>2180 → 880</a:t>
            </a:r>
            <a:endParaRPr lang="en-US" sz="2000" dirty="0"/>
          </a:p>
        </p:txBody>
      </p:sp>
      <p:sp>
        <p:nvSpPr>
          <p:cNvPr id="19" name="Text 17"/>
          <p:cNvSpPr txBox="1"/>
          <p:nvPr/>
        </p:nvSpPr>
        <p:spPr>
          <a:xfrm>
            <a:off x="2651760" y="3566160"/>
            <a:ext cx="1828800" cy="274320"/>
          </a:xfrm>
          <a:prstGeom prst="rect">
            <a:avLst/>
          </a:prstGeom>
          <a:noFill/>
          <a:ln/>
        </p:spPr>
        <p:txBody>
          <a:bodyPr wrap="square" lIns="0" tIns="0" rIns="0" bIns="0" rtlCol="0" anchor="t"/>
          <a:lstStyle/>
          <a:p>
            <a:pPr indent="0" marL="0">
              <a:buNone/>
            </a:pPr>
            <a:r>
              <a:rPr lang="en-US" sz="1400" dirty="0">
                <a:solidFill>
                  <a:schemeClr val="tx2"/>
                </a:solidFill>
              </a:rPr>
              <a:t>8 teams</a:t>
            </a:r>
            <a:endParaRPr lang="en-US" sz="1400" dirty="0"/>
          </a:p>
        </p:txBody>
      </p:sp>
      <p:sp>
        <p:nvSpPr>
          <p:cNvPr id="20" name="Text 18"/>
          <p:cNvSpPr txBox="1"/>
          <p:nvPr/>
        </p:nvSpPr>
        <p:spPr>
          <a:xfrm>
            <a:off x="2651760" y="3840480"/>
            <a:ext cx="1828800" cy="365760"/>
          </a:xfrm>
          <a:prstGeom prst="rect">
            <a:avLst/>
          </a:prstGeom>
          <a:noFill/>
          <a:ln/>
        </p:spPr>
        <p:txBody>
          <a:bodyPr wrap="square" lIns="0" tIns="0" rIns="0" bIns="0" rtlCol="0" anchor="t"/>
          <a:lstStyle/>
          <a:p>
            <a:pPr indent="0" marL="0">
              <a:buNone/>
            </a:pPr>
            <a:r>
              <a:rPr lang="en-US" sz="2000" b="1" dirty="0">
                <a:solidFill>
                  <a:schemeClr val="tx1"/>
                </a:solidFill>
              </a:rPr>
              <a:t>3920 → 3300</a:t>
            </a:r>
            <a:endParaRPr lang="en-US" sz="2000" dirty="0"/>
          </a:p>
        </p:txBody>
      </p:sp>
      <p:sp>
        <p:nvSpPr>
          <p:cNvPr id="21" name="Text 19"/>
          <p:cNvSpPr txBox="1"/>
          <p:nvPr/>
        </p:nvSpPr>
        <p:spPr>
          <a:xfrm>
            <a:off x="4617720" y="3566160"/>
            <a:ext cx="1828800" cy="274320"/>
          </a:xfrm>
          <a:prstGeom prst="rect">
            <a:avLst/>
          </a:prstGeom>
          <a:noFill/>
          <a:ln/>
        </p:spPr>
        <p:txBody>
          <a:bodyPr wrap="square" lIns="0" tIns="0" rIns="0" bIns="0" rtlCol="0" anchor="t"/>
          <a:lstStyle/>
          <a:p>
            <a:pPr indent="0" marL="0">
              <a:buNone/>
            </a:pPr>
            <a:r>
              <a:rPr lang="en-US" sz="1400" dirty="0">
                <a:solidFill>
                  <a:schemeClr val="tx2"/>
                </a:solidFill>
              </a:rPr>
              <a:t>10 teams</a:t>
            </a:r>
            <a:endParaRPr lang="en-US" sz="1400" dirty="0"/>
          </a:p>
        </p:txBody>
      </p:sp>
      <p:sp>
        <p:nvSpPr>
          <p:cNvPr id="22" name="Text 20"/>
          <p:cNvSpPr txBox="1"/>
          <p:nvPr/>
        </p:nvSpPr>
        <p:spPr>
          <a:xfrm>
            <a:off x="4617720" y="3840480"/>
            <a:ext cx="1828800" cy="365760"/>
          </a:xfrm>
          <a:prstGeom prst="rect">
            <a:avLst/>
          </a:prstGeom>
          <a:noFill/>
          <a:ln/>
        </p:spPr>
        <p:txBody>
          <a:bodyPr wrap="square" lIns="0" tIns="0" rIns="0" bIns="0" rtlCol="0" anchor="t"/>
          <a:lstStyle/>
          <a:p>
            <a:pPr indent="0" marL="0">
              <a:buNone/>
            </a:pPr>
            <a:r>
              <a:rPr lang="en-US" sz="2000" b="1" dirty="0">
                <a:solidFill>
                  <a:schemeClr val="tx1"/>
                </a:solidFill>
              </a:rPr>
              <a:t>7740 → 6200</a:t>
            </a:r>
            <a:endParaRPr lang="en-US" sz="2000" dirty="0"/>
          </a:p>
        </p:txBody>
      </p:sp>
      <p:sp>
        <p:nvSpPr>
          <p:cNvPr id="23" name="Text 21"/>
          <p:cNvSpPr txBox="1"/>
          <p:nvPr/>
        </p:nvSpPr>
        <p:spPr>
          <a:xfrm>
            <a:off x="6583680" y="3566160"/>
            <a:ext cx="1828800" cy="274320"/>
          </a:xfrm>
          <a:prstGeom prst="rect">
            <a:avLst/>
          </a:prstGeom>
          <a:noFill/>
          <a:ln/>
        </p:spPr>
        <p:txBody>
          <a:bodyPr wrap="square" lIns="0" tIns="0" rIns="0" bIns="0" rtlCol="0" anchor="t"/>
          <a:lstStyle/>
          <a:p>
            <a:pPr indent="0" marL="0">
              <a:buNone/>
            </a:pPr>
            <a:r>
              <a:rPr lang="en-US" sz="1400" dirty="0">
                <a:solidFill>
                  <a:schemeClr val="tx2"/>
                </a:solidFill>
              </a:rPr>
              <a:t>12 teams</a:t>
            </a:r>
            <a:endParaRPr lang="en-US" sz="1400" dirty="0"/>
          </a:p>
        </p:txBody>
      </p:sp>
      <p:sp>
        <p:nvSpPr>
          <p:cNvPr id="24" name="Text 22"/>
          <p:cNvSpPr txBox="1"/>
          <p:nvPr/>
        </p:nvSpPr>
        <p:spPr>
          <a:xfrm>
            <a:off x="6583680" y="3840480"/>
            <a:ext cx="1828800" cy="365760"/>
          </a:xfrm>
          <a:prstGeom prst="rect">
            <a:avLst/>
          </a:prstGeom>
          <a:noFill/>
          <a:ln/>
        </p:spPr>
        <p:txBody>
          <a:bodyPr wrap="square" lIns="0" tIns="0" rIns="0" bIns="0" rtlCol="0" anchor="t"/>
          <a:lstStyle/>
          <a:p>
            <a:pPr indent="0" marL="0">
              <a:buNone/>
            </a:pPr>
            <a:r>
              <a:rPr lang="en-US" sz="2000" b="1" dirty="0">
                <a:solidFill>
                  <a:schemeClr val="tx1"/>
                </a:solidFill>
              </a:rPr>
              <a:t>8620 → 7760</a:t>
            </a:r>
            <a:endParaRPr lang="en-US" sz="2000" dirty="0"/>
          </a:p>
        </p:txBody>
      </p:sp>
      <p:sp>
        <p:nvSpPr>
          <p:cNvPr id="25" name="Text 23"/>
          <p:cNvSpPr txBox="1"/>
          <p:nvPr/>
        </p:nvSpPr>
        <p:spPr>
          <a:xfrm>
            <a:off x="685800" y="4297680"/>
            <a:ext cx="3657600" cy="228600"/>
          </a:xfrm>
          <a:prstGeom prst="rect">
            <a:avLst/>
          </a:prstGeom>
          <a:noFill/>
          <a:ln/>
        </p:spPr>
        <p:txBody>
          <a:bodyPr wrap="square" lIns="0" tIns="0" rIns="0" bIns="0" rtlCol="0" anchor="t"/>
          <a:lstStyle/>
          <a:p>
            <a:pPr indent="0" marL="0">
              <a:buNone/>
            </a:pPr>
            <a:r>
              <a:rPr lang="en-US" sz="1200" i="1" dirty="0">
                <a:solidFill>
                  <a:schemeClr val="tx1"/>
                </a:solidFill>
              </a:rPr>
              <a:t>Hard rules held in every run.</a:t>
            </a:r>
            <a:endParaRPr lang="en-US" sz="12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algn="l" indent="0" marL="0">
              <a:buNone/>
            </a:pPr>
            <a:r>
              <a:rPr lang="en-US" sz="3400" b="1" dirty="0">
                <a:solidFill>
                  <a:schemeClr val="tx1"/>
                </a:solidFill>
              </a:rPr>
              <a:t>Three-minute demo</a:t>
            </a:r>
            <a:endParaRPr lang="en-US" sz="3400" dirty="0"/>
          </a:p>
        </p:txBody>
      </p:sp>
      <p:sp>
        <p:nvSpPr>
          <p:cNvPr id="3" name="Demo number 1"/>
          <p:cNvSpPr/>
          <p:nvPr/>
        </p:nvSpPr>
        <p:spPr>
          <a:xfrm>
            <a:off x="457200" y="1234440"/>
            <a:ext cx="457200" cy="457200"/>
          </a:xfrm>
          <a:prstGeom prst="ellipse">
            <a:avLst/>
          </a:prstGeom>
          <a:solidFill>
            <a:srgbClr val="3949AB"/>
          </a:solidFill>
          <a:ln w="6350">
            <a:solidFill>
              <a:srgbClr val="3949AB"/>
            </a:solidFill>
            <a:prstDash val="solid"/>
          </a:ln>
        </p:spPr>
      </p:sp>
      <p:sp>
        <p:nvSpPr>
          <p:cNvPr id="4" name="Text 2"/>
          <p:cNvSpPr txBox="1"/>
          <p:nvPr/>
        </p:nvSpPr>
        <p:spPr>
          <a:xfrm>
            <a:off x="457200" y="12344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 3"/>
          <p:cNvSpPr txBox="1"/>
          <p:nvPr/>
        </p:nvSpPr>
        <p:spPr>
          <a:xfrm>
            <a:off x="1143000" y="1234440"/>
            <a:ext cx="2377440" cy="457200"/>
          </a:xfrm>
          <a:prstGeom prst="rect">
            <a:avLst/>
          </a:prstGeom>
          <a:noFill/>
          <a:ln/>
        </p:spPr>
        <p:txBody>
          <a:bodyPr wrap="square" lIns="0" tIns="0" rIns="0" bIns="0" rtlCol="0" anchor="ctr"/>
          <a:lstStyle/>
          <a:p>
            <a:pPr indent="0" marL="0">
              <a:buNone/>
            </a:pPr>
            <a:r>
              <a:rPr lang="en-US" sz="1700" b="1" dirty="0">
                <a:solidFill>
                  <a:schemeClr val="tx1"/>
                </a:solidFill>
              </a:rPr>
              <a:t>Generate</a:t>
            </a:r>
            <a:endParaRPr lang="en-US" sz="1700" dirty="0"/>
          </a:p>
        </p:txBody>
      </p:sp>
      <p:sp>
        <p:nvSpPr>
          <p:cNvPr id="6" name="Text 4"/>
          <p:cNvSpPr txBox="1"/>
          <p:nvPr/>
        </p:nvSpPr>
        <p:spPr>
          <a:xfrm>
            <a:off x="3566160" y="1234440"/>
            <a:ext cx="5120640" cy="457200"/>
          </a:xfrm>
          <a:prstGeom prst="rect">
            <a:avLst/>
          </a:prstGeom>
          <a:noFill/>
          <a:ln/>
        </p:spPr>
        <p:txBody>
          <a:bodyPr wrap="square" lIns="0" tIns="0" rIns="0" bIns="0" rtlCol="0" anchor="ctr"/>
          <a:lstStyle/>
          <a:p>
            <a:pPr indent="0" marL="0">
              <a:buNone/>
            </a:pPr>
            <a:r>
              <a:rPr lang="en-US" sz="1500" dirty="0">
                <a:solidFill>
                  <a:schemeClr val="tx1"/>
                </a:solidFill>
              </a:rPr>
              <a:t>A 12-team schedule with its quality summary</a:t>
            </a:r>
            <a:endParaRPr lang="en-US" sz="1500" dirty="0"/>
          </a:p>
        </p:txBody>
      </p:sp>
      <p:sp>
        <p:nvSpPr>
          <p:cNvPr id="7" name="Demo number 2"/>
          <p:cNvSpPr/>
          <p:nvPr/>
        </p:nvSpPr>
        <p:spPr>
          <a:xfrm>
            <a:off x="457200" y="1911096"/>
            <a:ext cx="457200" cy="457200"/>
          </a:xfrm>
          <a:prstGeom prst="ellipse">
            <a:avLst/>
          </a:prstGeom>
          <a:solidFill>
            <a:srgbClr val="00897B"/>
          </a:solidFill>
          <a:ln w="6350">
            <a:solidFill>
              <a:srgbClr val="00897B"/>
            </a:solidFill>
            <a:prstDash val="solid"/>
          </a:ln>
        </p:spPr>
      </p:sp>
      <p:sp>
        <p:nvSpPr>
          <p:cNvPr id="8" name="Text 6"/>
          <p:cNvSpPr txBox="1"/>
          <p:nvPr/>
        </p:nvSpPr>
        <p:spPr>
          <a:xfrm>
            <a:off x="457200" y="191109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9" name="Text 7"/>
          <p:cNvSpPr txBox="1"/>
          <p:nvPr/>
        </p:nvSpPr>
        <p:spPr>
          <a:xfrm>
            <a:off x="1143000" y="1911096"/>
            <a:ext cx="2377440" cy="457200"/>
          </a:xfrm>
          <a:prstGeom prst="rect">
            <a:avLst/>
          </a:prstGeom>
          <a:noFill/>
          <a:ln/>
        </p:spPr>
        <p:txBody>
          <a:bodyPr wrap="square" lIns="0" tIns="0" rIns="0" bIns="0" rtlCol="0" anchor="ctr"/>
          <a:lstStyle/>
          <a:p>
            <a:pPr indent="0" marL="0">
              <a:buNone/>
            </a:pPr>
            <a:r>
              <a:rPr lang="en-US" sz="1700" b="1" dirty="0">
                <a:solidFill>
                  <a:schemeClr val="tx1"/>
                </a:solidFill>
              </a:rPr>
              <a:t>Sync two phones</a:t>
            </a:r>
            <a:endParaRPr lang="en-US" sz="1700" dirty="0"/>
          </a:p>
        </p:txBody>
      </p:sp>
      <p:sp>
        <p:nvSpPr>
          <p:cNvPr id="10" name="Text 8"/>
          <p:cNvSpPr txBox="1"/>
          <p:nvPr/>
        </p:nvSpPr>
        <p:spPr>
          <a:xfrm>
            <a:off x="3566160" y="1911096"/>
            <a:ext cx="5120640" cy="457200"/>
          </a:xfrm>
          <a:prstGeom prst="rect">
            <a:avLst/>
          </a:prstGeom>
          <a:noFill/>
          <a:ln/>
        </p:spPr>
        <p:txBody>
          <a:bodyPr wrap="square" lIns="0" tIns="0" rIns="0" bIns="0" rtlCol="0" anchor="ctr"/>
          <a:lstStyle/>
          <a:p>
            <a:pPr indent="0" marL="0">
              <a:buNone/>
            </a:pPr>
            <a:r>
              <a:rPr lang="en-US" sz="1500" dirty="0">
                <a:solidFill>
                  <a:schemeClr val="tx1"/>
                </a:solidFill>
              </a:rPr>
              <a:t>Add clashing matches offline, reconnect, both converge</a:t>
            </a:r>
            <a:endParaRPr lang="en-US" sz="1500" dirty="0"/>
          </a:p>
        </p:txBody>
      </p:sp>
      <p:sp>
        <p:nvSpPr>
          <p:cNvPr id="11" name="Demo number 3"/>
          <p:cNvSpPr/>
          <p:nvPr/>
        </p:nvSpPr>
        <p:spPr>
          <a:xfrm>
            <a:off x="457200" y="2587752"/>
            <a:ext cx="457200" cy="457200"/>
          </a:xfrm>
          <a:prstGeom prst="ellipse">
            <a:avLst/>
          </a:prstGeom>
          <a:solidFill>
            <a:srgbClr val="3949AB"/>
          </a:solidFill>
          <a:ln w="6350">
            <a:solidFill>
              <a:srgbClr val="3949AB"/>
            </a:solidFill>
            <a:prstDash val="solid"/>
          </a:ln>
        </p:spPr>
      </p:sp>
      <p:sp>
        <p:nvSpPr>
          <p:cNvPr id="12" name="Text 10"/>
          <p:cNvSpPr txBox="1"/>
          <p:nvPr/>
        </p:nvSpPr>
        <p:spPr>
          <a:xfrm>
            <a:off x="457200" y="258775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3" name="Text 11"/>
          <p:cNvSpPr txBox="1"/>
          <p:nvPr/>
        </p:nvSpPr>
        <p:spPr>
          <a:xfrm>
            <a:off x="1143000" y="2587752"/>
            <a:ext cx="2377440" cy="457200"/>
          </a:xfrm>
          <a:prstGeom prst="rect">
            <a:avLst/>
          </a:prstGeom>
          <a:noFill/>
          <a:ln/>
        </p:spPr>
        <p:txBody>
          <a:bodyPr wrap="square" lIns="0" tIns="0" rIns="0" bIns="0" rtlCol="0" anchor="ctr"/>
          <a:lstStyle/>
          <a:p>
            <a:pPr indent="0" marL="0">
              <a:buNone/>
            </a:pPr>
            <a:r>
              <a:rPr lang="en-US" sz="1700" b="1" dirty="0">
                <a:solidFill>
                  <a:schemeClr val="tx1"/>
                </a:solidFill>
              </a:rPr>
              <a:t>Late kick-off</a:t>
            </a:r>
            <a:endParaRPr lang="en-US" sz="1700" dirty="0"/>
          </a:p>
        </p:txBody>
      </p:sp>
      <p:sp>
        <p:nvSpPr>
          <p:cNvPr id="14" name="Text 12"/>
          <p:cNvSpPr txBox="1"/>
          <p:nvPr/>
        </p:nvSpPr>
        <p:spPr>
          <a:xfrm>
            <a:off x="3566160" y="2587752"/>
            <a:ext cx="5120640" cy="457200"/>
          </a:xfrm>
          <a:prstGeom prst="rect">
            <a:avLst/>
          </a:prstGeom>
          <a:noFill/>
          <a:ln/>
        </p:spPr>
        <p:txBody>
          <a:bodyPr wrap="square" lIns="0" tIns="0" rIns="0" bIns="0" rtlCol="0" anchor="ctr"/>
          <a:lstStyle/>
          <a:p>
            <a:pPr indent="0" marL="0">
              <a:buNone/>
            </a:pPr>
            <a:r>
              <a:rPr lang="en-US" sz="1500" dirty="0">
                <a:solidFill>
                  <a:schemeClr val="tx1"/>
                </a:solidFill>
              </a:rPr>
              <a:t>Referee logs it; admin previews and applies the re-timing</a:t>
            </a:r>
            <a:endParaRPr lang="en-US" sz="1500" dirty="0"/>
          </a:p>
        </p:txBody>
      </p:sp>
      <p:sp>
        <p:nvSpPr>
          <p:cNvPr id="15" name="Demo number 4"/>
          <p:cNvSpPr/>
          <p:nvPr/>
        </p:nvSpPr>
        <p:spPr>
          <a:xfrm>
            <a:off x="457200" y="3264408"/>
            <a:ext cx="457200" cy="457200"/>
          </a:xfrm>
          <a:prstGeom prst="ellipse">
            <a:avLst/>
          </a:prstGeom>
          <a:solidFill>
            <a:srgbClr val="00897B"/>
          </a:solidFill>
          <a:ln w="6350">
            <a:solidFill>
              <a:srgbClr val="00897B"/>
            </a:solidFill>
            <a:prstDash val="solid"/>
          </a:ln>
        </p:spPr>
      </p:sp>
      <p:sp>
        <p:nvSpPr>
          <p:cNvPr id="16" name="Text 14"/>
          <p:cNvSpPr txBox="1"/>
          <p:nvPr/>
        </p:nvSpPr>
        <p:spPr>
          <a:xfrm>
            <a:off x="457200" y="326440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7" name="Text 15"/>
          <p:cNvSpPr txBox="1"/>
          <p:nvPr/>
        </p:nvSpPr>
        <p:spPr>
          <a:xfrm>
            <a:off x="1143000" y="3264408"/>
            <a:ext cx="2377440" cy="457200"/>
          </a:xfrm>
          <a:prstGeom prst="rect">
            <a:avLst/>
          </a:prstGeom>
          <a:noFill/>
          <a:ln/>
        </p:spPr>
        <p:txBody>
          <a:bodyPr wrap="square" lIns="0" tIns="0" rIns="0" bIns="0" rtlCol="0" anchor="ctr"/>
          <a:lstStyle/>
          <a:p>
            <a:pPr indent="0" marL="0">
              <a:buNone/>
            </a:pPr>
            <a:r>
              <a:rPr lang="en-US" sz="1700" b="1" dirty="0">
                <a:solidFill>
                  <a:schemeClr val="tx1"/>
                </a:solidFill>
              </a:rPr>
              <a:t>Rain</a:t>
            </a:r>
            <a:endParaRPr lang="en-US" sz="1700" dirty="0"/>
          </a:p>
        </p:txBody>
      </p:sp>
      <p:sp>
        <p:nvSpPr>
          <p:cNvPr id="18" name="Text 16"/>
          <p:cNvSpPr txBox="1"/>
          <p:nvPr/>
        </p:nvSpPr>
        <p:spPr>
          <a:xfrm>
            <a:off x="3566160" y="3264408"/>
            <a:ext cx="5120640" cy="457200"/>
          </a:xfrm>
          <a:prstGeom prst="rect">
            <a:avLst/>
          </a:prstGeom>
          <a:noFill/>
          <a:ln/>
        </p:spPr>
        <p:txBody>
          <a:bodyPr wrap="square" lIns="0" tIns="0" rIns="0" bIns="0" rtlCol="0" anchor="ctr"/>
          <a:lstStyle/>
          <a:p>
            <a:pPr indent="0" marL="0">
              <a:buNone/>
            </a:pPr>
            <a:r>
              <a:rPr lang="en-US" sz="1500" dirty="0">
                <a:solidFill>
                  <a:schemeClr val="tx1"/>
                </a:solidFill>
              </a:rPr>
              <a:t>Outdoor matches move to free slots</a:t>
            </a:r>
            <a:endParaRPr lang="en-US" sz="1500" dirty="0"/>
          </a:p>
        </p:txBody>
      </p:sp>
      <p:sp>
        <p:nvSpPr>
          <p:cNvPr id="19" name="Demo number 5"/>
          <p:cNvSpPr/>
          <p:nvPr/>
        </p:nvSpPr>
        <p:spPr>
          <a:xfrm>
            <a:off x="457200" y="3941064"/>
            <a:ext cx="457200" cy="457200"/>
          </a:xfrm>
          <a:prstGeom prst="ellipse">
            <a:avLst/>
          </a:prstGeom>
          <a:solidFill>
            <a:srgbClr val="3949AB"/>
          </a:solidFill>
          <a:ln w="6350">
            <a:solidFill>
              <a:srgbClr val="3949AB"/>
            </a:solidFill>
            <a:prstDash val="solid"/>
          </a:ln>
        </p:spPr>
      </p:sp>
      <p:sp>
        <p:nvSpPr>
          <p:cNvPr id="20" name="Text 18"/>
          <p:cNvSpPr txBox="1"/>
          <p:nvPr/>
        </p:nvSpPr>
        <p:spPr>
          <a:xfrm>
            <a:off x="457200" y="394106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1" name="Text 19"/>
          <p:cNvSpPr txBox="1"/>
          <p:nvPr/>
        </p:nvSpPr>
        <p:spPr>
          <a:xfrm>
            <a:off x="1143000" y="3941064"/>
            <a:ext cx="2377440" cy="457200"/>
          </a:xfrm>
          <a:prstGeom prst="rect">
            <a:avLst/>
          </a:prstGeom>
          <a:noFill/>
          <a:ln/>
        </p:spPr>
        <p:txBody>
          <a:bodyPr wrap="square" lIns="0" tIns="0" rIns="0" bIns="0" rtlCol="0" anchor="ctr"/>
          <a:lstStyle/>
          <a:p>
            <a:pPr indent="0" marL="0">
              <a:buNone/>
            </a:pPr>
            <a:r>
              <a:rPr lang="en-US" sz="1700" b="1" dirty="0">
                <a:solidFill>
                  <a:schemeClr val="tx1"/>
                </a:solidFill>
              </a:rPr>
              <a:t>Live dashboard</a:t>
            </a:r>
            <a:endParaRPr lang="en-US" sz="1700" dirty="0"/>
          </a:p>
        </p:txBody>
      </p:sp>
      <p:sp>
        <p:nvSpPr>
          <p:cNvPr id="22" name="Text 20"/>
          <p:cNvSpPr txBox="1"/>
          <p:nvPr/>
        </p:nvSpPr>
        <p:spPr>
          <a:xfrm>
            <a:off x="3566160" y="3941064"/>
            <a:ext cx="5120640" cy="457200"/>
          </a:xfrm>
          <a:prstGeom prst="rect">
            <a:avLst/>
          </a:prstGeom>
          <a:noFill/>
          <a:ln/>
        </p:spPr>
        <p:txBody>
          <a:bodyPr wrap="square" lIns="0" tIns="0" rIns="0" bIns="0" rtlCol="0" anchor="ctr"/>
          <a:lstStyle/>
          <a:p>
            <a:pPr indent="0" marL="0">
              <a:buNone/>
            </a:pPr>
            <a:r>
              <a:rPr lang="en-US" sz="1500" dirty="0">
                <a:solidFill>
                  <a:schemeClr val="tx1"/>
                </a:solidFill>
              </a:rPr>
              <a:t>Standings update on the spectators' web page</a:t>
            </a:r>
            <a:endParaRPr lang="en-US" sz="15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algn="l" indent="0" marL="0">
              <a:buNone/>
            </a:pPr>
            <a:r>
              <a:rPr lang="en-US" sz="3400" b="1" dirty="0">
                <a:solidFill>
                  <a:schemeClr val="tx1"/>
                </a:solidFill>
              </a:rPr>
              <a:t>Limits and next steps</a:t>
            </a:r>
            <a:endParaRPr lang="en-US" sz="3400" dirty="0"/>
          </a:p>
        </p:txBody>
      </p:sp>
      <p:sp>
        <p:nvSpPr>
          <p:cNvPr id="3" name="Limits card"/>
          <p:cNvSpPr/>
          <p:nvPr/>
        </p:nvSpPr>
        <p:spPr>
          <a:xfrm>
            <a:off x="457200" y="1234440"/>
            <a:ext cx="4023360" cy="3200400"/>
          </a:xfrm>
          <a:prstGeom prst="roundRect">
            <a:avLst>
              <a:gd name="adj" fmla="val 3429"/>
            </a:avLst>
          </a:prstGeom>
          <a:solidFill>
            <a:schemeClr val="bg2"/>
          </a:solidFill>
          <a:ln w="6350">
            <a:solidFill>
              <a:schemeClr val="bg2"/>
            </a:solidFill>
            <a:prstDash val="solid"/>
          </a:ln>
          <a:effectLst>
            <a:outerShdw sx="100000" sy="100000" kx="0" ky="0" algn="bl" rotWithShape="0" blurRad="76200" dist="25400" dir="5400000">
              <a:srgbClr val="000000">
                <a:alpha val="12000"/>
              </a:srgbClr>
            </a:outerShdw>
          </a:effectLst>
        </p:spPr>
      </p:sp>
      <p:sp>
        <p:nvSpPr>
          <p:cNvPr id="4" name="Text 2"/>
          <p:cNvSpPr txBox="1"/>
          <p:nvPr/>
        </p:nvSpPr>
        <p:spPr>
          <a:xfrm>
            <a:off x="685800" y="1417320"/>
            <a:ext cx="3566160" cy="320040"/>
          </a:xfrm>
          <a:prstGeom prst="rect">
            <a:avLst/>
          </a:prstGeom>
          <a:noFill/>
          <a:ln/>
        </p:spPr>
        <p:txBody>
          <a:bodyPr wrap="square" lIns="0" tIns="0" rIns="0" bIns="0" rtlCol="0" anchor="t"/>
          <a:lstStyle/>
          <a:p>
            <a:pPr indent="0" marL="0">
              <a:buNone/>
            </a:pPr>
            <a:r>
              <a:rPr lang="en-US" sz="1800" b="1" dirty="0">
                <a:solidFill>
                  <a:schemeClr val="accent3"/>
                </a:solidFill>
              </a:rPr>
              <a:t>Honest limits</a:t>
            </a:r>
            <a:endParaRPr lang="en-US" sz="1800" dirty="0"/>
          </a:p>
        </p:txBody>
      </p:sp>
      <p:sp>
        <p:nvSpPr>
          <p:cNvPr id="5" name="Text 3"/>
          <p:cNvSpPr txBox="1"/>
          <p:nvPr/>
        </p:nvSpPr>
        <p:spPr>
          <a:xfrm>
            <a:off x="685800" y="1874520"/>
            <a:ext cx="3566160" cy="2468880"/>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chemeClr val="tx1"/>
                </a:solidFill>
              </a:rPr>
              <a:t>Heuristic scheduler: good for 8–16 teams, not guaranteed optimal</a:t>
            </a:r>
            <a:endParaRPr lang="en-US" sz="1600" dirty="0"/>
          </a:p>
          <a:p>
            <a:pPr marL="203200" indent="-203200">
              <a:spcAft>
                <a:spcPts val="600"/>
              </a:spcAft>
              <a:buSzPct val="100000"/>
              <a:buChar char="•"/>
            </a:pPr>
            <a:r>
              <a:rPr lang="en-US" sz="1600" dirty="0">
                <a:solidFill>
                  <a:schemeClr val="tx1"/>
                </a:solidFill>
              </a:rPr>
              <a:t>Notifications are local; server push needs a paid plan</a:t>
            </a:r>
            <a:endParaRPr lang="en-US" sz="1600" dirty="0"/>
          </a:p>
          <a:p>
            <a:pPr marL="203200" indent="-203200">
              <a:spcAft>
                <a:spcPts val="600"/>
              </a:spcAft>
              <a:buSzPct val="100000"/>
              <a:buChar char="•"/>
            </a:pPr>
            <a:r>
              <a:rPr lang="en-US" sz="1600" dirty="0">
                <a:solidFill>
                  <a:schemeClr val="tx1"/>
                </a:solidFill>
              </a:rPr>
              <a:t>Teams, venues and referees are not part of the synced log</a:t>
            </a:r>
            <a:endParaRPr lang="en-US" sz="1600" dirty="0"/>
          </a:p>
          <a:p>
            <a:pPr marL="203200" indent="-203200">
              <a:spcAft>
                <a:spcPts val="600"/>
              </a:spcAft>
              <a:buSzPct val="100000"/>
              <a:buChar char="•"/>
            </a:pPr>
            <a:r>
              <a:rPr lang="en-US" sz="1600" dirty="0">
                <a:solidFill>
                  <a:schemeClr val="tx1"/>
                </a:solidFill>
              </a:rPr>
              <a:t>Sync tested on a few phones so far</a:t>
            </a:r>
            <a:endParaRPr lang="en-US" sz="1600" dirty="0"/>
          </a:p>
        </p:txBody>
      </p:sp>
      <p:sp>
        <p:nvSpPr>
          <p:cNvPr id="6" name="Next steps card"/>
          <p:cNvSpPr/>
          <p:nvPr/>
        </p:nvSpPr>
        <p:spPr>
          <a:xfrm>
            <a:off x="4663440" y="1234440"/>
            <a:ext cx="4023360" cy="3200400"/>
          </a:xfrm>
          <a:prstGeom prst="roundRect">
            <a:avLst>
              <a:gd name="adj" fmla="val 3429"/>
            </a:avLst>
          </a:prstGeom>
          <a:solidFill>
            <a:schemeClr val="bg2"/>
          </a:solidFill>
          <a:ln w="6350">
            <a:solidFill>
              <a:schemeClr val="bg2"/>
            </a:solidFill>
            <a:prstDash val="solid"/>
          </a:ln>
          <a:effectLst>
            <a:outerShdw sx="100000" sy="100000" kx="0" ky="0" algn="bl" rotWithShape="0" blurRad="76200" dist="25400" dir="5400000">
              <a:srgbClr val="000000">
                <a:alpha val="12000"/>
              </a:srgbClr>
            </a:outerShdw>
          </a:effectLst>
        </p:spPr>
      </p:sp>
      <p:sp>
        <p:nvSpPr>
          <p:cNvPr id="7" name="Text 5"/>
          <p:cNvSpPr txBox="1"/>
          <p:nvPr/>
        </p:nvSpPr>
        <p:spPr>
          <a:xfrm>
            <a:off x="4892040" y="1417320"/>
            <a:ext cx="3566160" cy="320040"/>
          </a:xfrm>
          <a:prstGeom prst="rect">
            <a:avLst/>
          </a:prstGeom>
          <a:noFill/>
          <a:ln/>
        </p:spPr>
        <p:txBody>
          <a:bodyPr wrap="square" lIns="0" tIns="0" rIns="0" bIns="0" rtlCol="0" anchor="t"/>
          <a:lstStyle/>
          <a:p>
            <a:pPr indent="0" marL="0">
              <a:buNone/>
            </a:pPr>
            <a:r>
              <a:rPr lang="en-US" sz="1800" b="1" dirty="0">
                <a:solidFill>
                  <a:schemeClr val="accent2"/>
                </a:solidFill>
              </a:rPr>
              <a:t>Next steps</a:t>
            </a:r>
            <a:endParaRPr lang="en-US" sz="1800" dirty="0"/>
          </a:p>
        </p:txBody>
      </p:sp>
      <p:sp>
        <p:nvSpPr>
          <p:cNvPr id="8" name="Text 6"/>
          <p:cNvSpPr txBox="1"/>
          <p:nvPr/>
        </p:nvSpPr>
        <p:spPr>
          <a:xfrm>
            <a:off x="4892040" y="1874520"/>
            <a:ext cx="3566160" cy="2468880"/>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chemeClr val="tx1"/>
                </a:solidFill>
              </a:rPr>
              <a:t>Phone-to-phone sync with Nearby Connections</a:t>
            </a:r>
            <a:endParaRPr lang="en-US" sz="1600" dirty="0"/>
          </a:p>
          <a:p>
            <a:pPr marL="203200" indent="-203200">
              <a:spcAft>
                <a:spcPts val="600"/>
              </a:spcAft>
              <a:buSzPct val="100000"/>
              <a:buChar char="•"/>
            </a:pPr>
            <a:r>
              <a:rPr lang="en-US" sz="1600" dirty="0">
                <a:solidFill>
                  <a:schemeClr val="tx1"/>
                </a:solidFill>
              </a:rPr>
              <a:t>Weather forecast instead of a manual rain window</a:t>
            </a:r>
            <a:endParaRPr lang="en-US" sz="1600" dirty="0"/>
          </a:p>
          <a:p>
            <a:pPr marL="203200" indent="-203200">
              <a:spcAft>
                <a:spcPts val="600"/>
              </a:spcAft>
              <a:buSzPct val="100000"/>
              <a:buChar char="•"/>
            </a:pPr>
            <a:r>
              <a:rPr lang="en-US" sz="1600" dirty="0">
                <a:solidFill>
                  <a:schemeClr val="tx1"/>
                </a:solidFill>
              </a:rPr>
              <a:t>Player-level clash detection for multi-sport events</a:t>
            </a:r>
            <a:endParaRPr lang="en-US" sz="1600" dirty="0"/>
          </a:p>
          <a:p>
            <a:pPr marL="203200" indent="-203200">
              <a:spcAft>
                <a:spcPts val="600"/>
              </a:spcAft>
              <a:buSzPct val="100000"/>
              <a:buChar char="•"/>
            </a:pPr>
            <a:r>
              <a:rPr lang="en-US" sz="1600" dirty="0">
                <a:solidFill>
                  <a:schemeClr val="tx1"/>
                </a:solidFill>
              </a:rPr>
              <a:t>Larger tournaments and leagues</a:t>
            </a:r>
            <a:endParaRPr lang="en-US" sz="16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Glow teal"/>
          <p:cNvSpPr/>
          <p:nvPr/>
        </p:nvSpPr>
        <p:spPr>
          <a:xfrm>
            <a:off x="5760720" y="-822960"/>
            <a:ext cx="4206240" cy="4206240"/>
          </a:xfrm>
          <a:prstGeom prst="ellipse">
            <a:avLst/>
          </a:prstGeom>
          <a:solidFill>
            <a:schemeClr val="accent2">
              <a:alpha val="45000"/>
            </a:schemeClr>
          </a:solidFill>
          <a:ln w="12700">
            <a:solidFill>
              <a:schemeClr val="accent2">
                <a:alpha val="0"/>
              </a:schemeClr>
            </a:solidFill>
            <a:prstDash val="solid"/>
          </a:ln>
        </p:spPr>
      </p:sp>
      <p:sp>
        <p:nvSpPr>
          <p:cNvPr id="3" name="Glow coral"/>
          <p:cNvSpPr/>
          <p:nvPr/>
        </p:nvSpPr>
        <p:spPr>
          <a:xfrm>
            <a:off x="7040880" y="2468880"/>
            <a:ext cx="3291840" cy="3291840"/>
          </a:xfrm>
          <a:prstGeom prst="ellipse">
            <a:avLst/>
          </a:prstGeom>
          <a:solidFill>
            <a:schemeClr val="accent3">
              <a:alpha val="38000"/>
            </a:schemeClr>
          </a:solidFill>
          <a:ln w="12700">
            <a:solidFill>
              <a:schemeClr val="accent3">
                <a:alpha val="0"/>
              </a:schemeClr>
            </a:solidFill>
            <a:prstDash val="solid"/>
          </a:ln>
        </p:spPr>
      </p:sp>
      <p:sp>
        <p:nvSpPr>
          <p:cNvPr id="4" name="Glow purple"/>
          <p:cNvSpPr/>
          <p:nvPr/>
        </p:nvSpPr>
        <p:spPr>
          <a:xfrm>
            <a:off x="4754880" y="3200400"/>
            <a:ext cx="2377440" cy="2377440"/>
          </a:xfrm>
          <a:prstGeom prst="ellipse">
            <a:avLst/>
          </a:prstGeom>
          <a:solidFill>
            <a:schemeClr val="accent4">
              <a:alpha val="45000"/>
            </a:schemeClr>
          </a:solidFill>
          <a:ln w="12700">
            <a:solidFill>
              <a:schemeClr val="accent4">
                <a:alpha val="0"/>
              </a:schemeClr>
            </a:solidFill>
            <a:prstDash val="solid"/>
          </a:ln>
        </p:spPr>
      </p:sp>
      <p:sp>
        <p:nvSpPr>
          <p:cNvPr id="5" name="Text 0"/>
          <p:cNvSpPr/>
          <p:nvPr>
            <p:ph idx="100" type="title" hasCustomPrompt="1"/>
          </p:nvPr>
        </p:nvSpPr>
        <p:spPr>
          <a:xfrm>
            <a:off x="548640" y="1051560"/>
            <a:ext cx="4754880" cy="914400"/>
          </a:xfrm>
          <a:prstGeom prst="rect">
            <a:avLst/>
          </a:prstGeom>
          <a:noFill/>
          <a:ln/>
        </p:spPr>
        <p:txBody>
          <a:bodyPr wrap="square" lIns="0" tIns="0" rIns="0" bIns="0" rtlCol="0" anchor="ctr"/>
          <a:lstStyle/>
          <a:p>
            <a:pPr algn="l" indent="0" marL="0">
              <a:buNone/>
            </a:pPr>
            <a:r>
              <a:rPr lang="en-US" sz="5400" b="1" dirty="0">
                <a:solidFill>
                  <a:schemeClr val="bg1"/>
                </a:solidFill>
              </a:rPr>
              <a:t>Thank you</a:t>
            </a:r>
            <a:endParaRPr lang="en-US" sz="5400" dirty="0"/>
          </a:p>
        </p:txBody>
      </p:sp>
      <p:sp>
        <p:nvSpPr>
          <p:cNvPr id="6" name="Text 4"/>
          <p:cNvSpPr txBox="1"/>
          <p:nvPr/>
        </p:nvSpPr>
        <p:spPr>
          <a:xfrm>
            <a:off x="548640" y="2148840"/>
            <a:ext cx="4572000" cy="548640"/>
          </a:xfrm>
          <a:prstGeom prst="rect">
            <a:avLst/>
          </a:prstGeom>
          <a:noFill/>
          <a:ln/>
        </p:spPr>
        <p:txBody>
          <a:bodyPr wrap="square" lIns="0" tIns="0" rIns="0" bIns="0" rtlCol="0" anchor="t"/>
          <a:lstStyle/>
          <a:p>
            <a:pPr indent="0" marL="0">
              <a:buNone/>
            </a:pPr>
            <a:r>
              <a:rPr lang="en-US" sz="2800" dirty="0">
                <a:solidFill>
                  <a:schemeClr val="bg2"/>
                </a:solidFill>
              </a:rPr>
              <a:t>Questions?</a:t>
            </a:r>
            <a:endParaRPr lang="en-US" sz="2800" dirty="0"/>
          </a:p>
        </p:txBody>
      </p:sp>
      <p:sp>
        <p:nvSpPr>
          <p:cNvPr id="7" name="Text 5"/>
          <p:cNvSpPr txBox="1"/>
          <p:nvPr/>
        </p:nvSpPr>
        <p:spPr>
          <a:xfrm>
            <a:off x="548640" y="3383280"/>
            <a:ext cx="4937760" cy="320040"/>
          </a:xfrm>
          <a:prstGeom prst="rect">
            <a:avLst/>
          </a:prstGeom>
          <a:noFill/>
          <a:ln/>
        </p:spPr>
        <p:txBody>
          <a:bodyPr wrap="square" lIns="0" tIns="0" rIns="0" bIns="0" rtlCol="0" anchor="t"/>
          <a:lstStyle/>
          <a:p>
            <a:pPr indent="0" marL="0">
              <a:buNone/>
            </a:pPr>
            <a:r>
              <a:rPr lang="en-US" sz="1600" dirty="0">
                <a:solidFill>
                  <a:schemeClr val="bg1"/>
                </a:solidFill>
              </a:rPr>
              <a:t>Live standings: refwhistle-a0303.web.app</a:t>
            </a:r>
            <a:endParaRPr lang="en-US" sz="1600" dirty="0"/>
          </a:p>
        </p:txBody>
      </p:sp>
      <p:sp>
        <p:nvSpPr>
          <p:cNvPr id="8" name="Text 6"/>
          <p:cNvSpPr txBox="1"/>
          <p:nvPr/>
        </p:nvSpPr>
        <p:spPr>
          <a:xfrm>
            <a:off x="548640" y="3840480"/>
            <a:ext cx="4572000" cy="320040"/>
          </a:xfrm>
          <a:prstGeom prst="rect">
            <a:avLst/>
          </a:prstGeom>
          <a:noFill/>
          <a:ln/>
        </p:spPr>
        <p:txBody>
          <a:bodyPr wrap="square" lIns="0" tIns="0" rIns="0" bIns="0" rtlCol="0" anchor="t"/>
          <a:lstStyle/>
          <a:p>
            <a:pPr indent="0" marL="0">
              <a:buNone/>
            </a:pPr>
            <a:r>
              <a:rPr lang="en-US" sz="1600" b="1" dirty="0">
                <a:solidFill>
                  <a:schemeClr val="bg1"/>
                </a:solidFill>
              </a:rPr>
              <a:t>Sanika Jamadar</a:t>
            </a:r>
            <a:endParaRPr lang="en-US" sz="1600" dirty="0"/>
          </a:p>
        </p:txBody>
      </p:sp>
    </p:spTree>
  </p:cSld>
  <p:clrMapOvr>
    <a:masterClrMapping/>
  </p:clrMapOvr>
</p:sld>
</file>

<file path=ppt/theme/theme1.xml><?xml version="1.0" encoding="utf-8"?>
<a:theme xmlns:a="http://schemas.openxmlformats.org/drawingml/2006/main" name="RefWhistle">
  <a:themeElements>
    <a:clrScheme name="RefWhistle">
      <a:dk1>
        <a:srgbClr val="1A1446"/>
      </a:dk1>
      <a:lt1>
        <a:srgbClr val="FFFFFF"/>
      </a:lt1>
      <a:dk2>
        <a:srgbClr val="3949AB"/>
      </a:dk2>
      <a:lt2>
        <a:srgbClr val="F3F1FB"/>
      </a:lt2>
      <a:accent1>
        <a:srgbClr val="3949AB"/>
      </a:accent1>
      <a:accent2>
        <a:srgbClr val="00897B"/>
      </a:accent2>
      <a:accent3>
        <a:srgbClr val="E64A19"/>
      </a:accent3>
      <a:accent4>
        <a:srgbClr val="8E24AA"/>
      </a:accent4>
      <a:accent5>
        <a:srgbClr val="FFB300"/>
      </a:accent5>
      <a:accent6>
        <a:srgbClr val="5C6BC0"/>
      </a:accent6>
      <a:hlink>
        <a:srgbClr val="1E88E5"/>
      </a:hlink>
      <a:folHlink>
        <a:srgbClr val="8E24AA"/>
      </a:folHlink>
    </a:clrScheme>
    <a:fontScheme name="RefWhistle">
      <a:majorFont>
        <a:latin typeface="Times New Roma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imes New Roman"/>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RefWhistle</dc:title>
  <dc:subject>Mobile Application Development mini project</dc:subject>
  <dc:creator>Sanika Jamadar</dc:creator>
  <cp:lastModifiedBy>Sanika Jamadar</cp:lastModifiedBy>
  <cp:revision>1</cp:revision>
  <dcterms:created xsi:type="dcterms:W3CDTF">2026-10-18T16:24:16Z</dcterms:created>
  <dcterms:modified xsi:type="dcterms:W3CDTF">2026-10-18T16:24:16Z</dcterms:modified>
</cp:coreProperties>
</file>