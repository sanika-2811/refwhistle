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58" r:id="rId5"/>
    <p:sldId id="393" r:id="rId6"/>
    <p:sldId id="394" r:id="rId7"/>
    <p:sldId id="395" r:id="rId8"/>
    <p:sldId id="30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60000"/>
    <a:srgbClr val="660066"/>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94E37-74BD-725C-630D-F4B1C7B84340}" v="31" dt="2026-01-29T09:13:41.566"/>
    <p1510:client id="{7EB43320-B940-95BE-46D5-A88D6CD6EA47}" v="4" dt="2026-01-28T12:50:25.9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754"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200" b="1" i="0">
                <a:solidFill>
                  <a:srgbClr val="262626"/>
                </a:solidFill>
                <a:latin typeface="Times New Roman"/>
              </a:rPr>
              <a:t>Matches moved by one 15-minute delay (lower is better)</a:t>
            </a:r>
          </a:p>
        </c:rich>
      </c:tx>
      <c:overlay val="0"/>
    </c:title>
    <c:autoTitleDeleted val="0"/>
    <c:plotArea>
      <c:layout/>
      <c:barChart>
        <c:barDir val="col"/>
        <c:grouping val="clustered"/>
        <c:varyColors val="1"/>
        <c:ser>
          <c:idx val="0"/>
          <c:order val="0"/>
          <c:tx>
            <c:strRef>
              <c:f>Sheet1!$B$1</c:f>
              <c:strCache>
                <c:ptCount val="1"/>
                <c:pt idx="0">
                  <c:v>Basic scheduler</c:v>
                </c:pt>
              </c:strCache>
            </c:strRef>
          </c:tx>
          <c:spPr>
            <a:solidFill>
              <a:srgbClr val="A6A6A6"/>
            </a:solidFill>
          </c:spPr>
          <c:invertIfNegative val="1"/>
          <c:dLbls>
            <c:numFmt formatCode="0.0" sourceLinked="0"/>
            <c:spPr>
              <a:noFill/>
              <a:ln>
                <a:noFill/>
              </a:ln>
              <a:effectLst/>
            </c:spPr>
            <c:txPr>
              <a:bodyPr/>
              <a:lstStyle/>
              <a:p>
                <a:pPr>
                  <a:defRPr sz="11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8 teams</c:v>
                </c:pt>
                <c:pt idx="1">
                  <c:v>10 teams</c:v>
                </c:pt>
                <c:pt idx="2">
                  <c:v>12 teams</c:v>
                </c:pt>
              </c:strCache>
            </c:strRef>
          </c:cat>
          <c:val>
            <c:numRef>
              <c:f>Sheet1!$B$2:$B$4</c:f>
              <c:numCache>
                <c:formatCode>General</c:formatCode>
                <c:ptCount val="3"/>
                <c:pt idx="0">
                  <c:v>2.15</c:v>
                </c:pt>
                <c:pt idx="1">
                  <c:v>4.67</c:v>
                </c:pt>
                <c:pt idx="2">
                  <c:v>6.31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98D-4A33-A32D-83F302F2677A}"/>
            </c:ext>
          </c:extLst>
        </c:ser>
        <c:ser>
          <c:idx val="1"/>
          <c:order val="1"/>
          <c:tx>
            <c:strRef>
              <c:f>Sheet1!$C$1</c:f>
              <c:strCache>
                <c:ptCount val="1"/>
                <c:pt idx="0">
                  <c:v>Optimiser without delay rule</c:v>
                </c:pt>
              </c:strCache>
            </c:strRef>
          </c:tx>
          <c:spPr>
            <a:solidFill>
              <a:srgbClr val="375623"/>
            </a:solidFill>
          </c:spPr>
          <c:invertIfNegative val="1"/>
          <c:dLbls>
            <c:numFmt formatCode="0.0" sourceLinked="0"/>
            <c:spPr>
              <a:noFill/>
              <a:ln>
                <a:noFill/>
              </a:ln>
              <a:effectLst/>
            </c:spPr>
            <c:txPr>
              <a:bodyPr/>
              <a:lstStyle/>
              <a:p>
                <a:pPr>
                  <a:defRPr sz="11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8 teams</c:v>
                </c:pt>
                <c:pt idx="1">
                  <c:v>10 teams</c:v>
                </c:pt>
                <c:pt idx="2">
                  <c:v>12 teams</c:v>
                </c:pt>
              </c:strCache>
            </c:strRef>
          </c:cat>
          <c:val>
            <c:numRef>
              <c:f>Sheet1!$C$2:$C$4</c:f>
              <c:numCache>
                <c:formatCode>General</c:formatCode>
                <c:ptCount val="3"/>
                <c:pt idx="0">
                  <c:v>1.24</c:v>
                </c:pt>
                <c:pt idx="1">
                  <c:v>2.2999999999999998</c:v>
                </c:pt>
                <c:pt idx="2">
                  <c:v>4.07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98D-4A33-A32D-83F302F2677A}"/>
            </c:ext>
          </c:extLst>
        </c:ser>
        <c:ser>
          <c:idx val="2"/>
          <c:order val="2"/>
          <c:tx>
            <c:strRef>
              <c:f>Sheet1!$D$1</c:f>
              <c:strCache>
                <c:ptCount val="1"/>
                <c:pt idx="0">
                  <c:v>RefWhistle</c:v>
                </c:pt>
              </c:strCache>
            </c:strRef>
          </c:tx>
          <c:spPr>
            <a:solidFill>
              <a:srgbClr val="C00000"/>
            </a:solidFill>
          </c:spPr>
          <c:invertIfNegative val="1"/>
          <c:dLbls>
            <c:numFmt formatCode="0.0" sourceLinked="0"/>
            <c:spPr>
              <a:noFill/>
              <a:ln>
                <a:noFill/>
              </a:ln>
              <a:effectLst/>
            </c:spPr>
            <c:txPr>
              <a:bodyPr/>
              <a:lstStyle/>
              <a:p>
                <a:pPr>
                  <a:defRPr sz="1100">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8 teams</c:v>
                </c:pt>
                <c:pt idx="1">
                  <c:v>10 teams</c:v>
                </c:pt>
                <c:pt idx="2">
                  <c:v>12 teams</c:v>
                </c:pt>
              </c:strCache>
            </c:strRef>
          </c:cat>
          <c:val>
            <c:numRef>
              <c:f>Sheet1!$D$2:$D$4</c:f>
              <c:numCache>
                <c:formatCode>General</c:formatCode>
                <c:ptCount val="3"/>
                <c:pt idx="0">
                  <c:v>1.08</c:v>
                </c:pt>
                <c:pt idx="1">
                  <c:v>1.42</c:v>
                </c:pt>
                <c:pt idx="2">
                  <c:v>2.31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98D-4A33-A32D-83F302F2677A}"/>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200">
                <a:latin typeface="Times New Roman"/>
              </a:defRPr>
            </a:pPr>
            <a:endParaRPr lang="en-US"/>
          </a:p>
        </c:txPr>
        <c:crossAx val="-2113994440"/>
        <c:crosses val="autoZero"/>
        <c:auto val="1"/>
        <c:lblAlgn val="ctr"/>
        <c:lblOffset val="100"/>
        <c:noMultiLvlLbl val="0"/>
      </c:catAx>
      <c:valAx>
        <c:axId val="-2113994440"/>
        <c:scaling>
          <c:orientation val="minMax"/>
          <c:min val="0"/>
        </c:scaling>
        <c:delete val="0"/>
        <c:axPos val="l"/>
        <c:majorGridlines>
          <c:spPr>
            <a:ln>
              <a:solidFill>
                <a:srgbClr val="D9D9D9"/>
              </a:solidFill>
            </a:ln>
          </c:spPr>
        </c:majorGridlines>
        <c:numFmt formatCode="General" sourceLinked="1"/>
        <c:majorTickMark val="out"/>
        <c:minorTickMark val="none"/>
        <c:tickLblPos val="nextTo"/>
        <c:txPr>
          <a:bodyPr/>
          <a:lstStyle/>
          <a:p>
            <a:pPr>
              <a:defRPr sz="1100">
                <a:latin typeface="Times New Roman"/>
              </a:defRPr>
            </a:pPr>
            <a:endParaRPr lang="en-US"/>
          </a:p>
        </c:txPr>
        <c:crossAx val="-2068027336"/>
        <c:crosses val="autoZero"/>
        <c:crossBetween val="between"/>
      </c:valAx>
    </c:plotArea>
    <c:legend>
      <c:legendPos val="b"/>
      <c:overlay val="0"/>
      <c:txPr>
        <a:bodyPr/>
        <a:lstStyle/>
        <a:p>
          <a:pPr>
            <a:defRPr sz="1100">
              <a:latin typeface="Times New Roman"/>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AD5C3C-9762-47FC-8162-DB9387D82497}" type="datetimeFigureOut">
              <a:rPr lang="en-IN" smtClean="0"/>
              <a:t>18-10-2026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58062-A31C-4F74-AAC8-1017D63BF7F0}" type="slidenum">
              <a:rPr lang="en-IN" smtClean="0"/>
              <a:t>‹#›</a:t>
            </a:fld>
            <a:endParaRPr lang="en-IN"/>
          </a:p>
        </p:txBody>
      </p:sp>
    </p:spTree>
    <p:extLst>
      <p:ext uri="{BB962C8B-B14F-4D97-AF65-F5344CB8AC3E}">
        <p14:creationId xmlns:p14="http://schemas.microsoft.com/office/powerpoint/2010/main" val="2834400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RefWhistle is an Android app that builds sports tournament timetables automatically, keeps every organiser's phone consistent even without internet, and re-times the day when a match runs late.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Tournaments in colleges and schools are usually scheduled in spreadsheets and shared through messaging apps. This causes clashes, unfair referee workload, manual rescheduling and conflicting edits. The objectives on the right are the four things the app is built to guarantee.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journey of one tournament. The admin sets up and generates the timetable. On match day the referee records kick-off, full time and the score. If a match is late or it rains, the app proposes new times and the admin approves them. Everything is stored as an append-only change log in SQLite, and the schedule is always a replay of that log, which is why phones can be merged without losing a change.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chart compares three schedulers by how many matches must move when a single match starts 15 minutes late, averaged over six random tournaments per size. At 12 teams RefWhistle moves 2.3 matches, against 4.1 without the delay-resistance rule and 6.3 for a basic scheduler. Sync was tested by replaying identical changes in 1,000 shuffled orders; the result was identical every time. All 16 automated tests pass.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17395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6181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22568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62326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5429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05642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73097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43560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3035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26870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9264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1" name="Title Placeholder 1"/>
          <p:cNvSpPr>
            <a:spLocks noGrp="1"/>
          </p:cNvSpPr>
          <p:nvPr>
            <p:ph type="title"/>
          </p:nvPr>
        </p:nvSpPr>
        <p:spPr>
          <a:xfrm>
            <a:off x="609600" y="1855079"/>
            <a:ext cx="10972800" cy="1143000"/>
          </a:xfrm>
          <a:prstGeom prst="rect">
            <a:avLst/>
          </a:prstGeom>
        </p:spPr>
        <p:txBody>
          <a:bodyPr vert="horz" lIns="91440" tIns="45720" rIns="91440" bIns="45720" rtlCol="0" anchor="ctr">
            <a:normAutofit/>
          </a:bodyPr>
          <a:lstStyle>
            <a:lvl1pPr>
              <a:defRPr b="1"/>
            </a:lvl1pPr>
          </a:lstStyle>
          <a:p>
            <a:r>
              <a:rPr lang="en-US"/>
              <a:t>PRESENTATON TITLE</a:t>
            </a:r>
          </a:p>
        </p:txBody>
      </p:sp>
      <p:sp>
        <p:nvSpPr>
          <p:cNvPr id="23" name="Date Placeholder 3"/>
          <p:cNvSpPr>
            <a:spLocks noGrp="1"/>
          </p:cNvSpPr>
          <p:nvPr>
            <p:ph type="dt" sz="half" idx="2"/>
          </p:nvPr>
        </p:nvSpPr>
        <p:spPr>
          <a:xfrm>
            <a:off x="11582400" y="6301259"/>
            <a:ext cx="508000" cy="365125"/>
          </a:xfrm>
          <a:prstGeom prst="rect">
            <a:avLst/>
          </a:prstGeom>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1400" b="1">
                <a:solidFill>
                  <a:schemeClr val="tx1"/>
                </a:solidFill>
                <a:latin typeface="Aller"/>
                <a:cs typeface="Aller"/>
              </a:defRPr>
            </a:lvl1pPr>
          </a:lstStyle>
          <a:p>
            <a:r>
              <a:rPr lang="en-US"/>
              <a:t>‹#›</a:t>
            </a:r>
          </a:p>
        </p:txBody>
      </p:sp>
    </p:spTree>
    <p:extLst>
      <p:ext uri="{BB962C8B-B14F-4D97-AF65-F5344CB8AC3E}">
        <p14:creationId xmlns:p14="http://schemas.microsoft.com/office/powerpoint/2010/main" val="424408960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Rectangle 14"/>
          <p:cNvSpPr/>
          <p:nvPr/>
        </p:nvSpPr>
        <p:spPr>
          <a:xfrm>
            <a:off x="1788" y="604228"/>
            <a:ext cx="12192000" cy="10789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prstClr val="white"/>
              </a:solidFill>
            </a:endParaRPr>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B769C-FC6A-4715-A5DC-297479AEC45A}" type="datetimeFigureOut">
              <a:rPr lang="en-US" smtClean="0">
                <a:solidFill>
                  <a:prstClr val="black">
                    <a:tint val="75000"/>
                  </a:prstClr>
                </a:solidFill>
              </a:rPr>
              <a:pPr/>
              <a:t>10/18/2026</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7E220-5EFB-46C0-98BB-7CE57F744EB6}" type="slidenum">
              <a:rPr lang="en-US" smtClean="0">
                <a:solidFill>
                  <a:prstClr val="black">
                    <a:tint val="75000"/>
                  </a:prstClr>
                </a:solidFill>
              </a:rPr>
              <a:pPr/>
              <a:t>‹#›</a:t>
            </a:fld>
            <a:endParaRPr lang="en-US">
              <a:solidFill>
                <a:prstClr val="black">
                  <a:tint val="75000"/>
                </a:prstClr>
              </a:solidFill>
            </a:endParaRPr>
          </a:p>
        </p:txBody>
      </p:sp>
      <p:sp>
        <p:nvSpPr>
          <p:cNvPr id="7" name="Rectangle 6"/>
          <p:cNvSpPr/>
          <p:nvPr/>
        </p:nvSpPr>
        <p:spPr>
          <a:xfrm>
            <a:off x="0" y="0"/>
            <a:ext cx="12192000" cy="62394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prstClr val="white"/>
              </a:solidFill>
            </a:endParaRPr>
          </a:p>
        </p:txBody>
      </p:sp>
      <p:sp>
        <p:nvSpPr>
          <p:cNvPr id="9" name="Round Same Side Corner Rectangle 8"/>
          <p:cNvSpPr/>
          <p:nvPr/>
        </p:nvSpPr>
        <p:spPr>
          <a:xfrm rot="10800000">
            <a:off x="311972" y="2"/>
            <a:ext cx="1258645" cy="1065007"/>
          </a:xfrm>
          <a:prstGeom prst="round2SameRect">
            <a:avLst/>
          </a:prstGeom>
          <a:solidFill>
            <a:schemeClr val="bg1"/>
          </a:solidFill>
          <a:effectLst>
            <a:outerShdw blurRad="50800" dist="38100" dir="5400000" algn="t" rotWithShape="0">
              <a:prstClr val="black">
                <a:alpha val="40000"/>
              </a:prstClr>
            </a:outerShdw>
          </a:effectLst>
        </p:spPr>
        <p:style>
          <a:lnRef idx="0">
            <a:schemeClr val="dk1"/>
          </a:lnRef>
          <a:fillRef idx="3">
            <a:schemeClr val="dk1"/>
          </a:fillRef>
          <a:effectRef idx="3">
            <a:schemeClr val="dk1"/>
          </a:effectRef>
          <a:fontRef idx="minor">
            <a:schemeClr val="lt1"/>
          </a:fontRef>
        </p:style>
        <p:txBody>
          <a:bodyPr rtlCol="0" anchor="ctr"/>
          <a:lstStyle/>
          <a:p>
            <a:pPr algn="ctr"/>
            <a:endParaRPr lang="en-IN" sz="1800">
              <a:solidFill>
                <a:prstClr val="white"/>
              </a:solidFill>
            </a:endParaRPr>
          </a:p>
        </p:txBody>
      </p:sp>
      <p:pic>
        <p:nvPicPr>
          <p:cNvPr id="10" name="Picture 9"/>
          <p:cNvPicPr>
            <a:picLocks noChangeAspect="1"/>
          </p:cNvPicPr>
          <p:nvPr/>
        </p:nvPicPr>
        <p:blipFill>
          <a:blip r:embed="rId14"/>
          <a:stretch>
            <a:fillRect/>
          </a:stretch>
        </p:blipFill>
        <p:spPr>
          <a:xfrm>
            <a:off x="429947" y="0"/>
            <a:ext cx="1039847" cy="1039846"/>
          </a:xfrm>
          <a:prstGeom prst="rect">
            <a:avLst/>
          </a:prstGeom>
        </p:spPr>
      </p:pic>
      <p:sp>
        <p:nvSpPr>
          <p:cNvPr id="11" name="Rectangle 10"/>
          <p:cNvSpPr/>
          <p:nvPr/>
        </p:nvSpPr>
        <p:spPr>
          <a:xfrm>
            <a:off x="0" y="6712771"/>
            <a:ext cx="12192000" cy="10789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prstClr val="white"/>
              </a:solidFill>
            </a:endParaRPr>
          </a:p>
        </p:txBody>
      </p:sp>
      <p:sp>
        <p:nvSpPr>
          <p:cNvPr id="12" name="Rectangle 11"/>
          <p:cNvSpPr/>
          <p:nvPr/>
        </p:nvSpPr>
        <p:spPr>
          <a:xfrm>
            <a:off x="0" y="6777634"/>
            <a:ext cx="12192000" cy="10789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solidFill>
                <a:prstClr val="white"/>
              </a:solidFill>
            </a:endParaRPr>
          </a:p>
        </p:txBody>
      </p:sp>
    </p:spTree>
    <p:extLst>
      <p:ext uri="{BB962C8B-B14F-4D97-AF65-F5344CB8AC3E}">
        <p14:creationId xmlns:p14="http://schemas.microsoft.com/office/powerpoint/2010/main" val="4183882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3480797"/>
            <a:ext cx="7696200" cy="1272178"/>
          </a:xfrm>
        </p:spPr>
        <p:txBody>
          <a:bodyPr>
            <a:noAutofit/>
          </a:bodyPr>
          <a:lstStyle/>
          <a:p>
            <a:r>
              <a:rPr lang="en-IN" sz="2000" b="1" dirty="0">
                <a:latin typeface="Times New Roman" pitchFamily="18" charset="0"/>
                <a:cs typeface="Times New Roman" pitchFamily="18" charset="0"/>
              </a:rPr>
              <a:t>A </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Presentation</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on</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“REFWHISTLE: AN OFFLINE-FIRST TOURNAMENT SCHEDULING APP WITH LIVE DELAY HANDLING”</a:t>
            </a: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By</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Sanika Jamadar (B291)</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Sneha Bhavsar (B295)</a:t>
            </a: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Harsh </a:t>
            </a:r>
            <a:r>
              <a:rPr lang="en-IN" sz="2000" b="1" dirty="0" err="1">
                <a:latin typeface="Times New Roman" pitchFamily="18" charset="0"/>
                <a:cs typeface="Times New Roman" pitchFamily="18" charset="0"/>
              </a:rPr>
              <a:t>Bharuka</a:t>
            </a:r>
            <a:r>
              <a:rPr lang="en-IN" sz="2000" b="1" dirty="0">
                <a:latin typeface="Times New Roman" pitchFamily="18" charset="0"/>
                <a:cs typeface="Times New Roman" pitchFamily="18" charset="0"/>
              </a:rPr>
              <a:t> (B244)</a:t>
            </a:r>
            <a:br>
              <a:rPr lang="en-IN" sz="2000" b="1" dirty="0">
                <a:latin typeface="Times New Roman" pitchFamily="18" charset="0"/>
                <a:cs typeface="Times New Roman" pitchFamily="18" charset="0"/>
              </a:rPr>
            </a:br>
            <a:br>
              <a:rPr lang="en-IN" sz="2000" b="1" dirty="0">
                <a:latin typeface="Times New Roman" pitchFamily="18" charset="0"/>
                <a:cs typeface="Times New Roman" pitchFamily="18" charset="0"/>
              </a:rPr>
            </a:br>
            <a:r>
              <a:rPr lang="en-IN" sz="2000" b="1" dirty="0">
                <a:latin typeface="Times New Roman" pitchFamily="18" charset="0"/>
                <a:cs typeface="Times New Roman" pitchFamily="18" charset="0"/>
              </a:rPr>
              <a:t>Under the Guidance of</a:t>
            </a:r>
            <a:br>
              <a:rPr lang="en-IN" sz="2000" b="1" dirty="0">
                <a:latin typeface="Times New Roman" pitchFamily="18" charset="0"/>
                <a:cs typeface="Times New Roman" pitchFamily="18" charset="0"/>
              </a:rPr>
            </a:br>
            <a:r>
              <a:rPr lang="en-IN" sz="2000" b="1" dirty="0" err="1">
                <a:latin typeface="Times New Roman" pitchFamily="18" charset="0"/>
                <a:cs typeface="Times New Roman" pitchFamily="18" charset="0"/>
              </a:rPr>
              <a:t>Dr.</a:t>
            </a:r>
            <a:r>
              <a:rPr lang="en-IN" sz="2000" b="1" dirty="0">
                <a:latin typeface="Times New Roman" pitchFamily="18" charset="0"/>
                <a:cs typeface="Times New Roman" pitchFamily="18" charset="0"/>
              </a:rPr>
              <a:t> Atul </a:t>
            </a:r>
            <a:r>
              <a:rPr lang="en-IN" sz="2000" b="1" dirty="0" err="1">
                <a:latin typeface="Times New Roman" pitchFamily="18" charset="0"/>
                <a:cs typeface="Times New Roman" pitchFamily="18" charset="0"/>
              </a:rPr>
              <a:t>Dusane</a:t>
            </a:r>
            <a:br>
              <a:rPr lang="en-IN" sz="2000" b="1" dirty="0">
                <a:latin typeface="Times New Roman" pitchFamily="18" charset="0"/>
                <a:cs typeface="Times New Roman" pitchFamily="18" charset="0"/>
              </a:rPr>
            </a:br>
            <a:endParaRPr lang="en-IN" sz="2000" b="1"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a:p>
        </p:txBody>
      </p:sp>
      <p:pic>
        <p:nvPicPr>
          <p:cNvPr id="1027" name="Picture 3" descr="C:\Users\kunal\Pictures\nmims.png"/>
          <p:cNvPicPr>
            <a:picLocks noChangeAspect="1" noChangeArrowheads="1"/>
          </p:cNvPicPr>
          <p:nvPr/>
        </p:nvPicPr>
        <p:blipFill>
          <a:blip r:embed="rId3" cstate="print"/>
          <a:srcRect/>
          <a:stretch>
            <a:fillRect/>
          </a:stretch>
        </p:blipFill>
        <p:spPr bwMode="auto">
          <a:xfrm>
            <a:off x="5631656" y="4601810"/>
            <a:ext cx="928687" cy="1062552"/>
          </a:xfrm>
          <a:prstGeom prst="rect">
            <a:avLst/>
          </a:prstGeom>
          <a:noFill/>
        </p:spPr>
      </p:pic>
      <p:sp>
        <p:nvSpPr>
          <p:cNvPr id="6" name="TextBox 5"/>
          <p:cNvSpPr txBox="1"/>
          <p:nvPr/>
        </p:nvSpPr>
        <p:spPr>
          <a:xfrm>
            <a:off x="3048000" y="5380673"/>
            <a:ext cx="6248400" cy="1200329"/>
          </a:xfrm>
          <a:prstGeom prst="rect">
            <a:avLst/>
          </a:prstGeom>
          <a:noFill/>
        </p:spPr>
        <p:txBody>
          <a:bodyPr wrap="square" lIns="91440" tIns="45720" rIns="91440" bIns="45720" rtlCol="0" anchor="t">
            <a:spAutoFit/>
          </a:bodyPr>
          <a:lstStyle/>
          <a:p>
            <a:pPr algn="ctr"/>
            <a:endParaRPr lang="en-IN" b="1" dirty="0">
              <a:latin typeface="Times New Roman" pitchFamily="18" charset="0"/>
              <a:cs typeface="Times New Roman" pitchFamily="18" charset="0"/>
            </a:endParaRPr>
          </a:p>
          <a:p>
            <a:pPr algn="ctr"/>
            <a:r>
              <a:rPr lang="en-IN" b="1" dirty="0">
                <a:latin typeface="Times New Roman" pitchFamily="18" charset="0"/>
                <a:cs typeface="Times New Roman" pitchFamily="18" charset="0"/>
              </a:rPr>
              <a:t>Department of CE</a:t>
            </a:r>
          </a:p>
          <a:p>
            <a:pPr algn="ctr"/>
            <a:r>
              <a:rPr lang="en-IN" b="1" dirty="0">
                <a:latin typeface="Times New Roman" pitchFamily="18" charset="0"/>
                <a:cs typeface="Times New Roman" pitchFamily="18" charset="0"/>
              </a:rPr>
              <a:t>MPSTME, Shirpur Campus</a:t>
            </a:r>
          </a:p>
          <a:p>
            <a:pPr algn="ctr"/>
            <a:r>
              <a:rPr lang="en-IN" b="1" dirty="0">
                <a:latin typeface="Times New Roman"/>
                <a:cs typeface="Times New Roman"/>
              </a:rPr>
              <a:t>2026-27</a:t>
            </a:r>
            <a:endParaRPr lang="en-IN"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
            <a:ext cx="9875520" cy="548640"/>
          </a:xfrm>
        </p:spPr>
        <p:txBody>
          <a:bodyPr lIns="0" rIns="0" anchor="ctr"/>
          <a:lstStyle/>
          <a:p>
            <a:pPr algn="l"/>
            <a:r>
              <a:rPr sz="2800" b="1" i="0">
                <a:solidFill>
                  <a:srgbClr val="FFFFFF"/>
                </a:solidFill>
                <a:latin typeface="Times New Roman"/>
              </a:rPr>
              <a:t>Problem Statement and Objectives</a:t>
            </a:r>
          </a:p>
        </p:txBody>
      </p:sp>
      <p:sp>
        <p:nvSpPr>
          <p:cNvPr id="102" name="Google Shape;102;p2"/>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IN"/>
              <a:pPr/>
              <a:t>2</a:t>
            </a:fld>
            <a:endParaRPr/>
          </a:p>
        </p:txBody>
      </p:sp>
      <p:sp>
        <p:nvSpPr>
          <p:cNvPr id="103" name="Rounded Rectangle 102"/>
          <p:cNvSpPr/>
          <p:nvPr/>
        </p:nvSpPr>
        <p:spPr>
          <a:xfrm>
            <a:off x="548640" y="1280160"/>
            <a:ext cx="5486400" cy="40690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Rounded Rectangle 103"/>
          <p:cNvSpPr/>
          <p:nvPr/>
        </p:nvSpPr>
        <p:spPr>
          <a:xfrm>
            <a:off x="6217920" y="1280160"/>
            <a:ext cx="5440680" cy="40690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777240" y="1417320"/>
            <a:ext cx="5029200" cy="3840480"/>
          </a:xfrm>
          <a:prstGeom prst="rect">
            <a:avLst/>
          </a:prstGeom>
          <a:noFill/>
        </p:spPr>
        <p:txBody>
          <a:bodyPr wrap="square" lIns="0" tIns="0" rIns="0" bIns="0" anchor="t">
            <a:spAutoFit/>
          </a:bodyPr>
          <a:lstStyle/>
          <a:p>
            <a:pPr algn="l">
              <a:spcAft>
                <a:spcPts val="1200"/>
              </a:spcAft>
            </a:pPr>
            <a:r>
              <a:rPr sz="2600" b="1" i="0">
                <a:solidFill>
                  <a:srgbClr val="C00000"/>
                </a:solidFill>
                <a:latin typeface="Times New Roman"/>
              </a:rPr>
              <a:t>Problem Statement</a:t>
            </a:r>
          </a:p>
          <a:p>
            <a:pPr algn="l">
              <a:spcAft>
                <a:spcPts val="1000"/>
              </a:spcAft>
            </a:pPr>
            <a:r>
              <a:rPr sz="1800" b="0" i="1">
                <a:solidFill>
                  <a:srgbClr val="262626"/>
                </a:solidFill>
                <a:latin typeface="Times New Roman"/>
              </a:rPr>
              <a:t>Tournaments are scheduled manually in spreadsheets and messaging apps. This leads to:</a:t>
            </a:r>
          </a:p>
          <a:p>
            <a:pPr marL="228600" indent="-228600" algn="l">
              <a:spcAft>
                <a:spcPts val="1200"/>
              </a:spcAft>
              <a:buChar char="•"/>
            </a:pPr>
            <a:r>
              <a:rPr sz="1900" b="0" i="0">
                <a:solidFill>
                  <a:srgbClr val="262626"/>
                </a:solidFill>
                <a:latin typeface="Times New Roman"/>
              </a:rPr>
              <a:t>Double-booked venues, referees and players</a:t>
            </a:r>
          </a:p>
          <a:p>
            <a:pPr marL="228600" indent="-228600" algn="l">
              <a:spcAft>
                <a:spcPts val="1200"/>
              </a:spcAft>
              <a:buChar char="•"/>
            </a:pPr>
            <a:r>
              <a:rPr sz="1900" b="0" i="0">
                <a:solidFill>
                  <a:srgbClr val="262626"/>
                </a:solidFill>
                <a:latin typeface="Times New Roman"/>
              </a:rPr>
              <a:t>Uneven referee workload; referees assigned to their own team</a:t>
            </a:r>
          </a:p>
          <a:p>
            <a:pPr marL="228600" indent="-228600" algn="l">
              <a:spcAft>
                <a:spcPts val="1200"/>
              </a:spcAft>
              <a:buChar char="•"/>
            </a:pPr>
            <a:r>
              <a:rPr sz="1900" b="0" i="0">
                <a:solidFill>
                  <a:srgbClr val="262626"/>
                </a:solidFill>
                <a:latin typeface="Times New Roman"/>
              </a:rPr>
              <a:t>Manual, error-prone rescheduling when a match runs late</a:t>
            </a:r>
          </a:p>
          <a:p>
            <a:pPr marL="228600" indent="-228600" algn="l">
              <a:spcAft>
                <a:spcPts val="1200"/>
              </a:spcAft>
              <a:buChar char="•"/>
            </a:pPr>
            <a:r>
              <a:rPr sz="1900" b="0" i="0">
                <a:solidFill>
                  <a:srgbClr val="262626"/>
                </a:solidFill>
                <a:latin typeface="Times New Roman"/>
              </a:rPr>
              <a:t>Conflicting edits from organisers working offline</a:t>
            </a:r>
          </a:p>
        </p:txBody>
      </p:sp>
      <p:sp>
        <p:nvSpPr>
          <p:cNvPr id="106" name="TextBox 105"/>
          <p:cNvSpPr txBox="1"/>
          <p:nvPr/>
        </p:nvSpPr>
        <p:spPr>
          <a:xfrm>
            <a:off x="6446520" y="1417320"/>
            <a:ext cx="5029200" cy="3840480"/>
          </a:xfrm>
          <a:prstGeom prst="rect">
            <a:avLst/>
          </a:prstGeom>
          <a:noFill/>
        </p:spPr>
        <p:txBody>
          <a:bodyPr wrap="square" lIns="0" tIns="0" rIns="0" bIns="0" anchor="t">
            <a:spAutoFit/>
          </a:bodyPr>
          <a:lstStyle/>
          <a:p>
            <a:pPr algn="l">
              <a:spcAft>
                <a:spcPts val="1200"/>
              </a:spcAft>
            </a:pPr>
            <a:r>
              <a:rPr sz="2600" b="1" i="0">
                <a:solidFill>
                  <a:srgbClr val="C00000"/>
                </a:solidFill>
                <a:latin typeface="Times New Roman"/>
              </a:rPr>
              <a:t>Objectives</a:t>
            </a:r>
          </a:p>
          <a:p>
            <a:pPr algn="l">
              <a:spcAft>
                <a:spcPts val="1000"/>
              </a:spcAft>
            </a:pPr>
            <a:r>
              <a:rPr sz="1800" b="0" i="1">
                <a:solidFill>
                  <a:srgbClr val="262626"/>
                </a:solidFill>
                <a:latin typeface="Times New Roman"/>
              </a:rPr>
              <a:t>To develop an Android application that:</a:t>
            </a:r>
          </a:p>
          <a:p>
            <a:pPr marL="228600" indent="-228600" algn="l">
              <a:spcAft>
                <a:spcPts val="1200"/>
              </a:spcAft>
              <a:buChar char="•"/>
            </a:pPr>
            <a:r>
              <a:rPr sz="1900" b="0" i="0">
                <a:solidFill>
                  <a:srgbClr val="262626"/>
                </a:solidFill>
                <a:latin typeface="Times New Roman"/>
              </a:rPr>
              <a:t>Generates a conflict-free timetable automatically, within all hard rules</a:t>
            </a:r>
          </a:p>
          <a:p>
            <a:pPr marL="228600" indent="-228600" algn="l">
              <a:spcAft>
                <a:spcPts val="1200"/>
              </a:spcAft>
              <a:buChar char="•"/>
            </a:pPr>
            <a:r>
              <a:rPr sz="1900" b="0" i="0">
                <a:solidFill>
                  <a:srgbClr val="262626"/>
                </a:solidFill>
                <a:latin typeface="Times New Roman"/>
              </a:rPr>
              <a:t>Keeps every organiser's phone consistent without internet</a:t>
            </a:r>
          </a:p>
          <a:p>
            <a:pPr marL="228600" indent="-228600" algn="l">
              <a:spcAft>
                <a:spcPts val="1200"/>
              </a:spcAft>
              <a:buChar char="•"/>
            </a:pPr>
            <a:r>
              <a:rPr sz="1900" b="0" i="0">
                <a:solidFill>
                  <a:srgbClr val="262626"/>
                </a:solidFill>
                <a:latin typeface="Times New Roman"/>
              </a:rPr>
              <a:t>Re-times only the affected matches when a match is delayed</a:t>
            </a:r>
          </a:p>
          <a:p>
            <a:pPr marL="228600" indent="-228600" algn="l">
              <a:spcAft>
                <a:spcPts val="1200"/>
              </a:spcAft>
              <a:buChar char="•"/>
            </a:pPr>
            <a:r>
              <a:rPr sz="1900" b="0" i="0">
                <a:solidFill>
                  <a:srgbClr val="262626"/>
                </a:solidFill>
                <a:latin typeface="Times New Roman"/>
              </a:rPr>
              <a:t>Gives referees, teams and spectators role-specific views</a:t>
            </a:r>
          </a:p>
        </p:txBody>
      </p:sp>
      <p:sp>
        <p:nvSpPr>
          <p:cNvPr id="107" name="Rounded Rectangle 106"/>
          <p:cNvSpPr/>
          <p:nvPr/>
        </p:nvSpPr>
        <p:spPr>
          <a:xfrm>
            <a:off x="548640" y="5532120"/>
            <a:ext cx="11109960" cy="640080"/>
          </a:xfrm>
          <a:prstGeom prst="roundRect">
            <a:avLst>
              <a:gd name="adj" fmla="val 6000"/>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600" b="1" i="0">
                <a:solidFill>
                  <a:srgbClr val="FFFFFF"/>
                </a:solidFill>
                <a:latin typeface="Times New Roman"/>
              </a:rPr>
              <a:t>Intended users:   </a:t>
            </a:r>
            <a:r>
              <a:rPr sz="1600" b="0" i="0">
                <a:solidFill>
                  <a:srgbClr val="FFFFFF"/>
                </a:solidFill>
                <a:latin typeface="Times New Roman"/>
              </a:rPr>
              <a:t>Admin (organiser)   |   Referee   |   Team or player   |   Spectator (web 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
            <a:ext cx="9875520" cy="548640"/>
          </a:xfrm>
        </p:spPr>
        <p:txBody>
          <a:bodyPr lIns="0" rIns="0" anchor="ctr"/>
          <a:lstStyle/>
          <a:p>
            <a:pPr algn="l"/>
            <a:r>
              <a:rPr sz="2800" b="1" i="0">
                <a:solidFill>
                  <a:srgbClr val="FFFFFF"/>
                </a:solidFill>
                <a:latin typeface="Times New Roman"/>
              </a:rPr>
              <a:t>System Design and Working</a:t>
            </a:r>
          </a:p>
        </p:txBody>
      </p:sp>
      <p:sp>
        <p:nvSpPr>
          <p:cNvPr id="102" name="Google Shape;102;p2"/>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IN"/>
              <a:pPr/>
              <a:t>3</a:t>
            </a:fld>
            <a:endParaRPr/>
          </a:p>
        </p:txBody>
      </p:sp>
      <p:graphicFrame>
        <p:nvGraphicFramePr>
          <p:cNvPr id="103" name="Table 102"/>
          <p:cNvGraphicFramePr>
            <a:graphicFrameLocks noGrp="1"/>
          </p:cNvGraphicFramePr>
          <p:nvPr/>
        </p:nvGraphicFramePr>
        <p:xfrm>
          <a:off x="548640" y="1280160"/>
          <a:ext cx="6035040" cy="3977640"/>
        </p:xfrm>
        <a:graphic>
          <a:graphicData uri="http://schemas.openxmlformats.org/drawingml/2006/table">
            <a:tbl>
              <a:tblPr>
                <a:tableStyleId>{5C22544A-7EE6-4342-B048-85BDC9FD1C3A}</a:tableStyleId>
              </a:tblPr>
              <a:tblGrid>
                <a:gridCol w="16002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11480">
                <a:tc>
                  <a:txBody>
                    <a:bodyPr/>
                    <a:lstStyle/>
                    <a:p>
                      <a:r>
                        <a:rPr sz="1400" b="1" i="0">
                          <a:solidFill>
                            <a:srgbClr val="FFFFFF"/>
                          </a:solidFill>
                          <a:latin typeface="Times New Roman"/>
                        </a:rPr>
                        <a:t>Stage</a:t>
                      </a:r>
                    </a:p>
                  </a:txBody>
                  <a:tcPr anchor="ctr">
                    <a:solidFill>
                      <a:srgbClr val="C00000"/>
                    </a:solidFill>
                  </a:tcPr>
                </a:tc>
                <a:tc>
                  <a:txBody>
                    <a:bodyPr/>
                    <a:lstStyle/>
                    <a:p>
                      <a:r>
                        <a:rPr sz="1400" b="1" i="0">
                          <a:solidFill>
                            <a:srgbClr val="FFFFFF"/>
                          </a:solidFill>
                          <a:latin typeface="Times New Roman"/>
                        </a:rPr>
                        <a:t>What happens</a:t>
                      </a:r>
                    </a:p>
                  </a:txBody>
                  <a:tcPr anchor="ctr">
                    <a:solidFill>
                      <a:srgbClr val="C00000"/>
                    </a:solidFill>
                  </a:tcPr>
                </a:tc>
                <a:tc>
                  <a:txBody>
                    <a:bodyPr/>
                    <a:lstStyle/>
                    <a:p>
                      <a:r>
                        <a:rPr sz="1400" b="1" i="0">
                          <a:solidFill>
                            <a:srgbClr val="FFFFFF"/>
                          </a:solidFill>
                          <a:latin typeface="Times New Roman"/>
                        </a:rPr>
                        <a:t>Who</a:t>
                      </a:r>
                    </a:p>
                  </a:txBody>
                  <a:tcPr anchor="ctr">
                    <a:solidFill>
                      <a:srgbClr val="C00000"/>
                    </a:solidFill>
                  </a:tcPr>
                </a:tc>
                <a:extLst>
                  <a:ext uri="{0D108BD9-81ED-4DB2-BD59-A6C34878D82A}">
                    <a16:rowId xmlns:a16="http://schemas.microsoft.com/office/drawing/2014/main" val="10000"/>
                  </a:ext>
                </a:extLst>
              </a:tr>
              <a:tr h="713232">
                <a:tc>
                  <a:txBody>
                    <a:bodyPr/>
                    <a:lstStyle/>
                    <a:p>
                      <a:r>
                        <a:rPr sz="1400" b="1" i="0">
                          <a:solidFill>
                            <a:srgbClr val="262626"/>
                          </a:solidFill>
                          <a:latin typeface="Times New Roman"/>
                        </a:rPr>
                        <a:t>1. Set up</a:t>
                      </a:r>
                    </a:p>
                  </a:txBody>
                  <a:tcPr anchor="ctr">
                    <a:solidFill>
                      <a:srgbClr val="F2F2F2"/>
                    </a:solidFill>
                  </a:tcPr>
                </a:tc>
                <a:tc>
                  <a:txBody>
                    <a:bodyPr/>
                    <a:lstStyle/>
                    <a:p>
                      <a:r>
                        <a:rPr sz="1400" b="0" i="0">
                          <a:solidFill>
                            <a:srgbClr val="262626"/>
                          </a:solidFill>
                          <a:latin typeface="Times New Roman"/>
                        </a:rPr>
                        <a:t>Add teams, venues and referees (or load the demo tournament)</a:t>
                      </a:r>
                    </a:p>
                  </a:txBody>
                  <a:tcPr anchor="ctr">
                    <a:solidFill>
                      <a:srgbClr val="F2F2F2"/>
                    </a:solidFill>
                  </a:tcPr>
                </a:tc>
                <a:tc>
                  <a:txBody>
                    <a:bodyPr/>
                    <a:lstStyle/>
                    <a:p>
                      <a:r>
                        <a:rPr sz="1400" b="0" i="0">
                          <a:solidFill>
                            <a:srgbClr val="262626"/>
                          </a:solidFill>
                          <a:latin typeface="Times New Roman"/>
                        </a:rPr>
                        <a:t>Admin</a:t>
                      </a:r>
                    </a:p>
                  </a:txBody>
                  <a:tcPr anchor="ctr">
                    <a:solidFill>
                      <a:srgbClr val="F2F2F2"/>
                    </a:solidFill>
                  </a:tcPr>
                </a:tc>
                <a:extLst>
                  <a:ext uri="{0D108BD9-81ED-4DB2-BD59-A6C34878D82A}">
                    <a16:rowId xmlns:a16="http://schemas.microsoft.com/office/drawing/2014/main" val="10001"/>
                  </a:ext>
                </a:extLst>
              </a:tr>
              <a:tr h="713232">
                <a:tc>
                  <a:txBody>
                    <a:bodyPr/>
                    <a:lstStyle/>
                    <a:p>
                      <a:r>
                        <a:rPr sz="1400" b="1" i="0">
                          <a:solidFill>
                            <a:srgbClr val="262626"/>
                          </a:solidFill>
                          <a:latin typeface="Times New Roman"/>
                        </a:rPr>
                        <a:t>2. Generate</a:t>
                      </a:r>
                    </a:p>
                  </a:txBody>
                  <a:tcPr anchor="ctr">
                    <a:solidFill>
                      <a:srgbClr val="FFFFFF"/>
                    </a:solidFill>
                  </a:tcPr>
                </a:tc>
                <a:tc>
                  <a:txBody>
                    <a:bodyPr/>
                    <a:lstStyle/>
                    <a:p>
                      <a:r>
                        <a:rPr sz="1400" b="0" i="0">
                          <a:solidFill>
                            <a:srgbClr val="262626"/>
                          </a:solidFill>
                          <a:latin typeface="Times New Roman"/>
                        </a:rPr>
                        <a:t>One tap builds the whole timetable within the rules</a:t>
                      </a:r>
                    </a:p>
                  </a:txBody>
                  <a:tcPr anchor="ctr">
                    <a:solidFill>
                      <a:srgbClr val="FFFFFF"/>
                    </a:solidFill>
                  </a:tcPr>
                </a:tc>
                <a:tc>
                  <a:txBody>
                    <a:bodyPr/>
                    <a:lstStyle/>
                    <a:p>
                      <a:r>
                        <a:rPr sz="1400" b="0" i="0">
                          <a:solidFill>
                            <a:srgbClr val="262626"/>
                          </a:solidFill>
                          <a:latin typeface="Times New Roman"/>
                        </a:rPr>
                        <a:t>Admin</a:t>
                      </a:r>
                    </a:p>
                  </a:txBody>
                  <a:tcPr anchor="ctr">
                    <a:solidFill>
                      <a:srgbClr val="FFFFFF"/>
                    </a:solidFill>
                  </a:tcPr>
                </a:tc>
                <a:extLst>
                  <a:ext uri="{0D108BD9-81ED-4DB2-BD59-A6C34878D82A}">
                    <a16:rowId xmlns:a16="http://schemas.microsoft.com/office/drawing/2014/main" val="10002"/>
                  </a:ext>
                </a:extLst>
              </a:tr>
              <a:tr h="713232">
                <a:tc>
                  <a:txBody>
                    <a:bodyPr/>
                    <a:lstStyle/>
                    <a:p>
                      <a:r>
                        <a:rPr sz="1400" b="1" i="0">
                          <a:solidFill>
                            <a:srgbClr val="262626"/>
                          </a:solidFill>
                          <a:latin typeface="Times New Roman"/>
                        </a:rPr>
                        <a:t>3. Match day</a:t>
                      </a:r>
                    </a:p>
                  </a:txBody>
                  <a:tcPr anchor="ctr">
                    <a:solidFill>
                      <a:srgbClr val="F2F2F2"/>
                    </a:solidFill>
                  </a:tcPr>
                </a:tc>
                <a:tc>
                  <a:txBody>
                    <a:bodyPr/>
                    <a:lstStyle/>
                    <a:p>
                      <a:r>
                        <a:rPr sz="1400" b="0" i="0">
                          <a:solidFill>
                            <a:srgbClr val="262626"/>
                          </a:solidFill>
                          <a:latin typeface="Times New Roman"/>
                        </a:rPr>
                        <a:t>Kick-off, full time and score are entered on the phone</a:t>
                      </a:r>
                    </a:p>
                  </a:txBody>
                  <a:tcPr anchor="ctr">
                    <a:solidFill>
                      <a:srgbClr val="F2F2F2"/>
                    </a:solidFill>
                  </a:tcPr>
                </a:tc>
                <a:tc>
                  <a:txBody>
                    <a:bodyPr/>
                    <a:lstStyle/>
                    <a:p>
                      <a:r>
                        <a:rPr sz="1400" b="0" i="0">
                          <a:solidFill>
                            <a:srgbClr val="262626"/>
                          </a:solidFill>
                          <a:latin typeface="Times New Roman"/>
                        </a:rPr>
                        <a:t>Referee</a:t>
                      </a:r>
                    </a:p>
                  </a:txBody>
                  <a:tcPr anchor="ctr">
                    <a:solidFill>
                      <a:srgbClr val="F2F2F2"/>
                    </a:solidFill>
                  </a:tcPr>
                </a:tc>
                <a:extLst>
                  <a:ext uri="{0D108BD9-81ED-4DB2-BD59-A6C34878D82A}">
                    <a16:rowId xmlns:a16="http://schemas.microsoft.com/office/drawing/2014/main" val="10003"/>
                  </a:ext>
                </a:extLst>
              </a:tr>
              <a:tr h="713232">
                <a:tc>
                  <a:txBody>
                    <a:bodyPr/>
                    <a:lstStyle/>
                    <a:p>
                      <a:r>
                        <a:rPr sz="1400" b="1" i="0">
                          <a:solidFill>
                            <a:srgbClr val="262626"/>
                          </a:solidFill>
                          <a:latin typeface="Times New Roman"/>
                        </a:rPr>
                        <a:t>4. Changes</a:t>
                      </a:r>
                    </a:p>
                  </a:txBody>
                  <a:tcPr anchor="ctr">
                    <a:solidFill>
                      <a:srgbClr val="FFFFFF"/>
                    </a:solidFill>
                  </a:tcPr>
                </a:tc>
                <a:tc>
                  <a:txBody>
                    <a:bodyPr/>
                    <a:lstStyle/>
                    <a:p>
                      <a:r>
                        <a:rPr sz="1400" b="0" i="0">
                          <a:solidFill>
                            <a:srgbClr val="262626"/>
                          </a:solidFill>
                          <a:latin typeface="Times New Roman"/>
                        </a:rPr>
                        <a:t>Late match or rain: the app proposes new times, the admin approves, teams are notified</a:t>
                      </a:r>
                    </a:p>
                  </a:txBody>
                  <a:tcPr anchor="ctr">
                    <a:solidFill>
                      <a:srgbClr val="FFFFFF"/>
                    </a:solidFill>
                  </a:tcPr>
                </a:tc>
                <a:tc>
                  <a:txBody>
                    <a:bodyPr/>
                    <a:lstStyle/>
                    <a:p>
                      <a:r>
                        <a:rPr sz="1400" b="0" i="0">
                          <a:solidFill>
                            <a:srgbClr val="262626"/>
                          </a:solidFill>
                          <a:latin typeface="Times New Roman"/>
                        </a:rPr>
                        <a:t>Admin</a:t>
                      </a:r>
                    </a:p>
                  </a:txBody>
                  <a:tcPr anchor="ctr">
                    <a:solidFill>
                      <a:srgbClr val="FFFFFF"/>
                    </a:solidFill>
                  </a:tcPr>
                </a:tc>
                <a:extLst>
                  <a:ext uri="{0D108BD9-81ED-4DB2-BD59-A6C34878D82A}">
                    <a16:rowId xmlns:a16="http://schemas.microsoft.com/office/drawing/2014/main" val="10004"/>
                  </a:ext>
                </a:extLst>
              </a:tr>
              <a:tr h="713232">
                <a:tc>
                  <a:txBody>
                    <a:bodyPr/>
                    <a:lstStyle/>
                    <a:p>
                      <a:r>
                        <a:rPr sz="1400" b="1" i="0">
                          <a:solidFill>
                            <a:srgbClr val="262626"/>
                          </a:solidFill>
                          <a:latin typeface="Times New Roman"/>
                        </a:rPr>
                        <a:t>5. Share and sync</a:t>
                      </a:r>
                    </a:p>
                  </a:txBody>
                  <a:tcPr anchor="ctr">
                    <a:solidFill>
                      <a:srgbClr val="F2F2F2"/>
                    </a:solidFill>
                  </a:tcPr>
                </a:tc>
                <a:tc>
                  <a:txBody>
                    <a:bodyPr/>
                    <a:lstStyle/>
                    <a:p>
                      <a:r>
                        <a:rPr sz="1400" b="0" i="0">
                          <a:solidFill>
                            <a:srgbClr val="262626"/>
                          </a:solidFill>
                          <a:latin typeface="Times New Roman"/>
                        </a:rPr>
                        <a:t>Phones merge changes over Wi-Fi, file or cloud; standings go live on the web</a:t>
                      </a:r>
                    </a:p>
                  </a:txBody>
                  <a:tcPr anchor="ctr">
                    <a:solidFill>
                      <a:srgbClr val="F2F2F2"/>
                    </a:solidFill>
                  </a:tcPr>
                </a:tc>
                <a:tc>
                  <a:txBody>
                    <a:bodyPr/>
                    <a:lstStyle/>
                    <a:p>
                      <a:r>
                        <a:rPr sz="1400" b="0" i="0">
                          <a:solidFill>
                            <a:srgbClr val="262626"/>
                          </a:solidFill>
                          <a:latin typeface="Times New Roman"/>
                        </a:rPr>
                        <a:t>Everyone</a:t>
                      </a:r>
                    </a:p>
                  </a:txBody>
                  <a:tcPr anchor="ctr">
                    <a:solidFill>
                      <a:srgbClr val="F2F2F2"/>
                    </a:solidFill>
                  </a:tcPr>
                </a:tc>
                <a:extLst>
                  <a:ext uri="{0D108BD9-81ED-4DB2-BD59-A6C34878D82A}">
                    <a16:rowId xmlns:a16="http://schemas.microsoft.com/office/drawing/2014/main" val="10005"/>
                  </a:ext>
                </a:extLst>
              </a:tr>
            </a:tbl>
          </a:graphicData>
        </a:graphic>
      </p:graphicFrame>
      <p:sp>
        <p:nvSpPr>
          <p:cNvPr id="104" name="TextBox 103"/>
          <p:cNvSpPr txBox="1"/>
          <p:nvPr/>
        </p:nvSpPr>
        <p:spPr>
          <a:xfrm>
            <a:off x="548640" y="5440680"/>
            <a:ext cx="6035040" cy="457200"/>
          </a:xfrm>
          <a:prstGeom prst="rect">
            <a:avLst/>
          </a:prstGeom>
          <a:noFill/>
        </p:spPr>
        <p:txBody>
          <a:bodyPr wrap="square" lIns="0" tIns="0" rIns="0" bIns="0" anchor="t">
            <a:spAutoFit/>
          </a:bodyPr>
          <a:lstStyle/>
          <a:p>
            <a:pPr algn="l">
              <a:spcAft>
                <a:spcPts val="600"/>
              </a:spcAft>
            </a:pPr>
            <a:r>
              <a:rPr sz="1400" b="0" i="1" dirty="0">
                <a:solidFill>
                  <a:srgbClr val="262626"/>
                </a:solidFill>
                <a:latin typeface="Times New Roman"/>
              </a:rPr>
              <a:t>Referees and team members see only their own matches.</a:t>
            </a:r>
          </a:p>
        </p:txBody>
      </p:sp>
      <p:sp>
        <p:nvSpPr>
          <p:cNvPr id="105" name="TextBox 104"/>
          <p:cNvSpPr txBox="1"/>
          <p:nvPr/>
        </p:nvSpPr>
        <p:spPr>
          <a:xfrm>
            <a:off x="6949440" y="1261872"/>
            <a:ext cx="4663440" cy="365760"/>
          </a:xfrm>
          <a:prstGeom prst="rect">
            <a:avLst/>
          </a:prstGeom>
          <a:noFill/>
        </p:spPr>
        <p:txBody>
          <a:bodyPr wrap="square" lIns="0" tIns="0" rIns="0" bIns="0" anchor="t">
            <a:spAutoFit/>
          </a:bodyPr>
          <a:lstStyle/>
          <a:p>
            <a:pPr algn="l">
              <a:spcAft>
                <a:spcPts val="600"/>
              </a:spcAft>
            </a:pPr>
            <a:r>
              <a:rPr sz="2000" b="1" i="0">
                <a:solidFill>
                  <a:srgbClr val="C00000"/>
                </a:solidFill>
                <a:latin typeface="Times New Roman"/>
              </a:rPr>
              <a:t>Architecture</a:t>
            </a:r>
          </a:p>
        </p:txBody>
      </p:sp>
      <p:sp>
        <p:nvSpPr>
          <p:cNvPr id="106" name="Rounded Rectangle 105"/>
          <p:cNvSpPr/>
          <p:nvPr/>
        </p:nvSpPr>
        <p:spPr>
          <a:xfrm>
            <a:off x="6949440" y="1691640"/>
            <a:ext cx="4709160" cy="77724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600" b="1" i="0">
                <a:solidFill>
                  <a:srgbClr val="262626"/>
                </a:solidFill>
                <a:latin typeface="Times New Roman"/>
              </a:rPr>
              <a:t>Android application (Java)</a:t>
            </a:r>
          </a:p>
          <a:p>
            <a:pPr algn="ctr">
              <a:spcAft>
                <a:spcPts val="200"/>
              </a:spcAft>
            </a:pPr>
            <a:r>
              <a:rPr sz="1400" b="0" i="0">
                <a:solidFill>
                  <a:srgbClr val="262626"/>
                </a:solidFill>
                <a:latin typeface="Times New Roman"/>
              </a:rPr>
              <a:t>Schedule, timeline, insights, map</a:t>
            </a:r>
          </a:p>
        </p:txBody>
      </p:sp>
      <p:sp>
        <p:nvSpPr>
          <p:cNvPr id="107" name="Down Arrow 106"/>
          <p:cNvSpPr/>
          <p:nvPr/>
        </p:nvSpPr>
        <p:spPr>
          <a:xfrm>
            <a:off x="9052560" y="2487168"/>
            <a:ext cx="320040" cy="256032"/>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Rounded Rectangle 107"/>
          <p:cNvSpPr/>
          <p:nvPr/>
        </p:nvSpPr>
        <p:spPr>
          <a:xfrm>
            <a:off x="6949440" y="2743200"/>
            <a:ext cx="4709160" cy="777240"/>
          </a:xfrm>
          <a:prstGeom prst="roundRect">
            <a:avLst>
              <a:gd name="adj" fmla="val 6000"/>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600" b="1" i="0">
                <a:solidFill>
                  <a:srgbClr val="FFFFFF"/>
                </a:solidFill>
                <a:latin typeface="Times New Roman"/>
              </a:rPr>
              <a:t>SQLite change log</a:t>
            </a:r>
          </a:p>
          <a:p>
            <a:pPr algn="ctr">
              <a:spcAft>
                <a:spcPts val="200"/>
              </a:spcAft>
            </a:pPr>
            <a:r>
              <a:rPr sz="1400" b="0" i="0">
                <a:solidFill>
                  <a:srgbClr val="FFFFFF"/>
                </a:solidFill>
                <a:latin typeface="Times New Roman"/>
              </a:rPr>
              <a:t>Single source of truth for the schedule</a:t>
            </a:r>
          </a:p>
        </p:txBody>
      </p:sp>
      <p:sp>
        <p:nvSpPr>
          <p:cNvPr id="109" name="Down Arrow 108"/>
          <p:cNvSpPr/>
          <p:nvPr/>
        </p:nvSpPr>
        <p:spPr>
          <a:xfrm>
            <a:off x="9052560" y="3538728"/>
            <a:ext cx="320040" cy="256032"/>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Rounded Rectangle 109"/>
          <p:cNvSpPr/>
          <p:nvPr/>
        </p:nvSpPr>
        <p:spPr>
          <a:xfrm>
            <a:off x="6949440" y="3794760"/>
            <a:ext cx="4709160" cy="77724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600" b="1" i="0">
                <a:solidFill>
                  <a:srgbClr val="262626"/>
                </a:solidFill>
                <a:latin typeface="Times New Roman"/>
              </a:rPr>
              <a:t>Synchronisation</a:t>
            </a:r>
          </a:p>
          <a:p>
            <a:pPr algn="ctr">
              <a:spcAft>
                <a:spcPts val="200"/>
              </a:spcAft>
            </a:pPr>
            <a:r>
              <a:rPr sz="1400" b="0" i="0">
                <a:solidFill>
                  <a:srgbClr val="262626"/>
                </a:solidFill>
                <a:latin typeface="Times New Roman"/>
              </a:rPr>
              <a:t>Wi-Fi or hotspot, shared file, Firebase Firestore</a:t>
            </a:r>
          </a:p>
        </p:txBody>
      </p:sp>
      <p:sp>
        <p:nvSpPr>
          <p:cNvPr id="111" name="Down Arrow 110"/>
          <p:cNvSpPr/>
          <p:nvPr/>
        </p:nvSpPr>
        <p:spPr>
          <a:xfrm>
            <a:off x="9052560" y="4590288"/>
            <a:ext cx="320040" cy="256032"/>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Rounded Rectangle 111"/>
          <p:cNvSpPr/>
          <p:nvPr/>
        </p:nvSpPr>
        <p:spPr>
          <a:xfrm>
            <a:off x="6949440" y="4846320"/>
            <a:ext cx="4709160" cy="77724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600" b="1" i="0">
                <a:solidFill>
                  <a:srgbClr val="262626"/>
                </a:solidFill>
                <a:latin typeface="Times New Roman"/>
              </a:rPr>
              <a:t>Flutter web dashboard</a:t>
            </a:r>
          </a:p>
          <a:p>
            <a:pPr algn="ctr">
              <a:spcAft>
                <a:spcPts val="200"/>
              </a:spcAft>
            </a:pPr>
            <a:r>
              <a:rPr sz="1400" b="0" i="0">
                <a:solidFill>
                  <a:srgbClr val="262626"/>
                </a:solidFill>
                <a:latin typeface="Times New Roman"/>
              </a:rPr>
              <a:t>Live standings for spectators</a:t>
            </a:r>
          </a:p>
        </p:txBody>
      </p:sp>
      <p:sp>
        <p:nvSpPr>
          <p:cNvPr id="113" name="Rounded Rectangle 112"/>
          <p:cNvSpPr/>
          <p:nvPr/>
        </p:nvSpPr>
        <p:spPr>
          <a:xfrm>
            <a:off x="548640" y="5897880"/>
            <a:ext cx="11109960" cy="4572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1400" b="1" i="0">
                <a:solidFill>
                  <a:srgbClr val="C00000"/>
                </a:solidFill>
                <a:latin typeface="Times New Roman"/>
              </a:rPr>
              <a:t>Technology:  </a:t>
            </a:r>
            <a:r>
              <a:rPr sz="1400" b="0" i="0">
                <a:solidFill>
                  <a:srgbClr val="262626"/>
                </a:solidFill>
                <a:latin typeface="Times New Roman"/>
              </a:rPr>
              <a:t>Java  •  Android Studio  •  SQLite  •  Firebase (Auth, Firestore)  •  Google Maps and Location  •  Flutter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
            <a:ext cx="9875520" cy="548640"/>
          </a:xfrm>
        </p:spPr>
        <p:txBody>
          <a:bodyPr lIns="0" rIns="0" anchor="ctr"/>
          <a:lstStyle/>
          <a:p>
            <a:pPr algn="l"/>
            <a:r>
              <a:rPr sz="2800" b="1" i="0">
                <a:solidFill>
                  <a:srgbClr val="FFFFFF"/>
                </a:solidFill>
                <a:latin typeface="Times New Roman"/>
              </a:rPr>
              <a:t>Key Features, Contributions and Results</a:t>
            </a:r>
          </a:p>
        </p:txBody>
      </p:sp>
      <p:sp>
        <p:nvSpPr>
          <p:cNvPr id="102" name="Google Shape;102;p2"/>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IN"/>
              <a:pPr/>
              <a:t>4</a:t>
            </a:fld>
            <a:endParaRPr/>
          </a:p>
        </p:txBody>
      </p:sp>
      <p:sp>
        <p:nvSpPr>
          <p:cNvPr id="103" name="TextBox 102"/>
          <p:cNvSpPr txBox="1"/>
          <p:nvPr/>
        </p:nvSpPr>
        <p:spPr>
          <a:xfrm>
            <a:off x="548640" y="1234440"/>
            <a:ext cx="5577840" cy="4206240"/>
          </a:xfrm>
          <a:prstGeom prst="rect">
            <a:avLst/>
          </a:prstGeom>
          <a:noFill/>
        </p:spPr>
        <p:txBody>
          <a:bodyPr wrap="square" lIns="0" tIns="0" rIns="0" bIns="0" anchor="t">
            <a:spAutoFit/>
          </a:bodyPr>
          <a:lstStyle/>
          <a:p>
            <a:pPr algn="l">
              <a:spcAft>
                <a:spcPts val="600"/>
              </a:spcAft>
            </a:pPr>
            <a:r>
              <a:rPr sz="2200" b="1" i="0">
                <a:solidFill>
                  <a:srgbClr val="C00000"/>
                </a:solidFill>
                <a:latin typeface="Times New Roman"/>
              </a:rPr>
              <a:t>Core features</a:t>
            </a:r>
          </a:p>
          <a:p>
            <a:pPr marL="228600" indent="-228600" algn="l">
              <a:spcAft>
                <a:spcPts val="600"/>
              </a:spcAft>
              <a:buChar char="•"/>
            </a:pPr>
            <a:r>
              <a:rPr sz="1500" b="1" i="0">
                <a:solidFill>
                  <a:srgbClr val="262626"/>
                </a:solidFill>
                <a:latin typeface="Times New Roman"/>
              </a:rPr>
              <a:t>Constraint-based scheduler: </a:t>
            </a:r>
            <a:r>
              <a:rPr sz="1500" b="0" i="0">
                <a:solidFill>
                  <a:srgbClr val="262626"/>
                </a:solidFill>
                <a:latin typeface="Times New Roman"/>
              </a:rPr>
              <a:t>hard rules never broken; referee fairness, short waits and no midday heat optimised.</a:t>
            </a:r>
          </a:p>
          <a:p>
            <a:pPr marL="228600" indent="-228600" algn="l">
              <a:spcAft>
                <a:spcPts val="600"/>
              </a:spcAft>
              <a:buChar char="•"/>
            </a:pPr>
            <a:r>
              <a:rPr sz="1500" b="1" i="0">
                <a:solidFill>
                  <a:srgbClr val="262626"/>
                </a:solidFill>
                <a:latin typeface="Times New Roman"/>
              </a:rPr>
              <a:t>Offline-first sync: </a:t>
            </a:r>
            <a:r>
              <a:rPr sz="1500" b="0" i="0">
                <a:solidFill>
                  <a:srgbClr val="262626"/>
                </a:solidFill>
                <a:latin typeface="Times New Roman"/>
              </a:rPr>
              <a:t>append-only change log with a hybrid logical clock; phones merge and always agree.</a:t>
            </a:r>
          </a:p>
          <a:p>
            <a:pPr marL="228600" indent="-228600" algn="l">
              <a:spcAft>
                <a:spcPts val="1200"/>
              </a:spcAft>
              <a:buChar char="•"/>
            </a:pPr>
            <a:r>
              <a:rPr sz="1500" b="1" i="0">
                <a:solidFill>
                  <a:srgbClr val="262626"/>
                </a:solidFill>
                <a:latin typeface="Times New Roman"/>
              </a:rPr>
              <a:t>Live delay propagation: </a:t>
            </a:r>
            <a:r>
              <a:rPr sz="1500" b="0" i="0">
                <a:solidFill>
                  <a:srgbClr val="262626"/>
                </a:solidFill>
                <a:latin typeface="Times New Roman"/>
              </a:rPr>
              <a:t>a late match re-times only dependent matches, with preview and notifications.</a:t>
            </a:r>
          </a:p>
          <a:p>
            <a:pPr algn="l">
              <a:spcAft>
                <a:spcPts val="600"/>
              </a:spcAft>
            </a:pPr>
            <a:r>
              <a:rPr sz="2200" b="1" i="0">
                <a:solidFill>
                  <a:srgbClr val="C00000"/>
                </a:solidFill>
                <a:latin typeface="Times New Roman"/>
              </a:rPr>
              <a:t>Own contributions</a:t>
            </a:r>
          </a:p>
          <a:p>
            <a:pPr marL="228600" indent="-228600" algn="l">
              <a:spcAft>
                <a:spcPts val="600"/>
              </a:spcAft>
              <a:buChar char="•"/>
            </a:pPr>
            <a:r>
              <a:rPr sz="1500" b="1" i="0">
                <a:solidFill>
                  <a:srgbClr val="262626"/>
                </a:solidFill>
                <a:latin typeface="Times New Roman"/>
              </a:rPr>
              <a:t>Delay-resistant scheduling: </a:t>
            </a:r>
            <a:r>
              <a:rPr sz="1500" b="0" i="0">
                <a:solidFill>
                  <a:srgbClr val="262626"/>
                </a:solidFill>
                <a:latin typeface="Times New Roman"/>
              </a:rPr>
              <a:t>plans spare time so one delay moves fewer matches (43% fewer at 12 teams).</a:t>
            </a:r>
          </a:p>
          <a:p>
            <a:pPr marL="228600" indent="-228600" algn="l">
              <a:spcAft>
                <a:spcPts val="600"/>
              </a:spcAft>
              <a:buChar char="•"/>
            </a:pPr>
            <a:r>
              <a:rPr sz="1500" b="1" i="0">
                <a:solidFill>
                  <a:srgbClr val="262626"/>
                </a:solidFill>
                <a:latin typeface="Times New Roman"/>
              </a:rPr>
              <a:t>Live match events: </a:t>
            </a:r>
            <a:r>
              <a:rPr sz="1500" b="0" i="0">
                <a:solidFill>
                  <a:srgbClr val="262626"/>
                </a:solidFill>
                <a:latin typeface="Times New Roman"/>
              </a:rPr>
              <a:t>referee kick-off and full time trigger re-timing, reclaim time when a match ends early and learn real match length.</a:t>
            </a:r>
          </a:p>
        </p:txBody>
      </p:sp>
      <p:graphicFrame>
        <p:nvGraphicFramePr>
          <p:cNvPr id="104" name="Chart 103"/>
          <p:cNvGraphicFramePr>
            <a:graphicFrameLocks noGrp="1"/>
          </p:cNvGraphicFramePr>
          <p:nvPr/>
        </p:nvGraphicFramePr>
        <p:xfrm>
          <a:off x="6309360" y="1234440"/>
          <a:ext cx="53492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05" name="Rounded Rectangle 104"/>
          <p:cNvSpPr/>
          <p:nvPr/>
        </p:nvSpPr>
        <p:spPr>
          <a:xfrm>
            <a:off x="6309360" y="4434840"/>
            <a:ext cx="1719072" cy="100584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2200" b="1" i="0">
                <a:solidFill>
                  <a:srgbClr val="C00000"/>
                </a:solidFill>
                <a:latin typeface="Times New Roman"/>
              </a:rPr>
              <a:t>16</a:t>
            </a:r>
          </a:p>
          <a:p>
            <a:pPr algn="ctr">
              <a:spcAft>
                <a:spcPts val="200"/>
              </a:spcAft>
            </a:pPr>
            <a:r>
              <a:rPr sz="1200" b="0" i="0">
                <a:solidFill>
                  <a:srgbClr val="262626"/>
                </a:solidFill>
                <a:latin typeface="Times New Roman"/>
              </a:rPr>
              <a:t>automated tests passing</a:t>
            </a:r>
          </a:p>
        </p:txBody>
      </p:sp>
      <p:sp>
        <p:nvSpPr>
          <p:cNvPr id="106" name="Rounded Rectangle 105"/>
          <p:cNvSpPr/>
          <p:nvPr/>
        </p:nvSpPr>
        <p:spPr>
          <a:xfrm>
            <a:off x="8119872" y="4434840"/>
            <a:ext cx="1719072" cy="100584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2200" b="1" i="0">
                <a:solidFill>
                  <a:srgbClr val="C00000"/>
                </a:solidFill>
                <a:latin typeface="Times New Roman"/>
              </a:rPr>
              <a:t>1,000</a:t>
            </a:r>
          </a:p>
          <a:p>
            <a:pPr algn="ctr">
              <a:spcAft>
                <a:spcPts val="200"/>
              </a:spcAft>
            </a:pPr>
            <a:r>
              <a:rPr sz="1200" b="0" i="0">
                <a:solidFill>
                  <a:srgbClr val="262626"/>
                </a:solidFill>
                <a:latin typeface="Times New Roman"/>
              </a:rPr>
              <a:t>shuffled sync orders, identical result</a:t>
            </a:r>
          </a:p>
        </p:txBody>
      </p:sp>
      <p:sp>
        <p:nvSpPr>
          <p:cNvPr id="107" name="Rounded Rectangle 106"/>
          <p:cNvSpPr/>
          <p:nvPr/>
        </p:nvSpPr>
        <p:spPr>
          <a:xfrm>
            <a:off x="9930384" y="4434840"/>
            <a:ext cx="1719072" cy="100584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200"/>
              </a:spcAft>
            </a:pPr>
            <a:r>
              <a:rPr sz="2200" b="1" i="0">
                <a:solidFill>
                  <a:srgbClr val="C00000"/>
                </a:solidFill>
                <a:latin typeface="Times New Roman"/>
              </a:rPr>
              <a:t>≈ 8 ms</a:t>
            </a:r>
          </a:p>
          <a:p>
            <a:pPr algn="ctr">
              <a:spcAft>
                <a:spcPts val="200"/>
              </a:spcAft>
            </a:pPr>
            <a:r>
              <a:rPr sz="1200" b="0" i="0">
                <a:solidFill>
                  <a:srgbClr val="262626"/>
                </a:solidFill>
                <a:latin typeface="Times New Roman"/>
              </a:rPr>
              <a:t>to re-time a 16-team day</a:t>
            </a:r>
          </a:p>
        </p:txBody>
      </p:sp>
      <p:sp>
        <p:nvSpPr>
          <p:cNvPr id="108" name="Rounded Rectangle 107"/>
          <p:cNvSpPr/>
          <p:nvPr/>
        </p:nvSpPr>
        <p:spPr>
          <a:xfrm>
            <a:off x="548640" y="5577840"/>
            <a:ext cx="11109960" cy="731520"/>
          </a:xfrm>
          <a:prstGeom prst="roundRect">
            <a:avLst>
              <a:gd name="adj" fmla="val 6000"/>
            </a:avLst>
          </a:prstGeom>
          <a:solidFill>
            <a:srgbClr val="375623"/>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200"/>
              </a:spcAft>
            </a:pPr>
            <a:r>
              <a:rPr sz="1400" b="1" i="0">
                <a:solidFill>
                  <a:srgbClr val="FFFFFF"/>
                </a:solidFill>
                <a:latin typeface="Times New Roman"/>
              </a:rPr>
              <a:t>Conclusion: </a:t>
            </a:r>
            <a:r>
              <a:rPr sz="1400" b="0" i="0">
                <a:solidFill>
                  <a:srgbClr val="FFFFFF"/>
                </a:solidFill>
                <a:latin typeface="Times New Roman"/>
              </a:rPr>
              <a:t>RefWhistle automates tournament scheduling, stays consistent offline and adapts to delays.  </a:t>
            </a:r>
            <a:r>
              <a:rPr sz="1400" b="1" i="0">
                <a:solidFill>
                  <a:srgbClr val="FFFFFF"/>
                </a:solidFill>
                <a:latin typeface="Times New Roman"/>
              </a:rPr>
              <a:t>Limitations: </a:t>
            </a:r>
            <a:r>
              <a:rPr sz="1400" b="0" i="0">
                <a:solidFill>
                  <a:srgbClr val="FFFFFF"/>
                </a:solidFill>
                <a:latin typeface="Times New Roman"/>
              </a:rPr>
              <a:t>heuristic scheduler suited to 8–16 teams; notifications are local.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0325" y="774785"/>
            <a:ext cx="6932101" cy="1061829"/>
          </a:xfrm>
          <a:noFill/>
        </p:spPr>
        <p:txBody>
          <a:bodyPr wrap="square" rtlCol="0">
            <a:spAutoFit/>
          </a:bodyPr>
          <a:lstStyle/>
          <a:p>
            <a:pPr algn="ctr"/>
            <a:r>
              <a:rPr lang="en-US" sz="7000">
                <a:latin typeface="Book Antiqua" panose="02040602050305030304" pitchFamily="18" charset="0"/>
                <a:ea typeface="+mn-ea"/>
                <a:cs typeface="+mn-cs"/>
              </a:rPr>
              <a:t>Thank You !!!</a:t>
            </a:r>
          </a:p>
        </p:txBody>
      </p:sp>
      <p:pic>
        <p:nvPicPr>
          <p:cNvPr id="3" name="Picture 2"/>
          <p:cNvPicPr>
            <a:picLocks noChangeAspect="1"/>
          </p:cNvPicPr>
          <p:nvPr/>
        </p:nvPicPr>
        <p:blipFill>
          <a:blip r:embed="rId2"/>
          <a:stretch>
            <a:fillRect/>
          </a:stretch>
        </p:blipFill>
        <p:spPr>
          <a:xfrm>
            <a:off x="3331224" y="1"/>
            <a:ext cx="5355575" cy="502920"/>
          </a:xfrm>
          <a:prstGeom prst="rect">
            <a:avLst/>
          </a:prstGeom>
        </p:spPr>
      </p:pic>
      <p:pic>
        <p:nvPicPr>
          <p:cNvPr id="5" name="Picture 4"/>
          <p:cNvPicPr>
            <a:picLocks noChangeAspect="1"/>
          </p:cNvPicPr>
          <p:nvPr/>
        </p:nvPicPr>
        <p:blipFill>
          <a:blip r:embed="rId3"/>
          <a:stretch>
            <a:fillRect/>
          </a:stretch>
        </p:blipFill>
        <p:spPr>
          <a:xfrm>
            <a:off x="442452" y="1836614"/>
            <a:ext cx="11366243" cy="4570002"/>
          </a:xfrm>
          <a:prstGeom prst="rect">
            <a:avLst/>
          </a:prstGeom>
        </p:spPr>
      </p:pic>
    </p:spTree>
    <p:extLst>
      <p:ext uri="{BB962C8B-B14F-4D97-AF65-F5344CB8AC3E}">
        <p14:creationId xmlns:p14="http://schemas.microsoft.com/office/powerpoint/2010/main" val="645505984"/>
      </p:ext>
    </p:extLst>
  </p:cSld>
  <p:clrMapOvr>
    <a:masterClrMapping/>
  </p:clrMapOvr>
  <p:transition/>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6812894AF27C4B9BEA242A5F6FBAEB" ma:contentTypeVersion="9" ma:contentTypeDescription="Create a new document." ma:contentTypeScope="" ma:versionID="fe7e8ca8f5bc98bc55ce144b2ab84caa">
  <xsd:schema xmlns:xsd="http://www.w3.org/2001/XMLSchema" xmlns:xs="http://www.w3.org/2001/XMLSchema" xmlns:p="http://schemas.microsoft.com/office/2006/metadata/properties" xmlns:ns2="7bca1dba-6ac6-41dc-89fe-ef4b674b2d91" xmlns:ns3="0e4db8ff-121a-41d3-920b-5da9b93e742e" targetNamespace="http://schemas.microsoft.com/office/2006/metadata/properties" ma:root="true" ma:fieldsID="b61c7a6b43afd4f1849f52e764489931" ns2:_="" ns3:_="">
    <xsd:import namespace="7bca1dba-6ac6-41dc-89fe-ef4b674b2d91"/>
    <xsd:import namespace="0e4db8ff-121a-41d3-920b-5da9b93e742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ca1dba-6ac6-41dc-89fe-ef4b674b2d9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765a431-9415-4219-9cd0-5363948861b2"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4db8ff-121a-41d3-920b-5da9b93e742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0f7a2de-0acc-4c5a-996d-a92c6eb64016}" ma:internalName="TaxCatchAll" ma:showField="CatchAllData" ma:web="0e4db8ff-121a-41d3-920b-5da9b93e74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0e4db8ff-121a-41d3-920b-5da9b93e742e" xsi:nil="true"/>
    <lcf76f155ced4ddcb4097134ff3c332f xmlns="7bca1dba-6ac6-41dc-89fe-ef4b674b2d9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5D7223F-B7D1-484C-BF79-EE510B738CE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ca1dba-6ac6-41dc-89fe-ef4b674b2d91"/>
    <ds:schemaRef ds:uri="0e4db8ff-121a-41d3-920b-5da9b93e74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B5E7A0C-C3D8-4E3D-B722-6AC077FBB61B}">
  <ds:schemaRefs>
    <ds:schemaRef ds:uri="http://schemas.microsoft.com/sharepoint/v3/contenttype/forms"/>
  </ds:schemaRefs>
</ds:datastoreItem>
</file>

<file path=customXml/itemProps3.xml><?xml version="1.0" encoding="utf-8"?>
<ds:datastoreItem xmlns:ds="http://schemas.openxmlformats.org/officeDocument/2006/customXml" ds:itemID="{A7A88748-F08C-44FE-836C-B5AED848663B}">
  <ds:schemaRefs>
    <ds:schemaRef ds:uri="http://schemas.microsoft.com/office/2006/metadata/properties"/>
    <ds:schemaRef ds:uri="http://schemas.microsoft.com/office/infopath/2007/PartnerControls"/>
    <ds:schemaRef ds:uri="0e4db8ff-121a-41d3-920b-5da9b93e742e"/>
    <ds:schemaRef ds:uri="7bca1dba-6ac6-41dc-89fe-ef4b674b2d91"/>
  </ds:schemaRefs>
</ds:datastoreItem>
</file>

<file path=docProps/app.xml><?xml version="1.0" encoding="utf-8"?>
<Properties xmlns="http://schemas.openxmlformats.org/officeDocument/2006/extended-properties" xmlns:vt="http://schemas.openxmlformats.org/officeDocument/2006/docPropsVTypes">
  <Template>Office Theme</Template>
  <TotalTime>4</TotalTime>
  <Words>754</Words>
  <Application>Microsoft Office PowerPoint</Application>
  <PresentationFormat>Widescreen</PresentationFormat>
  <Paragraphs>74</Paragraphs>
  <Slides>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Aller</vt:lpstr>
      <vt:lpstr>Arial</vt:lpstr>
      <vt:lpstr>Book Antiqua</vt:lpstr>
      <vt:lpstr>Calibri</vt:lpstr>
      <vt:lpstr>Calibri Light</vt:lpstr>
      <vt:lpstr>Times New Roman</vt:lpstr>
      <vt:lpstr>Theme1</vt:lpstr>
      <vt:lpstr>A  Presentation on “REFWHISTLE: AN OFFLINE-FIRST TOURNAMENT SCHEDULING APP WITH LIVE DELAY HANDLING”  By Sanika Jamadar (B291) Sneha Bhavsar (B295) Harsh Bharuka (B244)  Under the Guidance of Dr. Atul Dusane </vt:lpstr>
      <vt:lpstr>Problem Statement and Objectives</vt:lpstr>
      <vt:lpstr>System Design and Working</vt:lpstr>
      <vt:lpstr>Key Features, Contributions and Results</vt:lpstr>
      <vt:lpstr>Thank You !!!</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Discipline in the School</dc:title>
  <dc:creator>Amit Page</dc:creator>
  <cp:lastModifiedBy>Sanika Jamadar</cp:lastModifiedBy>
  <cp:revision>5</cp:revision>
  <dcterms:created xsi:type="dcterms:W3CDTF">2018-06-30T10:51:01Z</dcterms:created>
  <dcterms:modified xsi:type="dcterms:W3CDTF">2026-10-18T16:49:36Z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0x010100896812894AF27C4B9BEA242A5F6FBAEB</vt:lpwstr>
  </property>
</Properties>
</file>